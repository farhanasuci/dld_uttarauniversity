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embeddedFontLst>
    <p:embeddedFont>
      <p:font typeface="Lexend" panose="020B0604020202020204" charset="0"/>
      <p:regular r:id="rId37"/>
      <p:bold r:id="rId38"/>
    </p:embeddedFont>
    <p:embeddedFont>
      <p:font typeface="Lexend Light" panose="020B0604020202020204" charset="0"/>
      <p:regular r:id="rId39"/>
      <p:bold r:id="rId40"/>
    </p:embeddedFont>
    <p:embeddedFont>
      <p:font typeface="Lexend Medium" panose="020B060402020202020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isXw94eiTlrmdfKsutiSyuz7/R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399E05-102B-49B8-B008-7C1F9EC2AC45}">
  <a:tblStyle styleId="{B8399E05-102B-49B8-B008-7C1F9EC2AC4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7" name="Google Shape;40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 name="Google Shape;49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0" name="Google Shape;52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3" name="Google Shape;54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8" name="Google Shape;55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2" name="Google Shape;57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5" name="Google Shape;61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0" name="Google Shape;63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8" name="Google Shape;65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9" name="Google Shape;67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3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3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4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4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4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4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4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4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4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4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47"/>
          <p:cNvSpPr txBox="1">
            <a:spLocks noGrp="1"/>
          </p:cNvSpPr>
          <p:nvPr>
            <p:ph type="title"/>
          </p:nvPr>
        </p:nvSpPr>
        <p:spPr>
          <a:xfrm>
            <a:off x="685800" y="457200"/>
            <a:ext cx="7772400" cy="8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 name="Google Shape;52;p47"/>
          <p:cNvSpPr txBox="1">
            <a:spLocks noGrp="1"/>
          </p:cNvSpPr>
          <p:nvPr>
            <p:ph type="body" idx="1"/>
          </p:nvPr>
        </p:nvSpPr>
        <p:spPr>
          <a:xfrm>
            <a:off x="685800" y="1485900"/>
            <a:ext cx="7772400" cy="308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47"/>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47"/>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47"/>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p:nvPr/>
        </p:nvSpPr>
        <p:spPr>
          <a:xfrm>
            <a:off x="208725" y="344175"/>
            <a:ext cx="8613900" cy="20052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1100"/>
              <a:buFont typeface="Arial"/>
              <a:buNone/>
            </a:pPr>
            <a:r>
              <a:rPr lang="en" sz="6000" b="0" i="0" u="none" strike="noStrike" cap="none">
                <a:solidFill>
                  <a:srgbClr val="000000"/>
                </a:solidFill>
                <a:latin typeface="Lexend"/>
                <a:ea typeface="Lexend"/>
                <a:cs typeface="Lexend"/>
                <a:sym typeface="Lexend"/>
              </a:rPr>
              <a:t>Lecture 6</a:t>
            </a:r>
            <a:endParaRPr sz="6000" b="0" i="0" u="none" strike="noStrike" cap="none">
              <a:solidFill>
                <a:srgbClr val="000000"/>
              </a:solidFill>
              <a:latin typeface="Lexend"/>
              <a:ea typeface="Lexend"/>
              <a:cs typeface="Lexend"/>
              <a:sym typeface="Lexend"/>
            </a:endParaRPr>
          </a:p>
          <a:p>
            <a:pPr marL="0" marR="0" lvl="0" indent="0" algn="l" rtl="0">
              <a:lnSpc>
                <a:spcPct val="90000"/>
              </a:lnSpc>
              <a:spcBef>
                <a:spcPts val="0"/>
              </a:spcBef>
              <a:spcAft>
                <a:spcPts val="0"/>
              </a:spcAft>
              <a:buClr>
                <a:schemeClr val="dk1"/>
              </a:buClr>
              <a:buSzPts val="1100"/>
              <a:buFont typeface="Arial"/>
              <a:buNone/>
            </a:pPr>
            <a:r>
              <a:rPr lang="en" sz="4200" b="0" i="0" u="none" strike="noStrike" cap="none">
                <a:solidFill>
                  <a:srgbClr val="000000"/>
                </a:solidFill>
                <a:latin typeface="Lexend"/>
                <a:ea typeface="Lexend"/>
                <a:cs typeface="Lexend"/>
                <a:sym typeface="Lexend"/>
              </a:rPr>
              <a:t>Adder-Subtractor with Applications</a:t>
            </a:r>
            <a:endParaRPr sz="4200" b="0" i="0" u="none" strike="noStrike" cap="none">
              <a:solidFill>
                <a:srgbClr val="000000"/>
              </a:solidFill>
              <a:latin typeface="Lexend"/>
              <a:ea typeface="Lexend"/>
              <a:cs typeface="Lexend"/>
              <a:sym typeface="Lexend"/>
            </a:endParaRPr>
          </a:p>
        </p:txBody>
      </p:sp>
      <p:sp>
        <p:nvSpPr>
          <p:cNvPr id="61" name="Google Shape;61;p1"/>
          <p:cNvSpPr txBox="1"/>
          <p:nvPr/>
        </p:nvSpPr>
        <p:spPr>
          <a:xfrm>
            <a:off x="0" y="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 Uttara University</a:t>
            </a:r>
            <a:endParaRPr sz="900" b="1" i="0" u="none" strike="noStrike" cap="none">
              <a:solidFill>
                <a:srgbClr val="4F4F4F"/>
              </a:solidFill>
              <a:latin typeface="Lexend"/>
              <a:ea typeface="Lexend"/>
              <a:cs typeface="Lexend"/>
              <a:sym typeface="Lexend"/>
            </a:endParaRPr>
          </a:p>
        </p:txBody>
      </p:sp>
      <p:sp>
        <p:nvSpPr>
          <p:cNvPr id="62" name="Google Shape;62;p1"/>
          <p:cNvSpPr txBox="1"/>
          <p:nvPr/>
        </p:nvSpPr>
        <p:spPr>
          <a:xfrm>
            <a:off x="321450" y="4484225"/>
            <a:ext cx="8501100" cy="1010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 sz="3200" b="0" i="0" u="none" strike="noStrike" cap="none">
                <a:solidFill>
                  <a:srgbClr val="000000"/>
                </a:solidFill>
                <a:latin typeface="Lexend"/>
                <a:ea typeface="Lexend"/>
                <a:cs typeface="Lexend"/>
                <a:sym typeface="Lexend"/>
              </a:rPr>
              <a:t>CSE0613203 : Digital Logic Design</a:t>
            </a:r>
            <a:endParaRPr sz="5000" b="0" i="0" u="none" strike="noStrike" cap="none">
              <a:solidFill>
                <a:srgbClr val="000000"/>
              </a:solidFill>
              <a:latin typeface="Lexend"/>
              <a:ea typeface="Lexend"/>
              <a:cs typeface="Lexend"/>
              <a:sym typeface="Lexend"/>
            </a:endParaRPr>
          </a:p>
        </p:txBody>
      </p:sp>
      <p:pic>
        <p:nvPicPr>
          <p:cNvPr id="63" name="Google Shape;63;p1"/>
          <p:cNvPicPr preferRelativeResize="0"/>
          <p:nvPr/>
        </p:nvPicPr>
        <p:blipFill rotWithShape="1">
          <a:blip r:embed="rId3">
            <a:alphaModFix/>
          </a:blip>
          <a:srcRect/>
          <a:stretch/>
        </p:blipFill>
        <p:spPr>
          <a:xfrm>
            <a:off x="2217375" y="2732296"/>
            <a:ext cx="4709251" cy="1693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a:t>
            </a:fld>
            <a:endParaRPr sz="1000" b="0" i="0" u="none" strike="noStrike" cap="none">
              <a:solidFill>
                <a:srgbClr val="595959"/>
              </a:solidFill>
              <a:latin typeface="Arial"/>
              <a:ea typeface="Arial"/>
              <a:cs typeface="Arial"/>
              <a:sym typeface="Arial"/>
            </a:endParaRPr>
          </a:p>
        </p:txBody>
      </p:sp>
      <p:sp>
        <p:nvSpPr>
          <p:cNvPr id="70" name="Google Shape;70;p2"/>
          <p:cNvSpPr txBox="1"/>
          <p:nvPr/>
        </p:nvSpPr>
        <p:spPr>
          <a:xfrm>
            <a:off x="328350" y="766838"/>
            <a:ext cx="8630700" cy="2570400"/>
          </a:xfrm>
          <a:prstGeom prst="rect">
            <a:avLst/>
          </a:prstGeom>
          <a:noFill/>
          <a:ln>
            <a:noFill/>
          </a:ln>
        </p:spPr>
        <p:txBody>
          <a:bodyPr spcFirstLastPara="1" wrap="square" lIns="91425" tIns="91425" rIns="91425" bIns="91425" anchor="t" anchorCtr="0">
            <a:spAutoFit/>
          </a:bodyPr>
          <a:lstStyle/>
          <a:p>
            <a:pPr marL="447675" marR="0" lvl="0" indent="-447675" algn="l" rtl="0">
              <a:lnSpc>
                <a:spcPct val="100000"/>
              </a:lnSpc>
              <a:spcBef>
                <a:spcPts val="360"/>
              </a:spcBef>
              <a:spcAft>
                <a:spcPts val="0"/>
              </a:spcAft>
              <a:buClr>
                <a:srgbClr val="CC9900"/>
              </a:buClr>
              <a:buSzPts val="2000"/>
              <a:buFont typeface="Lexend"/>
              <a:buChar char="■"/>
            </a:pPr>
            <a:r>
              <a:rPr lang="en" sz="2000" b="0" i="0" u="none" strike="noStrike" cap="none">
                <a:solidFill>
                  <a:srgbClr val="292929"/>
                </a:solidFill>
                <a:latin typeface="Lexend"/>
                <a:ea typeface="Lexend"/>
                <a:cs typeface="Lexend"/>
                <a:sym typeface="Lexend"/>
              </a:rPr>
              <a:t>The combinational circuit that performs the addition of two bits is called a half-adder.</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If the bits are X and Y, we will get C (Carry) &amp; S (Sum)</a:t>
            </a:r>
            <a:endParaRPr sz="2000" b="0" i="0" u="none" strike="noStrike" cap="none">
              <a:solidFill>
                <a:srgbClr val="292929"/>
              </a:solidFill>
              <a:latin typeface="Lexend"/>
              <a:ea typeface="Lexend"/>
              <a:cs typeface="Lexend"/>
              <a:sym typeface="Lexend"/>
            </a:endParaRPr>
          </a:p>
          <a:p>
            <a:pPr marL="457200" marR="0" lvl="0" indent="45720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X</a:t>
            </a:r>
            <a:endParaRPr sz="2000" b="0" i="0" u="none" strike="noStrike" cap="none">
              <a:solidFill>
                <a:srgbClr val="292929"/>
              </a:solidFill>
              <a:latin typeface="Lexend"/>
              <a:ea typeface="Lexend"/>
              <a:cs typeface="Lexend"/>
              <a:sym typeface="Lexend"/>
            </a:endParaRPr>
          </a:p>
          <a:p>
            <a:pPr marL="457200" marR="0" lvl="0" indent="457200" algn="l" rtl="0">
              <a:lnSpc>
                <a:spcPct val="100000"/>
              </a:lnSpc>
              <a:spcBef>
                <a:spcPts val="360"/>
              </a:spcBef>
              <a:spcAft>
                <a:spcPts val="0"/>
              </a:spcAft>
              <a:buClr>
                <a:srgbClr val="000000"/>
              </a:buClr>
              <a:buSzPts val="2000"/>
              <a:buFont typeface="Arial"/>
              <a:buNone/>
            </a:pPr>
            <a:r>
              <a:rPr lang="en" sz="2000" b="0" i="0" u="sng" strike="noStrike" cap="none">
                <a:solidFill>
                  <a:srgbClr val="292929"/>
                </a:solidFill>
                <a:latin typeface="Lexend"/>
                <a:ea typeface="Lexend"/>
                <a:cs typeface="Lexend"/>
                <a:sym typeface="Lexend"/>
              </a:rPr>
              <a:t>    + Y</a:t>
            </a:r>
            <a:endParaRPr sz="2000" b="0" i="0" u="sng"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C	 S</a:t>
            </a:r>
            <a:endParaRPr sz="2000" b="0" i="0" u="none" strike="noStrike" cap="none">
              <a:solidFill>
                <a:srgbClr val="292929"/>
              </a:solidFill>
              <a:latin typeface="Lexend"/>
              <a:ea typeface="Lexend"/>
              <a:cs typeface="Lexend"/>
              <a:sym typeface="Lexend"/>
            </a:endParaRPr>
          </a:p>
        </p:txBody>
      </p:sp>
      <p:grpSp>
        <p:nvGrpSpPr>
          <p:cNvPr id="71" name="Google Shape;71;p2"/>
          <p:cNvGrpSpPr/>
          <p:nvPr/>
        </p:nvGrpSpPr>
        <p:grpSpPr>
          <a:xfrm>
            <a:off x="50480" y="122879"/>
            <a:ext cx="277873" cy="68400"/>
            <a:chOff x="411700" y="2416840"/>
            <a:chExt cx="277873" cy="68400"/>
          </a:xfrm>
        </p:grpSpPr>
        <p:sp>
          <p:nvSpPr>
            <p:cNvPr id="72" name="Google Shape;72;p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5" name="Google Shape;75;p2"/>
          <p:cNvSpPr txBox="1"/>
          <p:nvPr/>
        </p:nvSpPr>
        <p:spPr>
          <a:xfrm>
            <a:off x="209775" y="163775"/>
            <a:ext cx="771502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Half Adder</a:t>
            </a:r>
            <a:endParaRPr sz="3600" b="0" i="0" u="none" strike="noStrike" cap="none">
              <a:solidFill>
                <a:schemeClr val="dk1"/>
              </a:solidFill>
              <a:latin typeface="Lexend"/>
              <a:ea typeface="Lexend"/>
              <a:cs typeface="Lexend"/>
              <a:sym typeface="Lexend"/>
            </a:endParaRPr>
          </a:p>
        </p:txBody>
      </p:sp>
      <p:sp>
        <p:nvSpPr>
          <p:cNvPr id="76" name="Google Shape;76;p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grpSp>
        <p:nvGrpSpPr>
          <p:cNvPr id="77" name="Google Shape;77;p2"/>
          <p:cNvGrpSpPr/>
          <p:nvPr/>
        </p:nvGrpSpPr>
        <p:grpSpPr>
          <a:xfrm>
            <a:off x="2505075" y="2913675"/>
            <a:ext cx="4133850" cy="1466849"/>
            <a:chOff x="1584" y="2736"/>
            <a:chExt cx="2604" cy="924"/>
          </a:xfrm>
        </p:grpSpPr>
        <p:sp>
          <p:nvSpPr>
            <p:cNvPr id="78" name="Google Shape;78;p2"/>
            <p:cNvSpPr txBox="1"/>
            <p:nvPr/>
          </p:nvSpPr>
          <p:spPr>
            <a:xfrm>
              <a:off x="2424" y="2736"/>
              <a:ext cx="9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79" name="Google Shape;79;p2"/>
            <p:cNvSpPr txBox="1"/>
            <p:nvPr/>
          </p:nvSpPr>
          <p:spPr>
            <a:xfrm>
              <a:off x="2496" y="283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1800" b="1" i="0" u="none" strike="noStrike" cap="none">
                  <a:solidFill>
                    <a:srgbClr val="000000"/>
                  </a:solidFill>
                  <a:latin typeface="Lexend"/>
                  <a:ea typeface="Lexend"/>
                  <a:cs typeface="Lexend"/>
                  <a:sym typeface="Lexend"/>
                </a:rPr>
                <a:t>Half</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1800" b="1" i="0" u="none" strike="noStrike" cap="none">
                  <a:solidFill>
                    <a:srgbClr val="000000"/>
                  </a:solidFill>
                  <a:latin typeface="Lexend"/>
                  <a:ea typeface="Lexend"/>
                  <a:cs typeface="Lexend"/>
                  <a:sym typeface="Lexend"/>
                </a:rPr>
                <a:t>Adder</a:t>
              </a:r>
              <a:endParaRPr sz="1200" b="0" i="0" u="none" strike="noStrike" cap="none">
                <a:solidFill>
                  <a:srgbClr val="000000"/>
                </a:solidFill>
                <a:latin typeface="Lexend"/>
                <a:ea typeface="Lexend"/>
                <a:cs typeface="Lexend"/>
                <a:sym typeface="Lexend"/>
              </a:endParaRPr>
            </a:p>
          </p:txBody>
        </p:sp>
        <p:cxnSp>
          <p:nvCxnSpPr>
            <p:cNvPr id="80" name="Google Shape;80;p2"/>
            <p:cNvCxnSpPr/>
            <p:nvPr/>
          </p:nvCxnSpPr>
          <p:spPr>
            <a:xfrm>
              <a:off x="1824" y="2928"/>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81" name="Google Shape;81;p2"/>
            <p:cNvCxnSpPr/>
            <p:nvPr/>
          </p:nvCxnSpPr>
          <p:spPr>
            <a:xfrm>
              <a:off x="1824" y="3216"/>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82" name="Google Shape;82;p2"/>
            <p:cNvCxnSpPr/>
            <p:nvPr/>
          </p:nvCxnSpPr>
          <p:spPr>
            <a:xfrm>
              <a:off x="3312" y="2928"/>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83" name="Google Shape;83;p2"/>
            <p:cNvCxnSpPr/>
            <p:nvPr/>
          </p:nvCxnSpPr>
          <p:spPr>
            <a:xfrm>
              <a:off x="3312" y="3216"/>
              <a:ext cx="600" cy="0"/>
            </a:xfrm>
            <a:prstGeom prst="straightConnector1">
              <a:avLst/>
            </a:prstGeom>
            <a:noFill/>
            <a:ln w="15875" cap="flat" cmpd="sng">
              <a:solidFill>
                <a:srgbClr val="000000"/>
              </a:solidFill>
              <a:prstDash val="solid"/>
              <a:miter lim="800000"/>
              <a:headEnd type="none" w="sm" len="sm"/>
              <a:tailEnd type="triangle" w="med" len="med"/>
            </a:ln>
          </p:spPr>
        </p:cxnSp>
        <p:sp>
          <p:nvSpPr>
            <p:cNvPr id="84" name="Google Shape;84;p2"/>
            <p:cNvSpPr txBox="1"/>
            <p:nvPr/>
          </p:nvSpPr>
          <p:spPr>
            <a:xfrm>
              <a:off x="1584" y="2832"/>
              <a:ext cx="300" cy="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X</a:t>
              </a:r>
              <a:endParaRPr sz="1400" b="0" i="0" u="none" strike="noStrike" cap="none">
                <a:solidFill>
                  <a:srgbClr val="000000"/>
                </a:solidFill>
                <a:latin typeface="Lexend"/>
                <a:ea typeface="Lexend"/>
                <a:cs typeface="Lexend"/>
                <a:sym typeface="Lexend"/>
              </a:endParaRPr>
            </a:p>
            <a:p>
              <a:pPr marL="0" marR="0" lvl="0" indent="0" algn="l" rtl="0">
                <a:lnSpc>
                  <a:spcPct val="100000"/>
                </a:lnSpc>
                <a:spcBef>
                  <a:spcPts val="90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sp>
          <p:nvSpPr>
            <p:cNvPr id="85" name="Google Shape;85;p2"/>
            <p:cNvSpPr txBox="1"/>
            <p:nvPr/>
          </p:nvSpPr>
          <p:spPr>
            <a:xfrm>
              <a:off x="3888" y="2832"/>
              <a:ext cx="300" cy="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S</a:t>
              </a:r>
              <a:endParaRPr sz="1400" b="0" i="0" u="none" strike="noStrike" cap="none">
                <a:solidFill>
                  <a:srgbClr val="000000"/>
                </a:solidFill>
                <a:latin typeface="Lexend"/>
                <a:ea typeface="Lexend"/>
                <a:cs typeface="Lexend"/>
                <a:sym typeface="Lexend"/>
              </a:endParaRPr>
            </a:p>
            <a:p>
              <a:pPr marL="0" marR="0" lvl="0" indent="0" algn="l" rtl="0">
                <a:lnSpc>
                  <a:spcPct val="100000"/>
                </a:lnSpc>
                <a:spcBef>
                  <a:spcPts val="90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C</a:t>
              </a:r>
              <a:endParaRPr sz="1400" b="0" i="0" u="none" strike="noStrike" cap="none">
                <a:solidFill>
                  <a:srgbClr val="000000"/>
                </a:solidFill>
                <a:latin typeface="Lexend"/>
                <a:ea typeface="Lexend"/>
                <a:cs typeface="Lexend"/>
                <a:sym typeface="Lexend"/>
              </a:endParaRPr>
            </a:p>
          </p:txBody>
        </p:sp>
        <p:sp>
          <p:nvSpPr>
            <p:cNvPr id="86" name="Google Shape;86;p2"/>
            <p:cNvSpPr txBox="1"/>
            <p:nvPr/>
          </p:nvSpPr>
          <p:spPr>
            <a:xfrm>
              <a:off x="2544" y="3360"/>
              <a:ext cx="6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(X + Y)</a:t>
              </a:r>
              <a:endParaRPr sz="1400" b="0" i="0" u="none" strike="noStrike" cap="none">
                <a:solidFill>
                  <a:srgbClr val="000000"/>
                </a:solidFill>
                <a:latin typeface="Lexend"/>
                <a:ea typeface="Lexend"/>
                <a:cs typeface="Lexend"/>
                <a:sym typeface="Lexen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a:t>
            </a:fld>
            <a:endParaRPr sz="1000" b="0" i="0" u="none" strike="noStrike" cap="none">
              <a:solidFill>
                <a:srgbClr val="595959"/>
              </a:solidFill>
              <a:latin typeface="Arial"/>
              <a:ea typeface="Arial"/>
              <a:cs typeface="Arial"/>
              <a:sym typeface="Arial"/>
            </a:endParaRPr>
          </a:p>
        </p:txBody>
      </p:sp>
      <p:sp>
        <p:nvSpPr>
          <p:cNvPr id="93" name="Google Shape;93;p3"/>
          <p:cNvSpPr txBox="1"/>
          <p:nvPr/>
        </p:nvSpPr>
        <p:spPr>
          <a:xfrm>
            <a:off x="328350" y="766838"/>
            <a:ext cx="8630700" cy="3324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Now, we draw the truth table for all possible input combinations</a:t>
            </a:r>
            <a:endParaRPr sz="2000" b="0" i="0" u="none" strike="noStrike" cap="none">
              <a:solidFill>
                <a:srgbClr val="292929"/>
              </a:solidFill>
              <a:latin typeface="Lexend"/>
              <a:ea typeface="Lexend"/>
              <a:cs typeface="Lexend"/>
              <a:sym typeface="Lexend"/>
            </a:endParaRPr>
          </a:p>
          <a:p>
            <a:pPr marL="457200" marR="0" lvl="0" indent="45720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0			 0</a:t>
            </a:r>
            <a:endParaRPr sz="2000" b="0" i="0" u="none" strike="noStrike" cap="none">
              <a:solidFill>
                <a:srgbClr val="292929"/>
              </a:solidFill>
              <a:latin typeface="Lexend"/>
              <a:ea typeface="Lexend"/>
              <a:cs typeface="Lexend"/>
              <a:sym typeface="Lexend"/>
            </a:endParaRPr>
          </a:p>
          <a:p>
            <a:pPr marL="457200" marR="0" lvl="0" indent="457200" algn="l" rtl="0">
              <a:lnSpc>
                <a:spcPct val="100000"/>
              </a:lnSpc>
              <a:spcBef>
                <a:spcPts val="360"/>
              </a:spcBef>
              <a:spcAft>
                <a:spcPts val="0"/>
              </a:spcAft>
              <a:buClr>
                <a:srgbClr val="000000"/>
              </a:buClr>
              <a:buSzPts val="2000"/>
              <a:buFont typeface="Arial"/>
              <a:buNone/>
            </a:pPr>
            <a:r>
              <a:rPr lang="en" sz="2000" b="0" i="0" u="sng" strike="noStrike" cap="none">
                <a:solidFill>
                  <a:srgbClr val="292929"/>
                </a:solidFill>
                <a:latin typeface="Lexend"/>
                <a:ea typeface="Lexend"/>
                <a:cs typeface="Lexend"/>
                <a:sym typeface="Lexend"/>
              </a:rPr>
              <a:t>    + 0		    + 1</a:t>
            </a:r>
            <a:endParaRPr sz="2000" b="0" i="0" u="sng"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0	 0 		  0	 1</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457200" marR="0" lvl="0" indent="45720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1			 1</a:t>
            </a:r>
            <a:endParaRPr sz="2000" b="0" i="0" u="none" strike="noStrike" cap="none">
              <a:solidFill>
                <a:srgbClr val="292929"/>
              </a:solidFill>
              <a:latin typeface="Lexend"/>
              <a:ea typeface="Lexend"/>
              <a:cs typeface="Lexend"/>
              <a:sym typeface="Lexend"/>
            </a:endParaRPr>
          </a:p>
          <a:p>
            <a:pPr marL="457200" marR="0" lvl="0" indent="457200" algn="l" rtl="0">
              <a:lnSpc>
                <a:spcPct val="100000"/>
              </a:lnSpc>
              <a:spcBef>
                <a:spcPts val="360"/>
              </a:spcBef>
              <a:spcAft>
                <a:spcPts val="0"/>
              </a:spcAft>
              <a:buClr>
                <a:schemeClr val="dk1"/>
              </a:buClr>
              <a:buSzPts val="1100"/>
              <a:buFont typeface="Arial"/>
              <a:buNone/>
            </a:pPr>
            <a:r>
              <a:rPr lang="en" sz="2000" b="0" i="0" u="sng" strike="noStrike" cap="none">
                <a:solidFill>
                  <a:srgbClr val="292929"/>
                </a:solidFill>
                <a:latin typeface="Lexend"/>
                <a:ea typeface="Lexend"/>
                <a:cs typeface="Lexend"/>
                <a:sym typeface="Lexend"/>
              </a:rPr>
              <a:t>    + 0		    + 1</a:t>
            </a:r>
            <a:endParaRPr sz="2000" b="0" i="0" u="sng"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0	 1 		  1	 0</a:t>
            </a:r>
            <a:endParaRPr sz="2000" b="0" i="0" u="none" strike="noStrike" cap="none">
              <a:solidFill>
                <a:srgbClr val="292929"/>
              </a:solidFill>
              <a:latin typeface="Lexend"/>
              <a:ea typeface="Lexend"/>
              <a:cs typeface="Lexend"/>
              <a:sym typeface="Lexend"/>
            </a:endParaRPr>
          </a:p>
        </p:txBody>
      </p:sp>
      <p:grpSp>
        <p:nvGrpSpPr>
          <p:cNvPr id="94" name="Google Shape;94;p3"/>
          <p:cNvGrpSpPr/>
          <p:nvPr/>
        </p:nvGrpSpPr>
        <p:grpSpPr>
          <a:xfrm>
            <a:off x="50480" y="122879"/>
            <a:ext cx="277873" cy="68400"/>
            <a:chOff x="411700" y="2416840"/>
            <a:chExt cx="277873" cy="68400"/>
          </a:xfrm>
        </p:grpSpPr>
        <p:sp>
          <p:nvSpPr>
            <p:cNvPr id="95" name="Google Shape;95;p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8" name="Google Shape;98;p3"/>
          <p:cNvSpPr txBox="1"/>
          <p:nvPr/>
        </p:nvSpPr>
        <p:spPr>
          <a:xfrm>
            <a:off x="209775" y="163775"/>
            <a:ext cx="727611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Half Adder</a:t>
            </a:r>
            <a:endParaRPr sz="3600" b="0" i="0" u="none" strike="noStrike" cap="none">
              <a:solidFill>
                <a:schemeClr val="dk1"/>
              </a:solidFill>
              <a:latin typeface="Lexend"/>
              <a:ea typeface="Lexend"/>
              <a:cs typeface="Lexend"/>
              <a:sym typeface="Lexend"/>
            </a:endParaRPr>
          </a:p>
        </p:txBody>
      </p:sp>
      <p:sp>
        <p:nvSpPr>
          <p:cNvPr id="99" name="Google Shape;99;p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graphicFrame>
        <p:nvGraphicFramePr>
          <p:cNvPr id="100" name="Google Shape;100;p3"/>
          <p:cNvGraphicFramePr/>
          <p:nvPr/>
        </p:nvGraphicFramePr>
        <p:xfrm>
          <a:off x="5654125" y="2110075"/>
          <a:ext cx="1641000" cy="1307410"/>
        </p:xfrm>
        <a:graphic>
          <a:graphicData uri="http://schemas.openxmlformats.org/drawingml/2006/table">
            <a:tbl>
              <a:tblPr>
                <a:noFill/>
                <a:tableStyleId>{B8399E05-102B-49B8-B008-7C1F9EC2AC45}</a:tableStyleId>
              </a:tblPr>
              <a:tblGrid>
                <a:gridCol w="410250">
                  <a:extLst>
                    <a:ext uri="{9D8B030D-6E8A-4147-A177-3AD203B41FA5}">
                      <a16:colId xmlns:a16="http://schemas.microsoft.com/office/drawing/2014/main" val="20000"/>
                    </a:ext>
                  </a:extLst>
                </a:gridCol>
                <a:gridCol w="410250">
                  <a:extLst>
                    <a:ext uri="{9D8B030D-6E8A-4147-A177-3AD203B41FA5}">
                      <a16:colId xmlns:a16="http://schemas.microsoft.com/office/drawing/2014/main" val="20001"/>
                    </a:ext>
                  </a:extLst>
                </a:gridCol>
                <a:gridCol w="410250">
                  <a:extLst>
                    <a:ext uri="{9D8B030D-6E8A-4147-A177-3AD203B41FA5}">
                      <a16:colId xmlns:a16="http://schemas.microsoft.com/office/drawing/2014/main" val="20002"/>
                    </a:ext>
                  </a:extLst>
                </a:gridCol>
                <a:gridCol w="410250">
                  <a:extLst>
                    <a:ext uri="{9D8B030D-6E8A-4147-A177-3AD203B41FA5}">
                      <a16:colId xmlns:a16="http://schemas.microsoft.com/office/drawing/2014/main" val="20003"/>
                    </a:ext>
                  </a:extLst>
                </a:gridCol>
              </a:tblGrid>
              <a:tr h="271250">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X</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Y</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C</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S</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4</a:t>
            </a:fld>
            <a:endParaRPr sz="1000" b="0" i="0" u="none" strike="noStrike" cap="none">
              <a:solidFill>
                <a:srgbClr val="595959"/>
              </a:solidFill>
              <a:latin typeface="Arial"/>
              <a:ea typeface="Arial"/>
              <a:cs typeface="Arial"/>
              <a:sym typeface="Arial"/>
            </a:endParaRPr>
          </a:p>
        </p:txBody>
      </p:sp>
      <p:sp>
        <p:nvSpPr>
          <p:cNvPr id="107" name="Google Shape;107;p4"/>
          <p:cNvSpPr txBox="1"/>
          <p:nvPr/>
        </p:nvSpPr>
        <p:spPr>
          <a:xfrm>
            <a:off x="328350" y="766838"/>
            <a:ext cx="8630700" cy="3632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From the truth table, we find out the SOP to get the boolean function &amp; simplify it.</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C = XY</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S = X'Y + XY' = X⊕Y</a:t>
            </a:r>
            <a:endParaRPr sz="2000" b="0" i="0" u="none" strike="noStrike" cap="none">
              <a:solidFill>
                <a:srgbClr val="292929"/>
              </a:solidFill>
              <a:latin typeface="Lexend"/>
              <a:ea typeface="Lexend"/>
              <a:cs typeface="Lexend"/>
              <a:sym typeface="Lexend"/>
            </a:endParaRPr>
          </a:p>
        </p:txBody>
      </p:sp>
      <p:grpSp>
        <p:nvGrpSpPr>
          <p:cNvPr id="108" name="Google Shape;108;p4"/>
          <p:cNvGrpSpPr/>
          <p:nvPr/>
        </p:nvGrpSpPr>
        <p:grpSpPr>
          <a:xfrm>
            <a:off x="50480" y="122879"/>
            <a:ext cx="277873" cy="68400"/>
            <a:chOff x="411700" y="2416840"/>
            <a:chExt cx="277873" cy="68400"/>
          </a:xfrm>
        </p:grpSpPr>
        <p:sp>
          <p:nvSpPr>
            <p:cNvPr id="109" name="Google Shape;109;p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2" name="Google Shape;112;p4"/>
          <p:cNvSpPr txBox="1"/>
          <p:nvPr/>
        </p:nvSpPr>
        <p:spPr>
          <a:xfrm>
            <a:off x="209775" y="163775"/>
            <a:ext cx="789790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Half Adder</a:t>
            </a:r>
            <a:endParaRPr sz="3600" b="0" i="0" u="none" strike="noStrike" cap="none">
              <a:solidFill>
                <a:schemeClr val="dk1"/>
              </a:solidFill>
              <a:latin typeface="Lexend"/>
              <a:ea typeface="Lexend"/>
              <a:cs typeface="Lexend"/>
              <a:sym typeface="Lexend"/>
            </a:endParaRPr>
          </a:p>
        </p:txBody>
      </p:sp>
      <p:sp>
        <p:nvSpPr>
          <p:cNvPr id="113" name="Google Shape;113;p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graphicFrame>
        <p:nvGraphicFramePr>
          <p:cNvPr id="114" name="Google Shape;114;p4"/>
          <p:cNvGraphicFramePr/>
          <p:nvPr/>
        </p:nvGraphicFramePr>
        <p:xfrm>
          <a:off x="684300" y="1567250"/>
          <a:ext cx="1641000" cy="1307410"/>
        </p:xfrm>
        <a:graphic>
          <a:graphicData uri="http://schemas.openxmlformats.org/drawingml/2006/table">
            <a:tbl>
              <a:tblPr>
                <a:noFill/>
                <a:tableStyleId>{B8399E05-102B-49B8-B008-7C1F9EC2AC45}</a:tableStyleId>
              </a:tblPr>
              <a:tblGrid>
                <a:gridCol w="410250">
                  <a:extLst>
                    <a:ext uri="{9D8B030D-6E8A-4147-A177-3AD203B41FA5}">
                      <a16:colId xmlns:a16="http://schemas.microsoft.com/office/drawing/2014/main" val="20000"/>
                    </a:ext>
                  </a:extLst>
                </a:gridCol>
                <a:gridCol w="410250">
                  <a:extLst>
                    <a:ext uri="{9D8B030D-6E8A-4147-A177-3AD203B41FA5}">
                      <a16:colId xmlns:a16="http://schemas.microsoft.com/office/drawing/2014/main" val="20001"/>
                    </a:ext>
                  </a:extLst>
                </a:gridCol>
                <a:gridCol w="410250">
                  <a:extLst>
                    <a:ext uri="{9D8B030D-6E8A-4147-A177-3AD203B41FA5}">
                      <a16:colId xmlns:a16="http://schemas.microsoft.com/office/drawing/2014/main" val="20002"/>
                    </a:ext>
                  </a:extLst>
                </a:gridCol>
                <a:gridCol w="410250">
                  <a:extLst>
                    <a:ext uri="{9D8B030D-6E8A-4147-A177-3AD203B41FA5}">
                      <a16:colId xmlns:a16="http://schemas.microsoft.com/office/drawing/2014/main" val="20003"/>
                    </a:ext>
                  </a:extLst>
                </a:gridCol>
              </a:tblGrid>
              <a:tr h="271250">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X</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Y</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C</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S</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91450" marR="91450" marT="45700" marB="45700" anchor="ctr">
                    <a:lnL w="19050"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115" name="Google Shape;115;p4"/>
          <p:cNvSpPr txBox="1"/>
          <p:nvPr/>
        </p:nvSpPr>
        <p:spPr>
          <a:xfrm>
            <a:off x="3780575" y="1921250"/>
            <a:ext cx="5178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Now, we draw the logic diagram.</a:t>
            </a:r>
            <a:endParaRPr sz="2000" b="0" i="0" u="none" strike="noStrike" cap="none">
              <a:solidFill>
                <a:srgbClr val="292929"/>
              </a:solidFill>
              <a:latin typeface="Lexend"/>
              <a:ea typeface="Lexend"/>
              <a:cs typeface="Lexend"/>
              <a:sym typeface="Lexend"/>
            </a:endParaRPr>
          </a:p>
        </p:txBody>
      </p:sp>
      <p:pic>
        <p:nvPicPr>
          <p:cNvPr id="116" name="Google Shape;116;p4"/>
          <p:cNvPicPr preferRelativeResize="0"/>
          <p:nvPr/>
        </p:nvPicPr>
        <p:blipFill rotWithShape="1">
          <a:blip r:embed="rId3">
            <a:alphaModFix/>
          </a:blip>
          <a:srcRect/>
          <a:stretch/>
        </p:blipFill>
        <p:spPr>
          <a:xfrm>
            <a:off x="3608421" y="2966401"/>
            <a:ext cx="4689628" cy="1965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5</a:t>
            </a:fld>
            <a:endParaRPr sz="1000" b="0" i="0" u="none" strike="noStrike" cap="none">
              <a:solidFill>
                <a:srgbClr val="595959"/>
              </a:solidFill>
              <a:latin typeface="Arial"/>
              <a:ea typeface="Arial"/>
              <a:cs typeface="Arial"/>
              <a:sym typeface="Arial"/>
            </a:endParaRPr>
          </a:p>
        </p:txBody>
      </p:sp>
      <p:sp>
        <p:nvSpPr>
          <p:cNvPr id="123" name="Google Shape;123;p5"/>
          <p:cNvSpPr txBox="1"/>
          <p:nvPr/>
        </p:nvSpPr>
        <p:spPr>
          <a:xfrm>
            <a:off x="328350" y="902674"/>
            <a:ext cx="8630700" cy="257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Half-adder adds up only two bits. </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To add two binary numbers, we need to add 3 bits (including the carry).</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Example:</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Need </a:t>
            </a:r>
            <a:r>
              <a:rPr lang="en" sz="2000" b="1" i="0" u="none" strike="noStrike" cap="none">
                <a:solidFill>
                  <a:srgbClr val="0000FF"/>
                </a:solidFill>
                <a:latin typeface="Lexend"/>
                <a:ea typeface="Lexend"/>
                <a:cs typeface="Lexend"/>
                <a:sym typeface="Lexend"/>
              </a:rPr>
              <a:t>Full Adder</a:t>
            </a:r>
            <a:r>
              <a:rPr lang="en" sz="2000" b="0" i="0" u="none" strike="noStrike" cap="none">
                <a:solidFill>
                  <a:srgbClr val="292929"/>
                </a:solidFill>
                <a:latin typeface="Lexend"/>
                <a:ea typeface="Lexend"/>
                <a:cs typeface="Lexend"/>
                <a:sym typeface="Lexend"/>
              </a:rPr>
              <a:t> (so called as it can be made from two half-adders).</a:t>
            </a:r>
            <a:endParaRPr sz="2000" b="0" i="0" u="none" strike="noStrike" cap="none">
              <a:solidFill>
                <a:srgbClr val="292929"/>
              </a:solidFill>
              <a:latin typeface="Lexend"/>
              <a:ea typeface="Lexend"/>
              <a:cs typeface="Lexend"/>
              <a:sym typeface="Lexend"/>
            </a:endParaRPr>
          </a:p>
        </p:txBody>
      </p:sp>
      <p:grpSp>
        <p:nvGrpSpPr>
          <p:cNvPr id="124" name="Google Shape;124;p5"/>
          <p:cNvGrpSpPr/>
          <p:nvPr/>
        </p:nvGrpSpPr>
        <p:grpSpPr>
          <a:xfrm>
            <a:off x="50480" y="122879"/>
            <a:ext cx="277873" cy="68400"/>
            <a:chOff x="411700" y="2416840"/>
            <a:chExt cx="277873" cy="68400"/>
          </a:xfrm>
        </p:grpSpPr>
        <p:sp>
          <p:nvSpPr>
            <p:cNvPr id="125" name="Google Shape;125;p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8" name="Google Shape;128;p5"/>
          <p:cNvSpPr txBox="1"/>
          <p:nvPr/>
        </p:nvSpPr>
        <p:spPr>
          <a:xfrm>
            <a:off x="209775" y="163775"/>
            <a:ext cx="7183329"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 Full Adder</a:t>
            </a:r>
            <a:endParaRPr sz="3600" b="0" i="0" u="none" strike="noStrike" cap="none">
              <a:solidFill>
                <a:schemeClr val="dk1"/>
              </a:solidFill>
              <a:latin typeface="Lexend"/>
              <a:ea typeface="Lexend"/>
              <a:cs typeface="Lexend"/>
              <a:sym typeface="Lexend"/>
            </a:endParaRPr>
          </a:p>
        </p:txBody>
      </p:sp>
      <p:sp>
        <p:nvSpPr>
          <p:cNvPr id="129" name="Google Shape;129;p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pic>
        <p:nvPicPr>
          <p:cNvPr id="130" name="Google Shape;130;p5"/>
          <p:cNvPicPr preferRelativeResize="0"/>
          <p:nvPr/>
        </p:nvPicPr>
        <p:blipFill rotWithShape="1">
          <a:blip r:embed="rId3">
            <a:alphaModFix/>
          </a:blip>
          <a:srcRect/>
          <a:stretch/>
        </p:blipFill>
        <p:spPr>
          <a:xfrm>
            <a:off x="3232150" y="1939125"/>
            <a:ext cx="2679699" cy="1265238"/>
          </a:xfrm>
          <a:prstGeom prst="rect">
            <a:avLst/>
          </a:prstGeom>
          <a:noFill/>
          <a:ln>
            <a:noFill/>
          </a:ln>
        </p:spPr>
      </p:pic>
      <p:grpSp>
        <p:nvGrpSpPr>
          <p:cNvPr id="131" name="Google Shape;131;p5"/>
          <p:cNvGrpSpPr/>
          <p:nvPr/>
        </p:nvGrpSpPr>
        <p:grpSpPr>
          <a:xfrm>
            <a:off x="2505075" y="3417000"/>
            <a:ext cx="4133850" cy="1466849"/>
            <a:chOff x="2208" y="3072"/>
            <a:chExt cx="2604" cy="924"/>
          </a:xfrm>
        </p:grpSpPr>
        <p:sp>
          <p:nvSpPr>
            <p:cNvPr id="132" name="Google Shape;132;p5"/>
            <p:cNvSpPr txBox="1"/>
            <p:nvPr/>
          </p:nvSpPr>
          <p:spPr>
            <a:xfrm>
              <a:off x="3024" y="3072"/>
              <a:ext cx="9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133" name="Google Shape;133;p5"/>
            <p:cNvSpPr txBox="1"/>
            <p:nvPr/>
          </p:nvSpPr>
          <p:spPr>
            <a:xfrm>
              <a:off x="3120" y="3168"/>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1600" b="1" i="0" u="none" strike="noStrike" cap="none">
                  <a:solidFill>
                    <a:srgbClr val="000000"/>
                  </a:solidFill>
                  <a:latin typeface="Lexend"/>
                  <a:ea typeface="Lexend"/>
                  <a:cs typeface="Lexend"/>
                  <a:sym typeface="Lexend"/>
                </a:rPr>
                <a:t>Full</a:t>
              </a:r>
              <a:endParaRPr sz="10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1600" b="1" i="0" u="none" strike="noStrike" cap="none">
                  <a:solidFill>
                    <a:srgbClr val="000000"/>
                  </a:solidFill>
                  <a:latin typeface="Lexend"/>
                  <a:ea typeface="Lexend"/>
                  <a:cs typeface="Lexend"/>
                  <a:sym typeface="Lexend"/>
                </a:rPr>
                <a:t>Adder</a:t>
              </a:r>
              <a:endParaRPr sz="1000" b="0" i="0" u="none" strike="noStrike" cap="none">
                <a:solidFill>
                  <a:srgbClr val="000000"/>
                </a:solidFill>
                <a:latin typeface="Lexend"/>
                <a:ea typeface="Lexend"/>
                <a:cs typeface="Lexend"/>
                <a:sym typeface="Lexend"/>
              </a:endParaRPr>
            </a:p>
          </p:txBody>
        </p:sp>
        <p:cxnSp>
          <p:nvCxnSpPr>
            <p:cNvPr id="134" name="Google Shape;134;p5"/>
            <p:cNvCxnSpPr/>
            <p:nvPr/>
          </p:nvCxnSpPr>
          <p:spPr>
            <a:xfrm>
              <a:off x="2448" y="3216"/>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135" name="Google Shape;135;p5"/>
            <p:cNvCxnSpPr/>
            <p:nvPr/>
          </p:nvCxnSpPr>
          <p:spPr>
            <a:xfrm>
              <a:off x="2448" y="3408"/>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136" name="Google Shape;136;p5"/>
            <p:cNvCxnSpPr/>
            <p:nvPr/>
          </p:nvCxnSpPr>
          <p:spPr>
            <a:xfrm>
              <a:off x="3936" y="3264"/>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137" name="Google Shape;137;p5"/>
            <p:cNvCxnSpPr/>
            <p:nvPr/>
          </p:nvCxnSpPr>
          <p:spPr>
            <a:xfrm>
              <a:off x="3936" y="3552"/>
              <a:ext cx="600" cy="0"/>
            </a:xfrm>
            <a:prstGeom prst="straightConnector1">
              <a:avLst/>
            </a:prstGeom>
            <a:noFill/>
            <a:ln w="15875" cap="flat" cmpd="sng">
              <a:solidFill>
                <a:srgbClr val="000000"/>
              </a:solidFill>
              <a:prstDash val="solid"/>
              <a:miter lim="800000"/>
              <a:headEnd type="none" w="sm" len="sm"/>
              <a:tailEnd type="triangle" w="med" len="med"/>
            </a:ln>
          </p:spPr>
        </p:cxnSp>
        <p:sp>
          <p:nvSpPr>
            <p:cNvPr id="138" name="Google Shape;138;p5"/>
            <p:cNvSpPr txBox="1"/>
            <p:nvPr/>
          </p:nvSpPr>
          <p:spPr>
            <a:xfrm>
              <a:off x="2208" y="3072"/>
              <a:ext cx="300" cy="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X</a:t>
              </a:r>
              <a:endParaRPr sz="1400" b="0" i="0" u="none" strike="noStrike" cap="none">
                <a:solidFill>
                  <a:srgbClr val="000000"/>
                </a:solidFill>
                <a:latin typeface="Lexend"/>
                <a:ea typeface="Lexend"/>
                <a:cs typeface="Lexend"/>
                <a:sym typeface="Lexend"/>
              </a:endParaRPr>
            </a:p>
            <a:p>
              <a:pPr marL="0" marR="0" lvl="0" indent="0" algn="l" rtl="0">
                <a:lnSpc>
                  <a:spcPct val="100000"/>
                </a:lnSpc>
                <a:spcBef>
                  <a:spcPts val="18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a:p>
              <a:pPr marL="0" marR="0" lvl="0" indent="0" algn="l" rtl="0">
                <a:lnSpc>
                  <a:spcPct val="100000"/>
                </a:lnSpc>
                <a:spcBef>
                  <a:spcPts val="18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Z</a:t>
              </a:r>
              <a:endParaRPr sz="1400" b="0" i="0" u="none" strike="noStrike" cap="none">
                <a:solidFill>
                  <a:srgbClr val="000000"/>
                </a:solidFill>
                <a:latin typeface="Lexend"/>
                <a:ea typeface="Lexend"/>
                <a:cs typeface="Lexend"/>
                <a:sym typeface="Lexend"/>
              </a:endParaRPr>
            </a:p>
          </p:txBody>
        </p:sp>
        <p:sp>
          <p:nvSpPr>
            <p:cNvPr id="139" name="Google Shape;139;p5"/>
            <p:cNvSpPr txBox="1"/>
            <p:nvPr/>
          </p:nvSpPr>
          <p:spPr>
            <a:xfrm>
              <a:off x="4512" y="3168"/>
              <a:ext cx="300" cy="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S</a:t>
              </a:r>
              <a:endParaRPr sz="1400" b="0" i="0" u="none" strike="noStrike" cap="none">
                <a:solidFill>
                  <a:srgbClr val="000000"/>
                </a:solidFill>
                <a:latin typeface="Lexend"/>
                <a:ea typeface="Lexend"/>
                <a:cs typeface="Lexend"/>
                <a:sym typeface="Lexend"/>
              </a:endParaRPr>
            </a:p>
            <a:p>
              <a:pPr marL="0" marR="0" lvl="0" indent="0" algn="l" rtl="0">
                <a:lnSpc>
                  <a:spcPct val="100000"/>
                </a:lnSpc>
                <a:spcBef>
                  <a:spcPts val="90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C</a:t>
              </a:r>
              <a:endParaRPr sz="1400" b="0" i="0" u="none" strike="noStrike" cap="none">
                <a:solidFill>
                  <a:srgbClr val="000000"/>
                </a:solidFill>
                <a:latin typeface="Lexend"/>
                <a:ea typeface="Lexend"/>
                <a:cs typeface="Lexend"/>
                <a:sym typeface="Lexend"/>
              </a:endParaRPr>
            </a:p>
          </p:txBody>
        </p:sp>
        <p:sp>
          <p:nvSpPr>
            <p:cNvPr id="140" name="Google Shape;140;p5"/>
            <p:cNvSpPr txBox="1"/>
            <p:nvPr/>
          </p:nvSpPr>
          <p:spPr>
            <a:xfrm>
              <a:off x="3072" y="3696"/>
              <a:ext cx="9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exend"/>
                  <a:ea typeface="Lexend"/>
                  <a:cs typeface="Lexend"/>
                  <a:sym typeface="Lexend"/>
                </a:rPr>
                <a:t>(X + Y + Z)</a:t>
              </a:r>
              <a:endParaRPr sz="1400" b="0" i="0" u="none" strike="noStrike" cap="none">
                <a:solidFill>
                  <a:srgbClr val="000000"/>
                </a:solidFill>
                <a:latin typeface="Lexend"/>
                <a:ea typeface="Lexend"/>
                <a:cs typeface="Lexend"/>
                <a:sym typeface="Lexend"/>
              </a:endParaRPr>
            </a:p>
          </p:txBody>
        </p:sp>
        <p:cxnSp>
          <p:nvCxnSpPr>
            <p:cNvPr id="141" name="Google Shape;141;p5"/>
            <p:cNvCxnSpPr/>
            <p:nvPr/>
          </p:nvCxnSpPr>
          <p:spPr>
            <a:xfrm>
              <a:off x="2448" y="3600"/>
              <a:ext cx="600" cy="0"/>
            </a:xfrm>
            <a:prstGeom prst="straightConnector1">
              <a:avLst/>
            </a:prstGeom>
            <a:noFill/>
            <a:ln w="15875" cap="flat" cmpd="sng">
              <a:solidFill>
                <a:srgbClr val="000000"/>
              </a:solidFill>
              <a:prstDash val="solid"/>
              <a:miter lim="800000"/>
              <a:headEnd type="none" w="sm" len="sm"/>
              <a:tailEnd type="triangle" w="med" len="me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6</a:t>
            </a:fld>
            <a:endParaRPr sz="1000" b="0" i="0" u="none" strike="noStrike" cap="none">
              <a:solidFill>
                <a:srgbClr val="595959"/>
              </a:solidFill>
              <a:latin typeface="Arial"/>
              <a:ea typeface="Arial"/>
              <a:cs typeface="Arial"/>
              <a:sym typeface="Arial"/>
            </a:endParaRPr>
          </a:p>
        </p:txBody>
      </p:sp>
      <p:sp>
        <p:nvSpPr>
          <p:cNvPr id="148" name="Google Shape;148;p6"/>
          <p:cNvSpPr txBox="1"/>
          <p:nvPr/>
        </p:nvSpPr>
        <p:spPr>
          <a:xfrm>
            <a:off x="328350" y="766838"/>
            <a:ext cx="8630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From the truth table, we find out the SOP to get the boolean function &amp; simplify it.</a:t>
            </a:r>
            <a:endParaRPr sz="2000" b="0" i="0" u="none" strike="noStrike" cap="none">
              <a:solidFill>
                <a:srgbClr val="292929"/>
              </a:solidFill>
              <a:latin typeface="Lexend"/>
              <a:ea typeface="Lexend"/>
              <a:cs typeface="Lexend"/>
              <a:sym typeface="Lexend"/>
            </a:endParaRPr>
          </a:p>
        </p:txBody>
      </p:sp>
      <p:grpSp>
        <p:nvGrpSpPr>
          <p:cNvPr id="149" name="Google Shape;149;p6"/>
          <p:cNvGrpSpPr/>
          <p:nvPr/>
        </p:nvGrpSpPr>
        <p:grpSpPr>
          <a:xfrm>
            <a:off x="50480" y="122879"/>
            <a:ext cx="277873" cy="68400"/>
            <a:chOff x="411700" y="2416840"/>
            <a:chExt cx="277873" cy="68400"/>
          </a:xfrm>
        </p:grpSpPr>
        <p:sp>
          <p:nvSpPr>
            <p:cNvPr id="150" name="Google Shape;150;p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3" name="Google Shape;153;p6"/>
          <p:cNvSpPr txBox="1"/>
          <p:nvPr/>
        </p:nvSpPr>
        <p:spPr>
          <a:xfrm>
            <a:off x="209775" y="163775"/>
            <a:ext cx="784169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Full Adder</a:t>
            </a:r>
            <a:endParaRPr sz="3600" b="0" i="0" u="none" strike="noStrike" cap="none">
              <a:solidFill>
                <a:schemeClr val="dk1"/>
              </a:solidFill>
              <a:latin typeface="Lexend"/>
              <a:ea typeface="Lexend"/>
              <a:cs typeface="Lexend"/>
              <a:sym typeface="Lexend"/>
            </a:endParaRPr>
          </a:p>
        </p:txBody>
      </p:sp>
      <p:sp>
        <p:nvSpPr>
          <p:cNvPr id="154" name="Google Shape;154;p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graphicFrame>
        <p:nvGraphicFramePr>
          <p:cNvPr id="155" name="Google Shape;155;p6"/>
          <p:cNvGraphicFramePr/>
          <p:nvPr/>
        </p:nvGraphicFramePr>
        <p:xfrm>
          <a:off x="328350" y="1846263"/>
          <a:ext cx="2155000" cy="2377080"/>
        </p:xfrm>
        <a:graphic>
          <a:graphicData uri="http://schemas.openxmlformats.org/drawingml/2006/table">
            <a:tbl>
              <a:tblPr>
                <a:noFill/>
                <a:tableStyleId>{B8399E05-102B-49B8-B008-7C1F9EC2AC45}</a:tableStyleId>
              </a:tblPr>
              <a:tblGrid>
                <a:gridCol w="431000">
                  <a:extLst>
                    <a:ext uri="{9D8B030D-6E8A-4147-A177-3AD203B41FA5}">
                      <a16:colId xmlns:a16="http://schemas.microsoft.com/office/drawing/2014/main" val="20000"/>
                    </a:ext>
                  </a:extLst>
                </a:gridCol>
                <a:gridCol w="431000">
                  <a:extLst>
                    <a:ext uri="{9D8B030D-6E8A-4147-A177-3AD203B41FA5}">
                      <a16:colId xmlns:a16="http://schemas.microsoft.com/office/drawing/2014/main" val="20001"/>
                    </a:ext>
                  </a:extLst>
                </a:gridCol>
                <a:gridCol w="431000">
                  <a:extLst>
                    <a:ext uri="{9D8B030D-6E8A-4147-A177-3AD203B41FA5}">
                      <a16:colId xmlns:a16="http://schemas.microsoft.com/office/drawing/2014/main" val="20002"/>
                    </a:ext>
                  </a:extLst>
                </a:gridCol>
                <a:gridCol w="431000">
                  <a:extLst>
                    <a:ext uri="{9D8B030D-6E8A-4147-A177-3AD203B41FA5}">
                      <a16:colId xmlns:a16="http://schemas.microsoft.com/office/drawing/2014/main" val="20003"/>
                    </a:ext>
                  </a:extLst>
                </a:gridCol>
                <a:gridCol w="431000">
                  <a:extLst>
                    <a:ext uri="{9D8B030D-6E8A-4147-A177-3AD203B41FA5}">
                      <a16:colId xmlns:a16="http://schemas.microsoft.com/office/drawing/2014/main" val="20004"/>
                    </a:ext>
                  </a:extLst>
                </a:gridCol>
              </a:tblGrid>
              <a:tr h="2712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X</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Y</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Z</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C</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S</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12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71250">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
        <p:nvSpPr>
          <p:cNvPr id="156" name="Google Shape;156;p6"/>
          <p:cNvSpPr/>
          <p:nvPr/>
        </p:nvSpPr>
        <p:spPr>
          <a:xfrm>
            <a:off x="5783825" y="1567250"/>
            <a:ext cx="3360177" cy="1265417"/>
          </a:xfrm>
          <a:custGeom>
            <a:avLst/>
            <a:gdLst/>
            <a:ahLst/>
            <a:cxnLst/>
            <a:rect l="l" t="t" r="r" b="b"/>
            <a:pathLst>
              <a:path w="1775523" h="949656" extrusionOk="0">
                <a:moveTo>
                  <a:pt x="1439418" y="0"/>
                </a:moveTo>
                <a:lnTo>
                  <a:pt x="336232" y="0"/>
                </a:lnTo>
                <a:cubicBezTo>
                  <a:pt x="151320" y="0"/>
                  <a:pt x="0" y="151321"/>
                  <a:pt x="0" y="336233"/>
                </a:cubicBezTo>
                <a:lnTo>
                  <a:pt x="0" y="336233"/>
                </a:lnTo>
                <a:cubicBezTo>
                  <a:pt x="0" y="521145"/>
                  <a:pt x="151320" y="672465"/>
                  <a:pt x="336232" y="672465"/>
                </a:cubicBezTo>
                <a:lnTo>
                  <a:pt x="1208912" y="672465"/>
                </a:lnTo>
                <a:cubicBezTo>
                  <a:pt x="1243330" y="724091"/>
                  <a:pt x="1406017" y="956183"/>
                  <a:pt x="1544827" y="949516"/>
                </a:cubicBezTo>
                <a:lnTo>
                  <a:pt x="1545018" y="949516"/>
                </a:lnTo>
                <a:cubicBezTo>
                  <a:pt x="1551939" y="949516"/>
                  <a:pt x="1555750" y="941515"/>
                  <a:pt x="1551305" y="936181"/>
                </a:cubicBezTo>
                <a:cubicBezTo>
                  <a:pt x="1540700" y="923481"/>
                  <a:pt x="1529143" y="904431"/>
                  <a:pt x="1523364" y="893763"/>
                </a:cubicBezTo>
                <a:cubicBezTo>
                  <a:pt x="1516825" y="881761"/>
                  <a:pt x="1463992" y="766191"/>
                  <a:pt x="1473073" y="670751"/>
                </a:cubicBezTo>
                <a:cubicBezTo>
                  <a:pt x="1642300" y="653669"/>
                  <a:pt x="1775523" y="509778"/>
                  <a:pt x="1775523" y="336233"/>
                </a:cubicBezTo>
                <a:lnTo>
                  <a:pt x="1775523" y="336233"/>
                </a:lnTo>
                <a:cubicBezTo>
                  <a:pt x="1775523" y="151321"/>
                  <a:pt x="1624202" y="0"/>
                  <a:pt x="1439291" y="0"/>
                </a:cubicBezTo>
                <a:close/>
              </a:path>
            </a:pathLst>
          </a:custGeom>
          <a:solidFill>
            <a:srgbClr val="28C8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1500" b="1" i="0" u="none" strike="noStrike" cap="none">
                <a:solidFill>
                  <a:schemeClr val="lt1"/>
                </a:solidFill>
                <a:latin typeface="Arial"/>
                <a:ea typeface="Arial"/>
                <a:cs typeface="Arial"/>
                <a:sym typeface="Arial"/>
              </a:rPr>
              <a:t>Note:</a:t>
            </a:r>
            <a:endParaRPr sz="15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500" b="1" i="0" u="none" strike="noStrike" cap="none">
                <a:solidFill>
                  <a:schemeClr val="lt1"/>
                </a:solidFill>
                <a:latin typeface="Arial"/>
                <a:ea typeface="Arial"/>
                <a:cs typeface="Arial"/>
                <a:sym typeface="Arial"/>
              </a:rPr>
              <a:t>Z - carry in (to the current position)</a:t>
            </a:r>
            <a:endParaRPr sz="15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500" b="1" i="0" u="none" strike="noStrike" cap="none">
                <a:solidFill>
                  <a:schemeClr val="lt1"/>
                </a:solidFill>
                <a:latin typeface="Arial"/>
                <a:ea typeface="Arial"/>
                <a:cs typeface="Arial"/>
                <a:sym typeface="Arial"/>
              </a:rPr>
              <a:t>C - carry out (to the next position) </a:t>
            </a:r>
            <a:endParaRPr sz="15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endParaRPr sz="15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500" b="1" i="0" u="none" strike="noStrike" cap="none">
              <a:solidFill>
                <a:schemeClr val="lt1"/>
              </a:solidFill>
              <a:latin typeface="Arial"/>
              <a:ea typeface="Arial"/>
              <a:cs typeface="Arial"/>
              <a:sym typeface="Arial"/>
            </a:endParaRPr>
          </a:p>
        </p:txBody>
      </p:sp>
      <p:sp>
        <p:nvSpPr>
          <p:cNvPr id="157" name="Google Shape;157;p6"/>
          <p:cNvSpPr txBox="1"/>
          <p:nvPr/>
        </p:nvSpPr>
        <p:spPr>
          <a:xfrm>
            <a:off x="2946600" y="3022650"/>
            <a:ext cx="41349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C = X’YZ + XY’Z + XYZ’ + XYZ</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S = X'Y'Z + XYZ + X'YZ' + XY'Z'</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rgbClr val="292929"/>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7</a:t>
            </a:fld>
            <a:endParaRPr sz="1000" b="0" i="0" u="none" strike="noStrike" cap="none">
              <a:solidFill>
                <a:srgbClr val="595959"/>
              </a:solidFill>
              <a:latin typeface="Arial"/>
              <a:ea typeface="Arial"/>
              <a:cs typeface="Arial"/>
              <a:sym typeface="Arial"/>
            </a:endParaRPr>
          </a:p>
        </p:txBody>
      </p:sp>
      <p:sp>
        <p:nvSpPr>
          <p:cNvPr id="164" name="Google Shape;164;p7"/>
          <p:cNvSpPr txBox="1"/>
          <p:nvPr/>
        </p:nvSpPr>
        <p:spPr>
          <a:xfrm>
            <a:off x="328350" y="766838"/>
            <a:ext cx="8630700" cy="4032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Simplifying,</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C = X’YZ + XY’Z + XYZ’ + XYZ</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 Z (X’Y + XY’) + XY (Z + Z’)</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 Z (X ⊕ Y) + XY</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S = X’Y’Z + X’YZ’ + XY’Z’ + XYZ</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 X’ (Y’Z + YZ’) + X (Y’Z’ + YZ)</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 X’ (Y⊕ Z) + X (Y⊕ Z)’ [</a:t>
            </a:r>
            <a:r>
              <a:rPr lang="en" sz="2000" b="0" i="0" u="none" strike="noStrike" cap="none">
                <a:solidFill>
                  <a:srgbClr val="0000FF"/>
                </a:solidFill>
                <a:latin typeface="Lexend"/>
                <a:ea typeface="Lexend"/>
                <a:cs typeface="Lexend"/>
                <a:sym typeface="Lexend"/>
              </a:rPr>
              <a:t>(Y ⊕ Z) = A</a:t>
            </a:r>
            <a:r>
              <a:rPr lang="en" sz="2000" b="0" i="0" u="none" strike="noStrike" cap="none">
                <a:solidFill>
                  <a:srgbClr val="292929"/>
                </a:solidFill>
                <a:latin typeface="Lexend"/>
                <a:ea typeface="Lexend"/>
                <a:cs typeface="Lexend"/>
                <a:sym typeface="Lexend"/>
              </a:rPr>
              <a:t>]</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 X’</a:t>
            </a:r>
            <a:r>
              <a:rPr lang="en" sz="2000" b="0" i="0" u="none" strike="noStrike" cap="none">
                <a:solidFill>
                  <a:srgbClr val="0000FF"/>
                </a:solidFill>
                <a:latin typeface="Lexend"/>
                <a:ea typeface="Lexend"/>
                <a:cs typeface="Lexend"/>
                <a:sym typeface="Lexend"/>
              </a:rPr>
              <a:t>A</a:t>
            </a:r>
            <a:r>
              <a:rPr lang="en" sz="2000" b="0" i="0" u="none" strike="noStrike" cap="none">
                <a:solidFill>
                  <a:srgbClr val="292929"/>
                </a:solidFill>
                <a:latin typeface="Lexend"/>
                <a:ea typeface="Lexend"/>
                <a:cs typeface="Lexend"/>
                <a:sym typeface="Lexend"/>
              </a:rPr>
              <a:t> + X</a:t>
            </a:r>
            <a:r>
              <a:rPr lang="en" sz="2000" b="0" i="0" u="none" strike="noStrike" cap="none">
                <a:solidFill>
                  <a:srgbClr val="0000FF"/>
                </a:solidFill>
                <a:latin typeface="Lexend"/>
                <a:ea typeface="Lexend"/>
                <a:cs typeface="Lexend"/>
                <a:sym typeface="Lexend"/>
              </a:rPr>
              <a:t>A</a:t>
            </a:r>
            <a:r>
              <a:rPr lang="en" sz="2000" b="0" i="0" u="none" strike="noStrike" cap="none">
                <a:solidFill>
                  <a:srgbClr val="292929"/>
                </a:solidFill>
                <a:latin typeface="Lexend"/>
                <a:ea typeface="Lexend"/>
                <a:cs typeface="Lexend"/>
                <a:sym typeface="Lexend"/>
              </a:rPr>
              <a:t>’</a:t>
            </a:r>
            <a:endParaRPr sz="2000" b="0" i="0" u="none" strike="noStrike" cap="none">
              <a:solidFill>
                <a:srgbClr val="292929"/>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rgbClr val="292929"/>
                </a:solidFill>
                <a:latin typeface="Lexend"/>
                <a:ea typeface="Lexend"/>
                <a:cs typeface="Lexend"/>
                <a:sym typeface="Lexend"/>
              </a:rPr>
              <a:t>   = X ⊕ </a:t>
            </a:r>
            <a:r>
              <a:rPr lang="en" sz="2000" b="0" i="0" u="none" strike="noStrike" cap="none">
                <a:solidFill>
                  <a:srgbClr val="0000FF"/>
                </a:solidFill>
                <a:latin typeface="Lexend"/>
                <a:ea typeface="Lexend"/>
                <a:cs typeface="Lexend"/>
                <a:sym typeface="Lexend"/>
              </a:rPr>
              <a:t>A</a:t>
            </a:r>
            <a:endParaRPr sz="2000" b="0" i="0" u="none" strike="noStrike" cap="none">
              <a:solidFill>
                <a:srgbClr val="0000FF"/>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 X ⊕ </a:t>
            </a:r>
            <a:r>
              <a:rPr lang="en" sz="2000" b="0" i="0" u="none" strike="noStrike" cap="none">
                <a:solidFill>
                  <a:srgbClr val="0000FF"/>
                </a:solidFill>
                <a:latin typeface="Lexend"/>
                <a:ea typeface="Lexend"/>
                <a:cs typeface="Lexend"/>
                <a:sym typeface="Lexend"/>
              </a:rPr>
              <a:t>Y ⊕ Z</a:t>
            </a:r>
            <a:endParaRPr sz="2000" b="0" i="0" u="none" strike="noStrike" cap="none">
              <a:solidFill>
                <a:srgbClr val="0000FF"/>
              </a:solidFill>
              <a:latin typeface="Lexend"/>
              <a:ea typeface="Lexend"/>
              <a:cs typeface="Lexend"/>
              <a:sym typeface="Lexend"/>
            </a:endParaRPr>
          </a:p>
        </p:txBody>
      </p:sp>
      <p:grpSp>
        <p:nvGrpSpPr>
          <p:cNvPr id="165" name="Google Shape;165;p7"/>
          <p:cNvGrpSpPr/>
          <p:nvPr/>
        </p:nvGrpSpPr>
        <p:grpSpPr>
          <a:xfrm>
            <a:off x="50480" y="122879"/>
            <a:ext cx="277873" cy="68400"/>
            <a:chOff x="411700" y="2416840"/>
            <a:chExt cx="277873" cy="68400"/>
          </a:xfrm>
        </p:grpSpPr>
        <p:sp>
          <p:nvSpPr>
            <p:cNvPr id="166" name="Google Shape;166;p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9" name="Google Shape;169;p7"/>
          <p:cNvSpPr txBox="1"/>
          <p:nvPr/>
        </p:nvSpPr>
        <p:spPr>
          <a:xfrm>
            <a:off x="209775" y="163775"/>
            <a:ext cx="735401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Full Adder</a:t>
            </a:r>
            <a:endParaRPr sz="3600" b="0" i="0" u="none" strike="noStrike" cap="none">
              <a:solidFill>
                <a:schemeClr val="dk1"/>
              </a:solidFill>
              <a:latin typeface="Lexend"/>
              <a:ea typeface="Lexend"/>
              <a:cs typeface="Lexend"/>
              <a:sym typeface="Lexend"/>
            </a:endParaRPr>
          </a:p>
        </p:txBody>
      </p:sp>
      <p:sp>
        <p:nvSpPr>
          <p:cNvPr id="170" name="Google Shape;170;p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8</a:t>
            </a:fld>
            <a:endParaRPr sz="1000" b="0" i="0" u="none" strike="noStrike" cap="none">
              <a:solidFill>
                <a:srgbClr val="595959"/>
              </a:solidFill>
              <a:latin typeface="Arial"/>
              <a:ea typeface="Arial"/>
              <a:cs typeface="Arial"/>
              <a:sym typeface="Arial"/>
            </a:endParaRPr>
          </a:p>
        </p:txBody>
      </p:sp>
      <p:sp>
        <p:nvSpPr>
          <p:cNvPr id="177" name="Google Shape;177;p8"/>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Circuit</a:t>
            </a:r>
            <a:endParaRPr sz="2000" b="0" i="0" u="none" strike="noStrike" cap="none">
              <a:solidFill>
                <a:srgbClr val="0000FF"/>
              </a:solidFill>
              <a:latin typeface="Lexend"/>
              <a:ea typeface="Lexend"/>
              <a:cs typeface="Lexend"/>
              <a:sym typeface="Lexend"/>
            </a:endParaRPr>
          </a:p>
        </p:txBody>
      </p:sp>
      <p:grpSp>
        <p:nvGrpSpPr>
          <p:cNvPr id="178" name="Google Shape;178;p8"/>
          <p:cNvGrpSpPr/>
          <p:nvPr/>
        </p:nvGrpSpPr>
        <p:grpSpPr>
          <a:xfrm>
            <a:off x="50480" y="122879"/>
            <a:ext cx="277873" cy="68400"/>
            <a:chOff x="411700" y="2416840"/>
            <a:chExt cx="277873" cy="68400"/>
          </a:xfrm>
        </p:grpSpPr>
        <p:sp>
          <p:nvSpPr>
            <p:cNvPr id="179" name="Google Shape;179;p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2" name="Google Shape;182;p8"/>
          <p:cNvSpPr txBox="1"/>
          <p:nvPr/>
        </p:nvSpPr>
        <p:spPr>
          <a:xfrm>
            <a:off x="209775" y="163775"/>
            <a:ext cx="7678449"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Full Adder</a:t>
            </a:r>
            <a:endParaRPr sz="3600" b="0" i="0" u="none" strike="noStrike" cap="none">
              <a:solidFill>
                <a:schemeClr val="dk1"/>
              </a:solidFill>
              <a:latin typeface="Lexend"/>
              <a:ea typeface="Lexend"/>
              <a:cs typeface="Lexend"/>
              <a:sym typeface="Lexend"/>
            </a:endParaRPr>
          </a:p>
        </p:txBody>
      </p:sp>
      <p:sp>
        <p:nvSpPr>
          <p:cNvPr id="183" name="Google Shape;183;p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pic>
        <p:nvPicPr>
          <p:cNvPr id="184" name="Google Shape;184;p8"/>
          <p:cNvPicPr preferRelativeResize="0"/>
          <p:nvPr/>
        </p:nvPicPr>
        <p:blipFill rotWithShape="1">
          <a:blip r:embed="rId3">
            <a:alphaModFix/>
          </a:blip>
          <a:srcRect/>
          <a:stretch/>
        </p:blipFill>
        <p:spPr>
          <a:xfrm>
            <a:off x="0" y="1317509"/>
            <a:ext cx="9144000" cy="32876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9</a:t>
            </a:fld>
            <a:endParaRPr sz="1000" b="0" i="0" u="none" strike="noStrike" cap="none">
              <a:solidFill>
                <a:srgbClr val="595959"/>
              </a:solidFill>
              <a:latin typeface="Arial"/>
              <a:ea typeface="Arial"/>
              <a:cs typeface="Arial"/>
              <a:sym typeface="Arial"/>
            </a:endParaRPr>
          </a:p>
        </p:txBody>
      </p:sp>
      <p:sp>
        <p:nvSpPr>
          <p:cNvPr id="191" name="Google Shape;191;p9"/>
          <p:cNvSpPr txBox="1"/>
          <p:nvPr/>
        </p:nvSpPr>
        <p:spPr>
          <a:xfrm>
            <a:off x="328350" y="430468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rgbClr val="0000FF"/>
                </a:solidFill>
                <a:latin typeface="Lexend"/>
                <a:ea typeface="Lexend"/>
                <a:cs typeface="Lexend"/>
                <a:sym typeface="Lexend"/>
              </a:rPr>
              <a:t>Full Adder made from two Half-Adders (+ OR gate).</a:t>
            </a:r>
            <a:endParaRPr sz="2000" b="0" i="0" u="none" strike="noStrike" cap="none">
              <a:solidFill>
                <a:srgbClr val="0000FF"/>
              </a:solidFill>
              <a:latin typeface="Lexend"/>
              <a:ea typeface="Lexend"/>
              <a:cs typeface="Lexend"/>
              <a:sym typeface="Lexend"/>
            </a:endParaRPr>
          </a:p>
        </p:txBody>
      </p:sp>
      <p:grpSp>
        <p:nvGrpSpPr>
          <p:cNvPr id="192" name="Google Shape;192;p9"/>
          <p:cNvGrpSpPr/>
          <p:nvPr/>
        </p:nvGrpSpPr>
        <p:grpSpPr>
          <a:xfrm>
            <a:off x="50480" y="122879"/>
            <a:ext cx="277873" cy="68400"/>
            <a:chOff x="411700" y="2416840"/>
            <a:chExt cx="277873" cy="68400"/>
          </a:xfrm>
        </p:grpSpPr>
        <p:sp>
          <p:nvSpPr>
            <p:cNvPr id="193" name="Google Shape;193;p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6" name="Google Shape;196;p9"/>
          <p:cNvSpPr txBox="1"/>
          <p:nvPr/>
        </p:nvSpPr>
        <p:spPr>
          <a:xfrm>
            <a:off x="209775" y="163775"/>
            <a:ext cx="797105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Why It Is Called Full Adder?</a:t>
            </a:r>
            <a:endParaRPr sz="3600" b="0" i="0" u="none" strike="noStrike" cap="none">
              <a:solidFill>
                <a:schemeClr val="dk1"/>
              </a:solidFill>
              <a:latin typeface="Lexend"/>
              <a:ea typeface="Lexend"/>
              <a:cs typeface="Lexend"/>
              <a:sym typeface="Lexend"/>
            </a:endParaRPr>
          </a:p>
        </p:txBody>
      </p:sp>
      <p:sp>
        <p:nvSpPr>
          <p:cNvPr id="197" name="Google Shape;197;p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pic>
        <p:nvPicPr>
          <p:cNvPr id="198" name="Google Shape;198;p9"/>
          <p:cNvPicPr preferRelativeResize="0"/>
          <p:nvPr/>
        </p:nvPicPr>
        <p:blipFill rotWithShape="1">
          <a:blip r:embed="rId3">
            <a:alphaModFix/>
          </a:blip>
          <a:srcRect/>
          <a:stretch/>
        </p:blipFill>
        <p:spPr>
          <a:xfrm>
            <a:off x="0" y="959859"/>
            <a:ext cx="9144000" cy="3287657"/>
          </a:xfrm>
          <a:prstGeom prst="rect">
            <a:avLst/>
          </a:prstGeom>
          <a:noFill/>
          <a:ln>
            <a:noFill/>
          </a:ln>
        </p:spPr>
      </p:pic>
      <p:sp>
        <p:nvSpPr>
          <p:cNvPr id="199" name="Google Shape;199;p9"/>
          <p:cNvSpPr txBox="1"/>
          <p:nvPr/>
        </p:nvSpPr>
        <p:spPr>
          <a:xfrm>
            <a:off x="2579850" y="1100875"/>
            <a:ext cx="1734900" cy="2486100"/>
          </a:xfrm>
          <a:prstGeom prst="rect">
            <a:avLst/>
          </a:prstGeom>
          <a:noFill/>
          <a:ln w="2857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0" name="Google Shape;200;p9"/>
          <p:cNvSpPr txBox="1"/>
          <p:nvPr/>
        </p:nvSpPr>
        <p:spPr>
          <a:xfrm>
            <a:off x="4896450" y="1100875"/>
            <a:ext cx="1734900" cy="2486100"/>
          </a:xfrm>
          <a:prstGeom prst="rect">
            <a:avLst/>
          </a:prstGeom>
          <a:noFill/>
          <a:ln w="2857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201" name="Google Shape;201;p9"/>
          <p:cNvCxnSpPr>
            <a:stCxn id="191" idx="0"/>
            <a:endCxn id="199" idx="2"/>
          </p:cNvCxnSpPr>
          <p:nvPr/>
        </p:nvCxnSpPr>
        <p:spPr>
          <a:xfrm rot="10800000">
            <a:off x="3447300" y="3587088"/>
            <a:ext cx="1196400" cy="717600"/>
          </a:xfrm>
          <a:prstGeom prst="straightConnector1">
            <a:avLst/>
          </a:prstGeom>
          <a:noFill/>
          <a:ln w="9525" cap="flat" cmpd="sng">
            <a:solidFill>
              <a:srgbClr val="0000FF"/>
            </a:solidFill>
            <a:prstDash val="solid"/>
            <a:miter lim="800000"/>
            <a:headEnd type="none" w="sm" len="sm"/>
            <a:tailEnd type="triangle" w="med" len="med"/>
          </a:ln>
        </p:spPr>
      </p:cxnSp>
      <p:cxnSp>
        <p:nvCxnSpPr>
          <p:cNvPr id="202" name="Google Shape;202;p9"/>
          <p:cNvCxnSpPr>
            <a:stCxn id="191" idx="0"/>
            <a:endCxn id="200" idx="2"/>
          </p:cNvCxnSpPr>
          <p:nvPr/>
        </p:nvCxnSpPr>
        <p:spPr>
          <a:xfrm rot="10800000" flipH="1">
            <a:off x="4643700" y="3587088"/>
            <a:ext cx="1120200" cy="717600"/>
          </a:xfrm>
          <a:prstGeom prst="straightConnector1">
            <a:avLst/>
          </a:prstGeom>
          <a:noFill/>
          <a:ln w="9525" cap="flat" cmpd="sng">
            <a:solidFill>
              <a:srgbClr val="0000FF"/>
            </a:solidFill>
            <a:prstDash val="solid"/>
            <a:miter lim="800000"/>
            <a:headEnd type="none" w="sm" len="sm"/>
            <a:tailEnd type="triangle" w="med" len="med"/>
          </a:ln>
        </p:spPr>
      </p:cxnSp>
      <p:cxnSp>
        <p:nvCxnSpPr>
          <p:cNvPr id="203" name="Google Shape;203;p9"/>
          <p:cNvCxnSpPr/>
          <p:nvPr/>
        </p:nvCxnSpPr>
        <p:spPr>
          <a:xfrm rot="10800000" flipH="1">
            <a:off x="6206825" y="3768425"/>
            <a:ext cx="1023900" cy="667500"/>
          </a:xfrm>
          <a:prstGeom prst="straightConnector1">
            <a:avLst/>
          </a:prstGeom>
          <a:noFill/>
          <a:ln w="9525" cap="flat" cmpd="sng">
            <a:solidFill>
              <a:srgbClr val="0000FF"/>
            </a:solidFill>
            <a:prstDash val="solid"/>
            <a:miter lim="800000"/>
            <a:headEnd type="none" w="sm" len="sm"/>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1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10</a:t>
            </a:fld>
            <a:endParaRPr sz="1000" b="0" i="0" u="none" strike="noStrike" cap="none">
              <a:solidFill>
                <a:srgbClr val="595959"/>
              </a:solidFill>
              <a:latin typeface="Arial"/>
              <a:ea typeface="Arial"/>
              <a:cs typeface="Arial"/>
              <a:sym typeface="Arial"/>
            </a:endParaRPr>
          </a:p>
        </p:txBody>
      </p:sp>
      <p:grpSp>
        <p:nvGrpSpPr>
          <p:cNvPr id="210" name="Google Shape;210;p10"/>
          <p:cNvGrpSpPr/>
          <p:nvPr/>
        </p:nvGrpSpPr>
        <p:grpSpPr>
          <a:xfrm>
            <a:off x="50480" y="122879"/>
            <a:ext cx="277873" cy="68400"/>
            <a:chOff x="411700" y="2416840"/>
            <a:chExt cx="277873" cy="68400"/>
          </a:xfrm>
        </p:grpSpPr>
        <p:sp>
          <p:nvSpPr>
            <p:cNvPr id="211" name="Google Shape;211;p1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4" name="Google Shape;214;p10"/>
          <p:cNvSpPr txBox="1"/>
          <p:nvPr/>
        </p:nvSpPr>
        <p:spPr>
          <a:xfrm>
            <a:off x="209775" y="163775"/>
            <a:ext cx="764662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15" name="Google Shape;215;p1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216" name="Google Shape;216;p10"/>
          <p:cNvSpPr txBox="1"/>
          <p:nvPr/>
        </p:nvSpPr>
        <p:spPr>
          <a:xfrm>
            <a:off x="328350" y="766838"/>
            <a:ext cx="8630700" cy="1508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Consider a circuit to add two 4-bit numbers together and a carry-in, to produce a 5-bit result:</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grpSp>
        <p:nvGrpSpPr>
          <p:cNvPr id="217" name="Google Shape;217;p10"/>
          <p:cNvGrpSpPr/>
          <p:nvPr/>
        </p:nvGrpSpPr>
        <p:grpSpPr>
          <a:xfrm>
            <a:off x="1933575" y="1550250"/>
            <a:ext cx="5062200" cy="2537600"/>
            <a:chOff x="1392" y="1872"/>
            <a:chExt cx="3324" cy="1692"/>
          </a:xfrm>
        </p:grpSpPr>
        <p:sp>
          <p:nvSpPr>
            <p:cNvPr id="218" name="Google Shape;218;p10"/>
            <p:cNvSpPr txBox="1"/>
            <p:nvPr/>
          </p:nvSpPr>
          <p:spPr>
            <a:xfrm>
              <a:off x="2160" y="2400"/>
              <a:ext cx="21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19" name="Google Shape;219;p10"/>
            <p:cNvSpPr txBox="1"/>
            <p:nvPr/>
          </p:nvSpPr>
          <p:spPr>
            <a:xfrm>
              <a:off x="2496" y="2496"/>
              <a:ext cx="1500" cy="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4-bit</a:t>
              </a:r>
              <a:endParaRPr sz="14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Parallel Adder</a:t>
              </a:r>
              <a:endParaRPr sz="1400" b="0" i="0" u="none" strike="noStrike" cap="none">
                <a:solidFill>
                  <a:srgbClr val="000000"/>
                </a:solidFill>
                <a:latin typeface="Lexend"/>
                <a:ea typeface="Lexend"/>
                <a:cs typeface="Lexend"/>
                <a:sym typeface="Lexend"/>
              </a:endParaRPr>
            </a:p>
          </p:txBody>
        </p:sp>
        <p:sp>
          <p:nvSpPr>
            <p:cNvPr id="220" name="Google Shape;220;p10"/>
            <p:cNvSpPr txBox="1"/>
            <p:nvPr/>
          </p:nvSpPr>
          <p:spPr>
            <a:xfrm>
              <a:off x="1392" y="259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C</a:t>
              </a:r>
              <a:r>
                <a:rPr lang="en" sz="1800" b="1" i="0" u="none" strike="noStrike" cap="none" baseline="-25000">
                  <a:solidFill>
                    <a:srgbClr val="000000"/>
                  </a:solidFill>
                  <a:latin typeface="Lexend"/>
                  <a:ea typeface="Lexend"/>
                  <a:cs typeface="Lexend"/>
                  <a:sym typeface="Lexend"/>
                </a:rPr>
                <a:t>4</a:t>
              </a:r>
              <a:endParaRPr sz="1400" b="0" i="0" u="none" strike="noStrike" cap="none">
                <a:solidFill>
                  <a:srgbClr val="000000"/>
                </a:solidFill>
                <a:latin typeface="Lexend"/>
                <a:ea typeface="Lexend"/>
                <a:cs typeface="Lexend"/>
                <a:sym typeface="Lexend"/>
              </a:endParaRPr>
            </a:p>
          </p:txBody>
        </p:sp>
        <p:cxnSp>
          <p:nvCxnSpPr>
            <p:cNvPr id="221" name="Google Shape;221;p10"/>
            <p:cNvCxnSpPr/>
            <p:nvPr/>
          </p:nvCxnSpPr>
          <p:spPr>
            <a:xfrm rot="10800000">
              <a:off x="1860" y="2736"/>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2" name="Google Shape;222;p10"/>
            <p:cNvCxnSpPr/>
            <p:nvPr/>
          </p:nvCxnSpPr>
          <p:spPr>
            <a:xfrm rot="5400000">
              <a:off x="2586"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3" name="Google Shape;223;p10"/>
            <p:cNvCxnSpPr/>
            <p:nvPr/>
          </p:nvCxnSpPr>
          <p:spPr>
            <a:xfrm rot="10800000">
              <a:off x="4164" y="2736"/>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4" name="Google Shape;224;p10"/>
            <p:cNvCxnSpPr/>
            <p:nvPr/>
          </p:nvCxnSpPr>
          <p:spPr>
            <a:xfrm rot="5400000">
              <a:off x="277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5" name="Google Shape;225;p10"/>
            <p:cNvCxnSpPr/>
            <p:nvPr/>
          </p:nvCxnSpPr>
          <p:spPr>
            <a:xfrm rot="5400000">
              <a:off x="325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6" name="Google Shape;226;p10"/>
            <p:cNvCxnSpPr/>
            <p:nvPr/>
          </p:nvCxnSpPr>
          <p:spPr>
            <a:xfrm rot="5400000">
              <a:off x="3450"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227" name="Google Shape;227;p10"/>
            <p:cNvSpPr txBox="1"/>
            <p:nvPr/>
          </p:nvSpPr>
          <p:spPr>
            <a:xfrm>
              <a:off x="4416" y="2640"/>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C</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sp>
          <p:nvSpPr>
            <p:cNvPr id="228" name="Google Shape;228;p10"/>
            <p:cNvSpPr txBox="1"/>
            <p:nvPr/>
          </p:nvSpPr>
          <p:spPr>
            <a:xfrm>
              <a:off x="2544"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229" name="Google Shape;229;p10"/>
            <p:cNvSpPr txBox="1"/>
            <p:nvPr/>
          </p:nvSpPr>
          <p:spPr>
            <a:xfrm>
              <a:off x="273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sp>
          <p:nvSpPr>
            <p:cNvPr id="230" name="Google Shape;230;p10"/>
            <p:cNvSpPr txBox="1"/>
            <p:nvPr/>
          </p:nvSpPr>
          <p:spPr>
            <a:xfrm>
              <a:off x="321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231" name="Google Shape;231;p10"/>
            <p:cNvSpPr txBox="1"/>
            <p:nvPr/>
          </p:nvSpPr>
          <p:spPr>
            <a:xfrm>
              <a:off x="345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sp>
          <p:nvSpPr>
            <p:cNvPr id="232" name="Google Shape;232;p10"/>
            <p:cNvSpPr txBox="1"/>
            <p:nvPr/>
          </p:nvSpPr>
          <p:spPr>
            <a:xfrm>
              <a:off x="2736"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233" name="Google Shape;233;p10"/>
            <p:cNvSpPr txBox="1"/>
            <p:nvPr/>
          </p:nvSpPr>
          <p:spPr>
            <a:xfrm>
              <a:off x="2928"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sp>
          <p:nvSpPr>
            <p:cNvPr id="234" name="Google Shape;234;p10"/>
            <p:cNvSpPr txBox="1"/>
            <p:nvPr/>
          </p:nvSpPr>
          <p:spPr>
            <a:xfrm>
              <a:off x="3140"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235" name="Google Shape;235;p10"/>
            <p:cNvSpPr txBox="1"/>
            <p:nvPr/>
          </p:nvSpPr>
          <p:spPr>
            <a:xfrm>
              <a:off x="3312"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cxnSp>
          <p:nvCxnSpPr>
            <p:cNvPr id="236" name="Google Shape;236;p10"/>
            <p:cNvCxnSpPr/>
            <p:nvPr/>
          </p:nvCxnSpPr>
          <p:spPr>
            <a:xfrm rot="5400000">
              <a:off x="2730"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37" name="Google Shape;237;p10"/>
            <p:cNvCxnSpPr/>
            <p:nvPr/>
          </p:nvCxnSpPr>
          <p:spPr>
            <a:xfrm rot="5400000">
              <a:off x="2922"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38" name="Google Shape;238;p10"/>
            <p:cNvCxnSpPr/>
            <p:nvPr/>
          </p:nvCxnSpPr>
          <p:spPr>
            <a:xfrm rot="5400000">
              <a:off x="3114"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39" name="Google Shape;239;p10"/>
            <p:cNvCxnSpPr/>
            <p:nvPr/>
          </p:nvCxnSpPr>
          <p:spPr>
            <a:xfrm rot="5400000">
              <a:off x="3306"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40" name="Google Shape;240;p10"/>
            <p:cNvCxnSpPr/>
            <p:nvPr/>
          </p:nvCxnSpPr>
          <p:spPr>
            <a:xfrm rot="5400000">
              <a:off x="364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41" name="Google Shape;241;p10"/>
            <p:cNvCxnSpPr/>
            <p:nvPr/>
          </p:nvCxnSpPr>
          <p:spPr>
            <a:xfrm rot="5400000">
              <a:off x="383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242" name="Google Shape;242;p10"/>
            <p:cNvSpPr txBox="1"/>
            <p:nvPr/>
          </p:nvSpPr>
          <p:spPr>
            <a:xfrm>
              <a:off x="3648"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243" name="Google Shape;243;p10"/>
            <p:cNvSpPr txBox="1"/>
            <p:nvPr/>
          </p:nvSpPr>
          <p:spPr>
            <a:xfrm>
              <a:off x="384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cxnSp>
          <p:nvCxnSpPr>
            <p:cNvPr id="244" name="Google Shape;244;p10"/>
            <p:cNvCxnSpPr/>
            <p:nvPr/>
          </p:nvCxnSpPr>
          <p:spPr>
            <a:xfrm rot="5400000">
              <a:off x="220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45" name="Google Shape;245;p10"/>
            <p:cNvCxnSpPr/>
            <p:nvPr/>
          </p:nvCxnSpPr>
          <p:spPr>
            <a:xfrm rot="5400000">
              <a:off x="239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246" name="Google Shape;246;p10"/>
            <p:cNvSpPr txBox="1"/>
            <p:nvPr/>
          </p:nvSpPr>
          <p:spPr>
            <a:xfrm>
              <a:off x="216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247" name="Google Shape;247;p10"/>
            <p:cNvSpPr txBox="1"/>
            <p:nvPr/>
          </p:nvSpPr>
          <p:spPr>
            <a:xfrm>
              <a:off x="2352"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grpSp>
      <p:sp>
        <p:nvSpPr>
          <p:cNvPr id="248" name="Google Shape;248;p10"/>
          <p:cNvSpPr txBox="1"/>
          <p:nvPr/>
        </p:nvSpPr>
        <p:spPr>
          <a:xfrm>
            <a:off x="328350" y="4114853"/>
            <a:ext cx="8630700" cy="846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5-bit result is sufficient because the largest result is:</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			(1111)</a:t>
            </a:r>
            <a:r>
              <a:rPr lang="en" sz="2000" b="0" i="0" u="none" strike="noStrike" cap="none" baseline="-25000">
                <a:solidFill>
                  <a:schemeClr val="dk1"/>
                </a:solidFill>
                <a:latin typeface="Lexend"/>
                <a:ea typeface="Lexend"/>
                <a:cs typeface="Lexend"/>
                <a:sym typeface="Lexend"/>
              </a:rPr>
              <a:t>2</a:t>
            </a:r>
            <a:r>
              <a:rPr lang="en" sz="2000" b="0" i="0" u="none" strike="noStrike" cap="none">
                <a:solidFill>
                  <a:schemeClr val="dk1"/>
                </a:solidFill>
                <a:latin typeface="Lexend"/>
                <a:ea typeface="Lexend"/>
                <a:cs typeface="Lexend"/>
                <a:sym typeface="Lexend"/>
              </a:rPr>
              <a:t>+(1111)</a:t>
            </a:r>
            <a:r>
              <a:rPr lang="en" sz="2000" b="0" i="0" u="none" strike="noStrike" cap="none" baseline="-25000">
                <a:solidFill>
                  <a:schemeClr val="dk1"/>
                </a:solidFill>
                <a:latin typeface="Lexend"/>
                <a:ea typeface="Lexend"/>
                <a:cs typeface="Lexend"/>
                <a:sym typeface="Lexend"/>
              </a:rPr>
              <a:t>2</a:t>
            </a:r>
            <a:r>
              <a:rPr lang="en" sz="2000" b="0" i="0" u="none" strike="noStrike" cap="none">
                <a:solidFill>
                  <a:schemeClr val="dk1"/>
                </a:solidFill>
                <a:latin typeface="Lexend"/>
                <a:ea typeface="Lexend"/>
                <a:cs typeface="Lexend"/>
                <a:sym typeface="Lexend"/>
              </a:rPr>
              <a:t>+(1)</a:t>
            </a:r>
            <a:r>
              <a:rPr lang="en" sz="2000" b="0" i="0" u="none" strike="noStrike" cap="none" baseline="-25000">
                <a:solidFill>
                  <a:schemeClr val="dk1"/>
                </a:solidFill>
                <a:latin typeface="Lexend"/>
                <a:ea typeface="Lexend"/>
                <a:cs typeface="Lexend"/>
                <a:sym typeface="Lexend"/>
              </a:rPr>
              <a:t>2</a:t>
            </a:r>
            <a:r>
              <a:rPr lang="en" sz="2000" b="0" i="0" u="none" strike="noStrike" cap="none">
                <a:solidFill>
                  <a:schemeClr val="dk1"/>
                </a:solidFill>
                <a:latin typeface="Lexend"/>
                <a:ea typeface="Lexend"/>
                <a:cs typeface="Lexend"/>
                <a:sym typeface="Lexend"/>
              </a:rPr>
              <a:t> = (11111)</a:t>
            </a:r>
            <a:r>
              <a:rPr lang="en" sz="2000" b="0" i="0" u="none" strike="noStrike" cap="none" baseline="-25000">
                <a:solidFill>
                  <a:schemeClr val="dk1"/>
                </a:solidFill>
                <a:latin typeface="Lexend"/>
                <a:ea typeface="Lexend"/>
                <a:cs typeface="Lexend"/>
                <a:sym typeface="Lexend"/>
              </a:rPr>
              <a:t>2</a:t>
            </a:r>
            <a:endParaRPr sz="2000" b="0" i="0" u="none" strike="noStrike" cap="none" baseline="-25000">
              <a:solidFill>
                <a:schemeClr val="dk1"/>
              </a:solidFill>
              <a:latin typeface="Lexend"/>
              <a:ea typeface="Lexend"/>
              <a:cs typeface="Lexend"/>
              <a:sym typeface="Lexend"/>
            </a:endParaRPr>
          </a:p>
        </p:txBody>
      </p:sp>
      <p:sp>
        <p:nvSpPr>
          <p:cNvPr id="249" name="Google Shape;249;p10"/>
          <p:cNvSpPr/>
          <p:nvPr/>
        </p:nvSpPr>
        <p:spPr>
          <a:xfrm>
            <a:off x="6569500" y="3346675"/>
            <a:ext cx="2574508" cy="1227430"/>
          </a:xfrm>
          <a:custGeom>
            <a:avLst/>
            <a:gdLst/>
            <a:ahLst/>
            <a:cxnLst/>
            <a:rect l="l" t="t" r="r" b="b"/>
            <a:pathLst>
              <a:path w="1775523" h="949656" extrusionOk="0">
                <a:moveTo>
                  <a:pt x="1439418" y="0"/>
                </a:moveTo>
                <a:lnTo>
                  <a:pt x="336232" y="0"/>
                </a:lnTo>
                <a:cubicBezTo>
                  <a:pt x="151320" y="0"/>
                  <a:pt x="0" y="151321"/>
                  <a:pt x="0" y="336233"/>
                </a:cubicBezTo>
                <a:lnTo>
                  <a:pt x="0" y="336233"/>
                </a:lnTo>
                <a:cubicBezTo>
                  <a:pt x="0" y="521145"/>
                  <a:pt x="151320" y="672465"/>
                  <a:pt x="336232" y="672465"/>
                </a:cubicBezTo>
                <a:lnTo>
                  <a:pt x="1208912" y="672465"/>
                </a:lnTo>
                <a:cubicBezTo>
                  <a:pt x="1243330" y="724091"/>
                  <a:pt x="1406017" y="956183"/>
                  <a:pt x="1544827" y="949516"/>
                </a:cubicBezTo>
                <a:lnTo>
                  <a:pt x="1545018" y="949516"/>
                </a:lnTo>
                <a:cubicBezTo>
                  <a:pt x="1551939" y="949516"/>
                  <a:pt x="1555750" y="941515"/>
                  <a:pt x="1551305" y="936181"/>
                </a:cubicBezTo>
                <a:cubicBezTo>
                  <a:pt x="1540700" y="923481"/>
                  <a:pt x="1529143" y="904431"/>
                  <a:pt x="1523364" y="893763"/>
                </a:cubicBezTo>
                <a:cubicBezTo>
                  <a:pt x="1516825" y="881761"/>
                  <a:pt x="1463992" y="766191"/>
                  <a:pt x="1473073" y="670751"/>
                </a:cubicBezTo>
                <a:cubicBezTo>
                  <a:pt x="1642300" y="653669"/>
                  <a:pt x="1775523" y="509778"/>
                  <a:pt x="1775523" y="336233"/>
                </a:cubicBezTo>
                <a:lnTo>
                  <a:pt x="1775523" y="336233"/>
                </a:lnTo>
                <a:cubicBezTo>
                  <a:pt x="1775523" y="151321"/>
                  <a:pt x="1624202" y="0"/>
                  <a:pt x="1439291" y="0"/>
                </a:cubicBezTo>
                <a:close/>
              </a:path>
            </a:pathLst>
          </a:custGeom>
          <a:solidFill>
            <a:srgbClr val="119B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0" i="0" u="none" strike="noStrike" cap="none">
                <a:solidFill>
                  <a:srgbClr val="FFFFFF"/>
                </a:solidFill>
                <a:latin typeface="Lexend"/>
                <a:ea typeface="Lexend"/>
                <a:cs typeface="Lexend"/>
                <a:sym typeface="Lexend"/>
              </a:rPr>
              <a:t>Black-box view of 4-bit parallel adder</a:t>
            </a:r>
            <a:endParaRPr sz="1900" b="0" i="0" u="none" strike="noStrike" cap="none">
              <a:solidFill>
                <a:srgbClr val="FFFFFF"/>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100"/>
              <a:buFont typeface="Arial"/>
              <a:buNone/>
            </a:pPr>
            <a:endParaRPr sz="2000" b="0" i="0" u="none" strike="noStrike" cap="none">
              <a:solidFill>
                <a:srgbClr val="FFFFF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11</a:t>
            </a:fld>
            <a:endParaRPr sz="1000" b="0" i="0" u="none" strike="noStrike" cap="none">
              <a:solidFill>
                <a:srgbClr val="595959"/>
              </a:solidFill>
              <a:latin typeface="Arial"/>
              <a:ea typeface="Arial"/>
              <a:cs typeface="Arial"/>
              <a:sym typeface="Arial"/>
            </a:endParaRPr>
          </a:p>
        </p:txBody>
      </p:sp>
      <p:grpSp>
        <p:nvGrpSpPr>
          <p:cNvPr id="256" name="Google Shape;256;p11"/>
          <p:cNvGrpSpPr/>
          <p:nvPr/>
        </p:nvGrpSpPr>
        <p:grpSpPr>
          <a:xfrm>
            <a:off x="50480" y="122879"/>
            <a:ext cx="277873" cy="68400"/>
            <a:chOff x="411700" y="2416840"/>
            <a:chExt cx="277873" cy="68400"/>
          </a:xfrm>
        </p:grpSpPr>
        <p:sp>
          <p:nvSpPr>
            <p:cNvPr id="257" name="Google Shape;257;p1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1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0" name="Google Shape;260;p11"/>
          <p:cNvSpPr txBox="1"/>
          <p:nvPr/>
        </p:nvSpPr>
        <p:spPr>
          <a:xfrm>
            <a:off x="209775" y="163775"/>
            <a:ext cx="7373649"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61" name="Google Shape;261;p1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262" name="Google Shape;262;p11"/>
          <p:cNvSpPr txBox="1"/>
          <p:nvPr/>
        </p:nvSpPr>
        <p:spPr>
          <a:xfrm>
            <a:off x="328350" y="766838"/>
            <a:ext cx="8630700" cy="846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SSI design technique should not be used.</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Truth table for 9 inputs very big, i.e. 29=512 entries:</a:t>
            </a:r>
            <a:endParaRPr sz="2000" b="0" i="0" u="none" strike="noStrike" cap="none">
              <a:solidFill>
                <a:schemeClr val="dk1"/>
              </a:solidFill>
              <a:latin typeface="Lexend"/>
              <a:ea typeface="Lexend"/>
              <a:cs typeface="Lexend"/>
              <a:sym typeface="Lexend"/>
            </a:endParaRPr>
          </a:p>
        </p:txBody>
      </p:sp>
      <p:graphicFrame>
        <p:nvGraphicFramePr>
          <p:cNvPr id="263" name="Google Shape;263;p11"/>
          <p:cNvGraphicFramePr/>
          <p:nvPr/>
        </p:nvGraphicFramePr>
        <p:xfrm>
          <a:off x="1360750" y="1599188"/>
          <a:ext cx="6422500" cy="2206450"/>
        </p:xfrm>
        <a:graphic>
          <a:graphicData uri="http://schemas.openxmlformats.org/drawingml/2006/table">
            <a:tbl>
              <a:tblPr>
                <a:noFill/>
                <a:tableStyleId>{B8399E05-102B-49B8-B008-7C1F9EC2AC45}</a:tableStyleId>
              </a:tblPr>
              <a:tblGrid>
                <a:gridCol w="1284500">
                  <a:extLst>
                    <a:ext uri="{9D8B030D-6E8A-4147-A177-3AD203B41FA5}">
                      <a16:colId xmlns:a16="http://schemas.microsoft.com/office/drawing/2014/main" val="20000"/>
                    </a:ext>
                  </a:extLst>
                </a:gridCol>
                <a:gridCol w="1284500">
                  <a:extLst>
                    <a:ext uri="{9D8B030D-6E8A-4147-A177-3AD203B41FA5}">
                      <a16:colId xmlns:a16="http://schemas.microsoft.com/office/drawing/2014/main" val="20001"/>
                    </a:ext>
                  </a:extLst>
                </a:gridCol>
                <a:gridCol w="1284500">
                  <a:extLst>
                    <a:ext uri="{9D8B030D-6E8A-4147-A177-3AD203B41FA5}">
                      <a16:colId xmlns:a16="http://schemas.microsoft.com/office/drawing/2014/main" val="20002"/>
                    </a:ext>
                  </a:extLst>
                </a:gridCol>
                <a:gridCol w="1284500">
                  <a:extLst>
                    <a:ext uri="{9D8B030D-6E8A-4147-A177-3AD203B41FA5}">
                      <a16:colId xmlns:a16="http://schemas.microsoft.com/office/drawing/2014/main" val="20003"/>
                    </a:ext>
                  </a:extLst>
                </a:gridCol>
                <a:gridCol w="1284500">
                  <a:extLst>
                    <a:ext uri="{9D8B030D-6E8A-4147-A177-3AD203B41FA5}">
                      <a16:colId xmlns:a16="http://schemas.microsoft.com/office/drawing/2014/main" val="20004"/>
                    </a:ext>
                  </a:extLst>
                </a:gridCol>
              </a:tblGrid>
              <a:tr h="271250">
                <a:tc>
                  <a:txBody>
                    <a:bodyPr/>
                    <a:lstStyle/>
                    <a:p>
                      <a:pPr marL="0" marR="0" lvl="0" indent="0" algn="ctr" rtl="0">
                        <a:lnSpc>
                          <a:spcPct val="100000"/>
                        </a:lnSpc>
                        <a:spcBef>
                          <a:spcPts val="0"/>
                        </a:spcBef>
                        <a:spcAft>
                          <a:spcPts val="0"/>
                        </a:spcAft>
                        <a:buClr>
                          <a:srgbClr val="000000"/>
                        </a:buClr>
                        <a:buSzPts val="1500"/>
                        <a:buFont typeface="Arial"/>
                        <a:buNone/>
                      </a:pPr>
                      <a:r>
                        <a:rPr lang="en" sz="1500" u="none" strike="noStrike" cap="none">
                          <a:latin typeface="Lexend Medium"/>
                          <a:ea typeface="Lexend Medium"/>
                          <a:cs typeface="Lexend Medium"/>
                          <a:sym typeface="Lexend Medium"/>
                        </a:rPr>
                        <a:t>X</a:t>
                      </a:r>
                      <a:r>
                        <a:rPr lang="en" sz="1500" u="none" strike="noStrike" cap="none" baseline="-25000">
                          <a:latin typeface="Lexend Medium"/>
                          <a:ea typeface="Lexend Medium"/>
                          <a:cs typeface="Lexend Medium"/>
                          <a:sym typeface="Lexend Medium"/>
                        </a:rPr>
                        <a:t>3</a:t>
                      </a:r>
                      <a:r>
                        <a:rPr lang="en" sz="1500" u="none" strike="noStrike" cap="none">
                          <a:latin typeface="Lexend Medium"/>
                          <a:ea typeface="Lexend Medium"/>
                          <a:cs typeface="Lexend Medium"/>
                          <a:sym typeface="Lexend Medium"/>
                        </a:rPr>
                        <a:t>X</a:t>
                      </a:r>
                      <a:r>
                        <a:rPr lang="en" sz="1500" u="none" strike="noStrike" cap="none" baseline="-25000">
                          <a:latin typeface="Lexend Medium"/>
                          <a:ea typeface="Lexend Medium"/>
                          <a:cs typeface="Lexend Medium"/>
                          <a:sym typeface="Lexend Medium"/>
                        </a:rPr>
                        <a:t>2</a:t>
                      </a:r>
                      <a:r>
                        <a:rPr lang="en" sz="1500" u="none" strike="noStrike" cap="none">
                          <a:solidFill>
                            <a:schemeClr val="dk1"/>
                          </a:solidFill>
                          <a:latin typeface="Lexend Medium"/>
                          <a:ea typeface="Lexend Medium"/>
                          <a:cs typeface="Lexend Medium"/>
                          <a:sym typeface="Lexend Medium"/>
                        </a:rPr>
                        <a:t>X</a:t>
                      </a:r>
                      <a:r>
                        <a:rPr lang="en" sz="1500" u="none" strike="noStrike" cap="none" baseline="-25000">
                          <a:solidFill>
                            <a:schemeClr val="dk1"/>
                          </a:solidFill>
                          <a:latin typeface="Lexend Medium"/>
                          <a:ea typeface="Lexend Medium"/>
                          <a:cs typeface="Lexend Medium"/>
                          <a:sym typeface="Lexend Medium"/>
                        </a:rPr>
                        <a:t>1</a:t>
                      </a:r>
                      <a:r>
                        <a:rPr lang="en" sz="1500" u="none" strike="noStrike" cap="none">
                          <a:solidFill>
                            <a:schemeClr val="dk1"/>
                          </a:solidFill>
                          <a:latin typeface="Lexend Medium"/>
                          <a:ea typeface="Lexend Medium"/>
                          <a:cs typeface="Lexend Medium"/>
                          <a:sym typeface="Lexend Medium"/>
                        </a:rPr>
                        <a:t>X</a:t>
                      </a:r>
                      <a:r>
                        <a:rPr lang="en" sz="1500" u="none" strike="noStrike" cap="none" baseline="-25000">
                          <a:solidFill>
                            <a:schemeClr val="dk1"/>
                          </a:solidFill>
                          <a:latin typeface="Lexend Medium"/>
                          <a:ea typeface="Lexend Medium"/>
                          <a:cs typeface="Lexend Medium"/>
                          <a:sym typeface="Lexend Medium"/>
                        </a:rPr>
                        <a:t>0</a:t>
                      </a:r>
                      <a:endParaRPr sz="1500" u="none" strike="noStrike" cap="none" baseline="-250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3</a:t>
                      </a: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2</a:t>
                      </a: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1</a:t>
                      </a: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500" u="none" strike="noStrike" cap="none">
                          <a:solidFill>
                            <a:schemeClr val="dk1"/>
                          </a:solidFill>
                          <a:latin typeface="Lexend Medium"/>
                          <a:ea typeface="Lexend Medium"/>
                          <a:cs typeface="Lexend Medium"/>
                          <a:sym typeface="Lexend Medium"/>
                        </a:rPr>
                        <a:t>C</a:t>
                      </a:r>
                      <a:r>
                        <a:rPr lang="en" sz="1500" u="none" strike="noStrike" cap="none" baseline="-25000">
                          <a:solidFill>
                            <a:schemeClr val="dk1"/>
                          </a:solidFill>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500" u="none" strike="noStrike" cap="none">
                          <a:solidFill>
                            <a:schemeClr val="dk1"/>
                          </a:solidFill>
                          <a:latin typeface="Lexend Medium"/>
                          <a:ea typeface="Lexend Medium"/>
                          <a:cs typeface="Lexend Medium"/>
                          <a:sym typeface="Lexend Medium"/>
                        </a:rPr>
                        <a:t>C</a:t>
                      </a:r>
                      <a:r>
                        <a:rPr lang="en" sz="1500" u="none" strike="noStrike" cap="none" baseline="-25000">
                          <a:solidFill>
                            <a:schemeClr val="dk1"/>
                          </a:solidFill>
                          <a:latin typeface="Lexend Medium"/>
                          <a:ea typeface="Lexend Medium"/>
                          <a:cs typeface="Lexend Medium"/>
                          <a:sym typeface="Lexend Medium"/>
                        </a:rPr>
                        <a:t>4</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3</a:t>
                      </a: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2</a:t>
                      </a: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1</a:t>
                      </a: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12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0 0 0 0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Clr>
                          <a:schemeClr val="dk1"/>
                        </a:buClr>
                        <a:buSzPts val="1100"/>
                        <a:buFont typeface="Arial"/>
                        <a:buNone/>
                      </a:pPr>
                      <a:r>
                        <a:rPr lang="en" sz="1200" u="none" strike="noStrike" cap="none">
                          <a:solidFill>
                            <a:schemeClr val="dk1"/>
                          </a:solidFill>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6175">
                <a:tc>
                  <a:txBody>
                    <a:bodyPr/>
                    <a:lstStyle/>
                    <a:p>
                      <a:pPr marL="0" marR="0" lvl="0" indent="0" algn="ctr" rtl="0">
                        <a:lnSpc>
                          <a:spcPct val="100000"/>
                        </a:lnSpc>
                        <a:spcBef>
                          <a:spcPts val="0"/>
                        </a:spcBef>
                        <a:spcAft>
                          <a:spcPts val="0"/>
                        </a:spcAft>
                        <a:buClr>
                          <a:schemeClr val="dk1"/>
                        </a:buClr>
                        <a:buSzPts val="1100"/>
                        <a:buFont typeface="Arial"/>
                        <a:buNone/>
                      </a:pPr>
                      <a:r>
                        <a:rPr lang="en" sz="1200" u="none" strike="noStrike" cap="none">
                          <a:solidFill>
                            <a:schemeClr val="dk1"/>
                          </a:solidFill>
                          <a:latin typeface="Lexend Medium"/>
                          <a:ea typeface="Lexend Medium"/>
                          <a:cs typeface="Lexend Medium"/>
                          <a:sym typeface="Lexend Medium"/>
                        </a:rPr>
                        <a:t>0 1 0 1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71250">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264" name="Google Shape;264;p11"/>
          <p:cNvSpPr txBox="1"/>
          <p:nvPr/>
        </p:nvSpPr>
        <p:spPr>
          <a:xfrm>
            <a:off x="328350" y="4152288"/>
            <a:ext cx="8630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Simplification very complicated as no. of input is 9 so 512(=2</a:t>
            </a:r>
            <a:r>
              <a:rPr lang="en" sz="2000" b="0" i="0" u="none" strike="noStrike" cap="none" baseline="30000">
                <a:solidFill>
                  <a:schemeClr val="dk1"/>
                </a:solidFill>
                <a:latin typeface="Lexend"/>
                <a:ea typeface="Lexend"/>
                <a:cs typeface="Lexend"/>
                <a:sym typeface="Lexend"/>
              </a:rPr>
              <a:t>9</a:t>
            </a:r>
            <a:r>
              <a:rPr lang="en" sz="2000" b="0" i="0" u="none" strike="noStrike" cap="none">
                <a:solidFill>
                  <a:schemeClr val="dk1"/>
                </a:solidFill>
                <a:latin typeface="Lexend"/>
                <a:ea typeface="Lexend"/>
                <a:cs typeface="Lexend"/>
                <a:sym typeface="Lexend"/>
              </a:rPr>
              <a:t>) possible combination will be there in truth table!</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12</a:t>
            </a:fld>
            <a:endParaRPr sz="1000" b="0" i="0" u="none" strike="noStrike" cap="none">
              <a:solidFill>
                <a:srgbClr val="595959"/>
              </a:solidFill>
              <a:latin typeface="Arial"/>
              <a:ea typeface="Arial"/>
              <a:cs typeface="Arial"/>
              <a:sym typeface="Arial"/>
            </a:endParaRPr>
          </a:p>
        </p:txBody>
      </p:sp>
      <p:grpSp>
        <p:nvGrpSpPr>
          <p:cNvPr id="271" name="Google Shape;271;p12"/>
          <p:cNvGrpSpPr/>
          <p:nvPr/>
        </p:nvGrpSpPr>
        <p:grpSpPr>
          <a:xfrm>
            <a:off x="50480" y="122879"/>
            <a:ext cx="277873" cy="68400"/>
            <a:chOff x="411700" y="2416840"/>
            <a:chExt cx="277873" cy="68400"/>
          </a:xfrm>
        </p:grpSpPr>
        <p:sp>
          <p:nvSpPr>
            <p:cNvPr id="272" name="Google Shape;272;p1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5" name="Google Shape;275;p12"/>
          <p:cNvSpPr txBox="1"/>
          <p:nvPr/>
        </p:nvSpPr>
        <p:spPr>
          <a:xfrm>
            <a:off x="209775" y="163775"/>
            <a:ext cx="734182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76" name="Google Shape;276;p1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277" name="Google Shape;277;p12"/>
          <p:cNvSpPr txBox="1"/>
          <p:nvPr/>
        </p:nvSpPr>
        <p:spPr>
          <a:xfrm>
            <a:off x="328350" y="766838"/>
            <a:ext cx="8630700" cy="2661900"/>
          </a:xfrm>
          <a:prstGeom prst="rect">
            <a:avLst/>
          </a:prstGeom>
          <a:noFill/>
          <a:ln>
            <a:noFill/>
          </a:ln>
        </p:spPr>
        <p:txBody>
          <a:bodyPr spcFirstLastPara="1" wrap="square" lIns="91425" tIns="91425" rIns="91425" bIns="91425" anchor="t" anchorCtr="0">
            <a:spAutoFit/>
          </a:bodyPr>
          <a:lstStyle/>
          <a:p>
            <a:pPr marL="342900" marR="0" lvl="0" indent="-312420" algn="l" rtl="0">
              <a:lnSpc>
                <a:spcPct val="90000"/>
              </a:lnSpc>
              <a:spcBef>
                <a:spcPts val="0"/>
              </a:spcBef>
              <a:spcAft>
                <a:spcPts val="0"/>
              </a:spcAft>
              <a:buClr>
                <a:schemeClr val="dk1"/>
              </a:buClr>
              <a:buSzPts val="2400"/>
              <a:buFont typeface="Lexend"/>
              <a:buChar char="▪"/>
            </a:pPr>
            <a:r>
              <a:rPr lang="en" sz="2400" b="0" i="0" u="none" strike="noStrike" cap="none">
                <a:solidFill>
                  <a:schemeClr val="dk1"/>
                </a:solidFill>
                <a:latin typeface="Lexend"/>
                <a:ea typeface="Lexend"/>
                <a:cs typeface="Lexend"/>
                <a:sym typeface="Lexend"/>
              </a:rPr>
              <a:t>Alternative design possible.</a:t>
            </a:r>
            <a:endParaRPr sz="2400" b="0" i="0" u="none" strike="noStrike" cap="none">
              <a:solidFill>
                <a:schemeClr val="dk1"/>
              </a:solidFill>
              <a:latin typeface="Lexend"/>
              <a:ea typeface="Lexend"/>
              <a:cs typeface="Lexend"/>
              <a:sym typeface="Lexend"/>
            </a:endParaRPr>
          </a:p>
          <a:p>
            <a:pPr marL="342900" marR="0" lvl="0" indent="-312420" algn="l" rtl="0">
              <a:lnSpc>
                <a:spcPct val="90000"/>
              </a:lnSpc>
              <a:spcBef>
                <a:spcPts val="1200"/>
              </a:spcBef>
              <a:spcAft>
                <a:spcPts val="0"/>
              </a:spcAft>
              <a:buClr>
                <a:schemeClr val="dk1"/>
              </a:buClr>
              <a:buSzPts val="2400"/>
              <a:buFont typeface="Lexend"/>
              <a:buChar char="▪"/>
            </a:pPr>
            <a:r>
              <a:rPr lang="en" sz="2400" b="0" i="0" u="none" strike="noStrike" cap="none">
                <a:solidFill>
                  <a:schemeClr val="dk1"/>
                </a:solidFill>
                <a:latin typeface="Lexend"/>
                <a:ea typeface="Lexend"/>
                <a:cs typeface="Lexend"/>
                <a:sym typeface="Lexend"/>
              </a:rPr>
              <a:t>Addition formula for each pair of bits (with carry in),</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480"/>
              </a:spcBef>
              <a:spcAft>
                <a:spcPts val="0"/>
              </a:spcAft>
              <a:buClr>
                <a:schemeClr val="dk1"/>
              </a:buClr>
              <a:buSzPts val="2400"/>
              <a:buFont typeface="Times New Roman"/>
              <a:buNone/>
            </a:pPr>
            <a:r>
              <a:rPr lang="en" sz="2400" b="0" i="0" u="none" strike="noStrike" cap="none">
                <a:solidFill>
                  <a:schemeClr val="dk1"/>
                </a:solidFill>
                <a:latin typeface="Lexend"/>
                <a:ea typeface="Lexend"/>
                <a:cs typeface="Lexend"/>
                <a:sym typeface="Lexend"/>
              </a:rPr>
              <a:t>			C</a:t>
            </a:r>
            <a:r>
              <a:rPr lang="en" sz="2400" b="0" i="0" u="none" strike="noStrike" cap="none" baseline="-25000">
                <a:solidFill>
                  <a:schemeClr val="dk1"/>
                </a:solidFill>
                <a:latin typeface="Lexend"/>
                <a:ea typeface="Lexend"/>
                <a:cs typeface="Lexend"/>
                <a:sym typeface="Lexend"/>
              </a:rPr>
              <a:t>i+1</a:t>
            </a:r>
            <a:r>
              <a:rPr lang="en" sz="2400" b="0" i="0" u="none" strike="noStrike" cap="none">
                <a:solidFill>
                  <a:schemeClr val="dk1"/>
                </a:solidFill>
                <a:latin typeface="Lexend"/>
                <a:ea typeface="Lexend"/>
                <a:cs typeface="Lexend"/>
                <a:sym typeface="Lexend"/>
              </a:rPr>
              <a:t>S</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Y</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C</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960"/>
              </a:spcBef>
              <a:spcAft>
                <a:spcPts val="0"/>
              </a:spcAft>
              <a:buClr>
                <a:schemeClr val="dk1"/>
              </a:buClr>
              <a:buSzPts val="2400"/>
              <a:buFont typeface="Times New Roman"/>
              <a:buNone/>
            </a:pPr>
            <a:r>
              <a:rPr lang="en" sz="2400" b="0" i="0" u="none" strike="noStrike" cap="none">
                <a:solidFill>
                  <a:schemeClr val="dk1"/>
                </a:solidFill>
                <a:latin typeface="Lexend"/>
                <a:ea typeface="Lexend"/>
                <a:cs typeface="Lexend"/>
                <a:sym typeface="Lexend"/>
              </a:rPr>
              <a:t>	has the same function as a full adder.</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480"/>
              </a:spcBef>
              <a:spcAft>
                <a:spcPts val="0"/>
              </a:spcAft>
              <a:buClr>
                <a:schemeClr val="dk1"/>
              </a:buClr>
              <a:buSzPts val="2400"/>
              <a:buFont typeface="Times New Roman"/>
              <a:buNone/>
            </a:pPr>
            <a:r>
              <a:rPr lang="en" sz="2400" b="0" i="0" u="none" strike="noStrike" cap="none">
                <a:solidFill>
                  <a:schemeClr val="dk1"/>
                </a:solidFill>
                <a:latin typeface="Lexend"/>
                <a:ea typeface="Lexend"/>
                <a:cs typeface="Lexend"/>
                <a:sym typeface="Lexend"/>
              </a:rPr>
              <a:t>			C</a:t>
            </a:r>
            <a:r>
              <a:rPr lang="en" sz="2400" b="0" i="0" u="none" strike="noStrike" cap="none" baseline="-25000">
                <a:solidFill>
                  <a:schemeClr val="dk1"/>
                </a:solidFill>
                <a:latin typeface="Lexend"/>
                <a:ea typeface="Lexend"/>
                <a:cs typeface="Lexend"/>
                <a:sym typeface="Lexend"/>
              </a:rPr>
              <a:t>i+1</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Y</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Y</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C</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640"/>
              </a:spcBef>
              <a:spcAft>
                <a:spcPts val="0"/>
              </a:spcAft>
              <a:buClr>
                <a:srgbClr val="000000"/>
              </a:buClr>
              <a:buSzPts val="2400"/>
              <a:buFont typeface="Arial"/>
              <a:buNone/>
            </a:pPr>
            <a:r>
              <a:rPr lang="en" sz="2400" b="0" i="0" u="none" strike="noStrike" cap="none">
                <a:solidFill>
                  <a:schemeClr val="dk1"/>
                </a:solidFill>
                <a:latin typeface="Lexend"/>
                <a:ea typeface="Lexend"/>
                <a:cs typeface="Lexend"/>
                <a:sym typeface="Lexend"/>
              </a:rPr>
              <a:t>			S</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Y</a:t>
            </a:r>
            <a:r>
              <a:rPr lang="en" sz="2400" b="0" i="0" u="none" strike="noStrike" cap="none" baseline="-25000">
                <a:solidFill>
                  <a:schemeClr val="dk1"/>
                </a:solidFill>
                <a:latin typeface="Lexend"/>
                <a:ea typeface="Lexend"/>
                <a:cs typeface="Lexend"/>
                <a:sym typeface="Lexend"/>
              </a:rPr>
              <a:t>i </a:t>
            </a:r>
            <a:r>
              <a:rPr lang="en" sz="2400" b="0" i="0" u="none" strike="noStrike" cap="none">
                <a:solidFill>
                  <a:schemeClr val="dk1"/>
                </a:solidFill>
                <a:latin typeface="Lexend"/>
                <a:ea typeface="Lexend"/>
                <a:cs typeface="Lexend"/>
                <a:sym typeface="Lexend"/>
              </a:rPr>
              <a:t>⊕ C</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a:t>
            </a:r>
            <a:endParaRPr sz="2400" b="0" i="0" u="none" strike="noStrike" cap="none">
              <a:solidFill>
                <a:schemeClr val="dk1"/>
              </a:solidFill>
              <a:latin typeface="Lexend"/>
              <a:ea typeface="Lexend"/>
              <a:cs typeface="Lexend"/>
              <a:sym typeface="Lexend"/>
            </a:endParaRPr>
          </a:p>
        </p:txBody>
      </p:sp>
      <p:sp>
        <p:nvSpPr>
          <p:cNvPr id="278" name="Google Shape;278;p12"/>
          <p:cNvSpPr/>
          <p:nvPr/>
        </p:nvSpPr>
        <p:spPr>
          <a:xfrm>
            <a:off x="5668425" y="3151550"/>
            <a:ext cx="3475586" cy="1780605"/>
          </a:xfrm>
          <a:custGeom>
            <a:avLst/>
            <a:gdLst/>
            <a:ahLst/>
            <a:cxnLst/>
            <a:rect l="l" t="t" r="r" b="b"/>
            <a:pathLst>
              <a:path w="1775523" h="949656" extrusionOk="0">
                <a:moveTo>
                  <a:pt x="1439418" y="0"/>
                </a:moveTo>
                <a:lnTo>
                  <a:pt x="336232" y="0"/>
                </a:lnTo>
                <a:cubicBezTo>
                  <a:pt x="151320" y="0"/>
                  <a:pt x="0" y="151321"/>
                  <a:pt x="0" y="336233"/>
                </a:cubicBezTo>
                <a:lnTo>
                  <a:pt x="0" y="336233"/>
                </a:lnTo>
                <a:cubicBezTo>
                  <a:pt x="0" y="521145"/>
                  <a:pt x="151320" y="672465"/>
                  <a:pt x="336232" y="672465"/>
                </a:cubicBezTo>
                <a:lnTo>
                  <a:pt x="1208912" y="672465"/>
                </a:lnTo>
                <a:cubicBezTo>
                  <a:pt x="1243330" y="724091"/>
                  <a:pt x="1406017" y="956183"/>
                  <a:pt x="1544827" y="949516"/>
                </a:cubicBezTo>
                <a:lnTo>
                  <a:pt x="1545018" y="949516"/>
                </a:lnTo>
                <a:cubicBezTo>
                  <a:pt x="1551939" y="949516"/>
                  <a:pt x="1555750" y="941515"/>
                  <a:pt x="1551305" y="936181"/>
                </a:cubicBezTo>
                <a:cubicBezTo>
                  <a:pt x="1540700" y="923481"/>
                  <a:pt x="1529143" y="904431"/>
                  <a:pt x="1523364" y="893763"/>
                </a:cubicBezTo>
                <a:cubicBezTo>
                  <a:pt x="1516825" y="881761"/>
                  <a:pt x="1463992" y="766191"/>
                  <a:pt x="1473073" y="670751"/>
                </a:cubicBezTo>
                <a:cubicBezTo>
                  <a:pt x="1642300" y="653669"/>
                  <a:pt x="1775523" y="509778"/>
                  <a:pt x="1775523" y="336233"/>
                </a:cubicBezTo>
                <a:lnTo>
                  <a:pt x="1775523" y="336233"/>
                </a:lnTo>
                <a:cubicBezTo>
                  <a:pt x="1775523" y="151321"/>
                  <a:pt x="1624202" y="0"/>
                  <a:pt x="1439291" y="0"/>
                </a:cubicBezTo>
                <a:close/>
              </a:path>
            </a:pathLst>
          </a:custGeom>
          <a:solidFill>
            <a:srgbClr val="28C8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2000" b="0" i="0" u="none" strike="noStrike" cap="none">
                <a:solidFill>
                  <a:srgbClr val="FFFFFF"/>
                </a:solidFill>
                <a:latin typeface="Lexend"/>
                <a:ea typeface="Lexend"/>
                <a:cs typeface="Lexend"/>
                <a:sym typeface="Lexend"/>
              </a:rPr>
              <a:t>NB: Similar to FA equation</a:t>
            </a:r>
            <a:endParaRPr sz="2000" b="0" i="0" u="none" strike="noStrike" cap="none">
              <a:solidFill>
                <a:srgbClr val="FFFFFF"/>
              </a:solidFill>
              <a:latin typeface="Lexend"/>
              <a:ea typeface="Lexend"/>
              <a:cs typeface="Lexend"/>
              <a:sym typeface="Lexend"/>
            </a:endParaRPr>
          </a:p>
          <a:p>
            <a:pPr marL="0" marR="0" lvl="0" indent="0" algn="ctr" rtl="0">
              <a:lnSpc>
                <a:spcPct val="100000"/>
              </a:lnSpc>
              <a:spcBef>
                <a:spcPts val="0"/>
              </a:spcBef>
              <a:spcAft>
                <a:spcPts val="0"/>
              </a:spcAft>
              <a:buClr>
                <a:schemeClr val="dk1"/>
              </a:buClr>
              <a:buSzPts val="1100"/>
              <a:buFont typeface="Arial"/>
              <a:buNone/>
            </a:pPr>
            <a:r>
              <a:rPr lang="en" sz="2000" b="0" i="0" u="none" strike="noStrike" cap="none">
                <a:solidFill>
                  <a:srgbClr val="FFFFFF"/>
                </a:solidFill>
                <a:latin typeface="Lexend"/>
                <a:ea typeface="Lexend"/>
                <a:cs typeface="Lexend"/>
                <a:sym typeface="Lexend"/>
              </a:rPr>
              <a:t>C = XY + (X⊕Y)Z</a:t>
            </a:r>
            <a:endParaRPr sz="2000" b="0" i="0" u="none" strike="noStrike" cap="none">
              <a:solidFill>
                <a:srgbClr val="FFFFFF"/>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1100"/>
              <a:buFont typeface="Arial"/>
              <a:buNone/>
            </a:pPr>
            <a:r>
              <a:rPr lang="en" sz="2000" b="0" i="0" u="none" strike="noStrike" cap="none">
                <a:solidFill>
                  <a:srgbClr val="FFFFFF"/>
                </a:solidFill>
                <a:latin typeface="Lexend"/>
                <a:ea typeface="Lexend"/>
                <a:cs typeface="Lexend"/>
                <a:sym typeface="Lexend"/>
              </a:rPr>
              <a:t>S = (X⊕Y)⊕Z</a:t>
            </a:r>
            <a:endParaRPr sz="2000" b="0" i="0" u="none" strike="noStrike" cap="none">
              <a:solidFill>
                <a:srgbClr val="FFFFFF"/>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1100"/>
              <a:buFont typeface="Arial"/>
              <a:buNone/>
            </a:pPr>
            <a:endParaRPr sz="2000" b="0" i="0" u="none" strike="noStrike" cap="none">
              <a:solidFill>
                <a:srgbClr val="FFFFF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1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13</a:t>
            </a:fld>
            <a:endParaRPr sz="1000" b="0" i="0" u="none" strike="noStrike" cap="none">
              <a:solidFill>
                <a:srgbClr val="595959"/>
              </a:solidFill>
              <a:latin typeface="Arial"/>
              <a:ea typeface="Arial"/>
              <a:cs typeface="Arial"/>
              <a:sym typeface="Arial"/>
            </a:endParaRPr>
          </a:p>
        </p:txBody>
      </p:sp>
      <p:grpSp>
        <p:nvGrpSpPr>
          <p:cNvPr id="285" name="Google Shape;285;p13"/>
          <p:cNvGrpSpPr/>
          <p:nvPr/>
        </p:nvGrpSpPr>
        <p:grpSpPr>
          <a:xfrm>
            <a:off x="50480" y="122879"/>
            <a:ext cx="277873" cy="68400"/>
            <a:chOff x="411700" y="2416840"/>
            <a:chExt cx="277873" cy="68400"/>
          </a:xfrm>
        </p:grpSpPr>
        <p:sp>
          <p:nvSpPr>
            <p:cNvPr id="286" name="Google Shape;286;p1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1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1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9" name="Google Shape;289;p13"/>
          <p:cNvSpPr txBox="1"/>
          <p:nvPr/>
        </p:nvSpPr>
        <p:spPr>
          <a:xfrm>
            <a:off x="209775" y="163775"/>
            <a:ext cx="714675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90" name="Google Shape;290;p1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291" name="Google Shape;291;p13"/>
          <p:cNvSpPr txBox="1"/>
          <p:nvPr/>
        </p:nvSpPr>
        <p:spPr>
          <a:xfrm>
            <a:off x="328350" y="766838"/>
            <a:ext cx="8630700" cy="9318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90000"/>
              </a:lnSpc>
              <a:spcBef>
                <a:spcPts val="640"/>
              </a:spcBef>
              <a:spcAft>
                <a:spcPts val="0"/>
              </a:spcAft>
              <a:buClr>
                <a:schemeClr val="dk1"/>
              </a:buClr>
              <a:buSzPts val="1100"/>
              <a:buFont typeface="Arial"/>
              <a:buNone/>
            </a:pPr>
            <a:r>
              <a:rPr lang="en" sz="2400" b="0" i="0" u="none" strike="noStrike" cap="none">
                <a:solidFill>
                  <a:schemeClr val="dk1"/>
                </a:solidFill>
                <a:latin typeface="Lexend"/>
                <a:ea typeface="Lexend"/>
                <a:cs typeface="Lexend"/>
                <a:sym typeface="Lexend"/>
              </a:rPr>
              <a:t>Cascading 4 full adders via their carries, we get:</a:t>
            </a:r>
            <a:endParaRPr sz="2400" b="0" i="0" u="none" strike="noStrike" cap="none">
              <a:solidFill>
                <a:schemeClr val="dk1"/>
              </a:solidFill>
              <a:latin typeface="Lexend"/>
              <a:ea typeface="Lexend"/>
              <a:cs typeface="Lexend"/>
              <a:sym typeface="Lexend"/>
            </a:endParaRPr>
          </a:p>
          <a:p>
            <a:pPr marL="0" marR="0" lvl="0" indent="0" algn="l" rtl="0">
              <a:lnSpc>
                <a:spcPct val="90000"/>
              </a:lnSpc>
              <a:spcBef>
                <a:spcPts val="640"/>
              </a:spcBef>
              <a:spcAft>
                <a:spcPts val="0"/>
              </a:spcAft>
              <a:buClr>
                <a:srgbClr val="000000"/>
              </a:buClr>
              <a:buSzPts val="2400"/>
              <a:buFont typeface="Arial"/>
              <a:buNone/>
            </a:pPr>
            <a:endParaRPr sz="2400" b="0" i="0" u="none" strike="noStrike" cap="none">
              <a:solidFill>
                <a:schemeClr val="dk1"/>
              </a:solidFill>
              <a:latin typeface="Lexend"/>
              <a:ea typeface="Lexend"/>
              <a:cs typeface="Lexend"/>
              <a:sym typeface="Lexend"/>
            </a:endParaRPr>
          </a:p>
        </p:txBody>
      </p:sp>
      <p:pic>
        <p:nvPicPr>
          <p:cNvPr id="292" name="Google Shape;292;p13" title="4 Bit PA.png"/>
          <p:cNvPicPr preferRelativeResize="0"/>
          <p:nvPr/>
        </p:nvPicPr>
        <p:blipFill rotWithShape="1">
          <a:blip r:embed="rId3">
            <a:alphaModFix/>
          </a:blip>
          <a:srcRect/>
          <a:stretch/>
        </p:blipFill>
        <p:spPr>
          <a:xfrm>
            <a:off x="889636" y="1351214"/>
            <a:ext cx="7364716" cy="2873238"/>
          </a:xfrm>
          <a:prstGeom prst="rect">
            <a:avLst/>
          </a:prstGeom>
          <a:noFill/>
          <a:ln>
            <a:noFill/>
          </a:ln>
        </p:spPr>
      </p:pic>
      <p:sp>
        <p:nvSpPr>
          <p:cNvPr id="293" name="Google Shape;293;p13"/>
          <p:cNvSpPr txBox="1"/>
          <p:nvPr/>
        </p:nvSpPr>
        <p:spPr>
          <a:xfrm>
            <a:off x="1736950" y="2111300"/>
            <a:ext cx="5862300" cy="1452600"/>
          </a:xfrm>
          <a:prstGeom prst="rect">
            <a:avLst/>
          </a:prstGeom>
          <a:noFill/>
          <a:ln w="28575" cap="flat" cmpd="sng">
            <a:solidFill>
              <a:srgbClr val="00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4" name="Google Shape;294;p13"/>
          <p:cNvSpPr txBox="1"/>
          <p:nvPr/>
        </p:nvSpPr>
        <p:spPr>
          <a:xfrm>
            <a:off x="468850" y="3520850"/>
            <a:ext cx="228600" cy="228600"/>
          </a:xfrm>
          <a:prstGeom prst="rect">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95" name="Google Shape;295;p13"/>
          <p:cNvSpPr txBox="1"/>
          <p:nvPr/>
        </p:nvSpPr>
        <p:spPr>
          <a:xfrm>
            <a:off x="697450" y="3444650"/>
            <a:ext cx="914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imes New Roman"/>
              <a:buNone/>
            </a:pPr>
            <a:r>
              <a:rPr lang="en" sz="1600" b="0" i="0" u="none" strike="noStrike" cap="none">
                <a:solidFill>
                  <a:srgbClr val="000000"/>
                </a:solidFill>
                <a:latin typeface="Lexend"/>
                <a:ea typeface="Lexend"/>
                <a:cs typeface="Lexend"/>
                <a:sym typeface="Lexend"/>
              </a:rPr>
              <a:t>Output</a:t>
            </a:r>
            <a:endParaRPr sz="1400" b="0" i="0" u="none" strike="noStrike" cap="none">
              <a:solidFill>
                <a:srgbClr val="000000"/>
              </a:solidFill>
              <a:latin typeface="Lexend"/>
              <a:ea typeface="Lexend"/>
              <a:cs typeface="Lexend"/>
              <a:sym typeface="Lexend"/>
            </a:endParaRPr>
          </a:p>
        </p:txBody>
      </p:sp>
      <p:sp>
        <p:nvSpPr>
          <p:cNvPr id="296" name="Google Shape;296;p13"/>
          <p:cNvSpPr txBox="1"/>
          <p:nvPr/>
        </p:nvSpPr>
        <p:spPr>
          <a:xfrm>
            <a:off x="468850" y="3216050"/>
            <a:ext cx="228600" cy="228600"/>
          </a:xfrm>
          <a:prstGeom prst="rect">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97" name="Google Shape;297;p13"/>
          <p:cNvSpPr txBox="1"/>
          <p:nvPr/>
        </p:nvSpPr>
        <p:spPr>
          <a:xfrm>
            <a:off x="697450" y="3139850"/>
            <a:ext cx="914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imes New Roman"/>
              <a:buNone/>
            </a:pPr>
            <a:r>
              <a:rPr lang="en" sz="1600" b="0" i="0" u="none" strike="noStrike" cap="none">
                <a:solidFill>
                  <a:srgbClr val="000000"/>
                </a:solidFill>
                <a:latin typeface="Lexend"/>
                <a:ea typeface="Lexend"/>
                <a:cs typeface="Lexend"/>
                <a:sym typeface="Lexend"/>
              </a:rPr>
              <a:t>Input</a:t>
            </a:r>
            <a:endParaRPr sz="1400" b="0" i="0" u="none" strike="noStrike" cap="none">
              <a:solidFill>
                <a:srgbClr val="000000"/>
              </a:solidFill>
              <a:latin typeface="Lexend"/>
              <a:ea typeface="Lexend"/>
              <a:cs typeface="Lexend"/>
              <a:sym typeface="Lexend"/>
            </a:endParaRPr>
          </a:p>
        </p:txBody>
      </p:sp>
      <p:sp>
        <p:nvSpPr>
          <p:cNvPr id="298" name="Google Shape;298;p13"/>
          <p:cNvSpPr txBox="1"/>
          <p:nvPr/>
        </p:nvSpPr>
        <p:spPr>
          <a:xfrm>
            <a:off x="328350" y="4267253"/>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n-bit parallel adder requires n full- adders</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14</a:t>
            </a:fld>
            <a:endParaRPr sz="1000" b="0" i="0" u="none" strike="noStrike" cap="none">
              <a:solidFill>
                <a:srgbClr val="595959"/>
              </a:solidFill>
              <a:latin typeface="Arial"/>
              <a:ea typeface="Arial"/>
              <a:cs typeface="Arial"/>
              <a:sym typeface="Arial"/>
            </a:endParaRPr>
          </a:p>
        </p:txBody>
      </p:sp>
      <p:grpSp>
        <p:nvGrpSpPr>
          <p:cNvPr id="305" name="Google Shape;305;p14"/>
          <p:cNvGrpSpPr/>
          <p:nvPr/>
        </p:nvGrpSpPr>
        <p:grpSpPr>
          <a:xfrm>
            <a:off x="50480" y="122879"/>
            <a:ext cx="277873" cy="68400"/>
            <a:chOff x="411700" y="2416840"/>
            <a:chExt cx="277873" cy="68400"/>
          </a:xfrm>
        </p:grpSpPr>
        <p:sp>
          <p:nvSpPr>
            <p:cNvPr id="306" name="Google Shape;306;p1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9" name="Google Shape;309;p14"/>
          <p:cNvSpPr txBox="1"/>
          <p:nvPr/>
        </p:nvSpPr>
        <p:spPr>
          <a:xfrm>
            <a:off x="209775" y="163775"/>
            <a:ext cx="7385841"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Examples</a:t>
            </a:r>
            <a:endParaRPr sz="3600" b="0" i="0" u="none" strike="noStrike" cap="none">
              <a:solidFill>
                <a:schemeClr val="dk1"/>
              </a:solidFill>
              <a:latin typeface="Lexend"/>
              <a:ea typeface="Lexend"/>
              <a:cs typeface="Lexend"/>
              <a:sym typeface="Lexend"/>
            </a:endParaRPr>
          </a:p>
        </p:txBody>
      </p:sp>
      <p:sp>
        <p:nvSpPr>
          <p:cNvPr id="310" name="Google Shape;310;p1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311" name="Google Shape;311;p14"/>
          <p:cNvSpPr txBox="1"/>
          <p:nvPr/>
        </p:nvSpPr>
        <p:spPr>
          <a:xfrm>
            <a:off x="328350" y="766838"/>
            <a:ext cx="8630700" cy="1631700"/>
          </a:xfrm>
          <a:prstGeom prst="rect">
            <a:avLst/>
          </a:prstGeom>
          <a:noFill/>
          <a:ln>
            <a:noFill/>
          </a:ln>
        </p:spPr>
        <p:txBody>
          <a:bodyPr spcFirstLastPara="1" wrap="square" lIns="91425" tIns="91425" rIns="91425" bIns="91425" anchor="t" anchorCtr="0">
            <a:spAutoFit/>
          </a:bodyPr>
          <a:lstStyle/>
          <a:p>
            <a:pPr marL="342900" marR="0" lvl="0" indent="-226059"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Simple examples using 4-bit parallel adder as building blocks:</a:t>
            </a:r>
            <a:endParaRPr sz="2000" b="0" i="0" u="none" strike="noStrike" cap="none">
              <a:solidFill>
                <a:schemeClr val="dk1"/>
              </a:solidFill>
              <a:latin typeface="Lexend"/>
              <a:ea typeface="Lexend"/>
              <a:cs typeface="Lexend"/>
              <a:sym typeface="Lexend"/>
            </a:endParaRPr>
          </a:p>
          <a:p>
            <a:pPr marL="742950" marR="0" lvl="1" indent="-252730" algn="l" rtl="0">
              <a:lnSpc>
                <a:spcPct val="100000"/>
              </a:lnSpc>
              <a:spcBef>
                <a:spcPts val="56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 Adder cum Subtractor</a:t>
            </a:r>
            <a:endParaRPr sz="2000" b="0" i="0" u="none" strike="noStrike" cap="none">
              <a:solidFill>
                <a:schemeClr val="dk1"/>
              </a:solidFill>
              <a:latin typeface="Lexend"/>
              <a:ea typeface="Lexend"/>
              <a:cs typeface="Lexend"/>
              <a:sym typeface="Lexend"/>
            </a:endParaRPr>
          </a:p>
          <a:p>
            <a:pPr marL="742950" marR="0" lvl="1" indent="-252730" algn="l" rtl="0">
              <a:lnSpc>
                <a:spcPct val="100000"/>
              </a:lnSpc>
              <a:spcBef>
                <a:spcPts val="56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 16-Bit Parallel Adder</a:t>
            </a:r>
            <a:endParaRPr sz="2000" b="0" i="0" u="none" strike="noStrike" cap="none">
              <a:solidFill>
                <a:schemeClr val="dk1"/>
              </a:solidFill>
              <a:latin typeface="Lexend"/>
              <a:ea typeface="Lexend"/>
              <a:cs typeface="Lexend"/>
              <a:sym typeface="Lexend"/>
            </a:endParaRPr>
          </a:p>
          <a:p>
            <a:pPr marL="742950" marR="0" lvl="1" indent="-252730" algn="l" rtl="0">
              <a:lnSpc>
                <a:spcPct val="100000"/>
              </a:lnSpc>
              <a:spcBef>
                <a:spcPts val="56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 BCD to excess 3 code converter</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15</a:t>
            </a:fld>
            <a:endParaRPr sz="1000" b="0" i="0" u="none" strike="noStrike" cap="none">
              <a:solidFill>
                <a:srgbClr val="595959"/>
              </a:solidFill>
              <a:latin typeface="Arial"/>
              <a:ea typeface="Arial"/>
              <a:cs typeface="Arial"/>
              <a:sym typeface="Arial"/>
            </a:endParaRPr>
          </a:p>
        </p:txBody>
      </p:sp>
      <p:grpSp>
        <p:nvGrpSpPr>
          <p:cNvPr id="318" name="Google Shape;318;p15"/>
          <p:cNvGrpSpPr/>
          <p:nvPr/>
        </p:nvGrpSpPr>
        <p:grpSpPr>
          <a:xfrm>
            <a:off x="50480" y="122879"/>
            <a:ext cx="277873" cy="68400"/>
            <a:chOff x="411700" y="2416840"/>
            <a:chExt cx="277873" cy="68400"/>
          </a:xfrm>
        </p:grpSpPr>
        <p:sp>
          <p:nvSpPr>
            <p:cNvPr id="319" name="Google Shape;319;p1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1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1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2" name="Google Shape;322;p15"/>
          <p:cNvSpPr txBox="1"/>
          <p:nvPr/>
        </p:nvSpPr>
        <p:spPr>
          <a:xfrm>
            <a:off x="209775" y="163775"/>
            <a:ext cx="709323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Adder-Subtractor</a:t>
            </a:r>
            <a:endParaRPr sz="3600" b="0" i="0" u="none" strike="noStrike" cap="none">
              <a:solidFill>
                <a:schemeClr val="dk1"/>
              </a:solidFill>
              <a:latin typeface="Lexend"/>
              <a:ea typeface="Lexend"/>
              <a:cs typeface="Lexend"/>
              <a:sym typeface="Lexend"/>
            </a:endParaRPr>
          </a:p>
        </p:txBody>
      </p:sp>
      <p:sp>
        <p:nvSpPr>
          <p:cNvPr id="323" name="Google Shape;323;p1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324" name="Google Shape;324;p15"/>
          <p:cNvSpPr txBox="1"/>
          <p:nvPr/>
        </p:nvSpPr>
        <p:spPr>
          <a:xfrm>
            <a:off x="328350" y="766838"/>
            <a:ext cx="8630700" cy="14160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Subtraction can be performed through addition using 2s-complement numbers. </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Hence, we can design a circuit which can perform </a:t>
            </a:r>
            <a:r>
              <a:rPr lang="en" sz="2000" b="0" i="0" u="none" strike="noStrike" cap="none">
                <a:solidFill>
                  <a:srgbClr val="0000FF"/>
                </a:solidFill>
                <a:latin typeface="Lexend"/>
                <a:ea typeface="Lexend"/>
                <a:cs typeface="Lexend"/>
                <a:sym typeface="Lexend"/>
              </a:rPr>
              <a:t>both addition and subtraction</a:t>
            </a:r>
            <a:r>
              <a:rPr lang="en" sz="2000" b="0" i="0" u="none" strike="noStrike" cap="none">
                <a:solidFill>
                  <a:schemeClr val="dk1"/>
                </a:solidFill>
                <a:latin typeface="Lexend"/>
                <a:ea typeface="Lexend"/>
                <a:cs typeface="Lexend"/>
                <a:sym typeface="Lexend"/>
              </a:rPr>
              <a:t>, using a parallel adder.</a:t>
            </a:r>
            <a:endParaRPr sz="2000" b="0" i="0" u="none" strike="noStrike" cap="none">
              <a:solidFill>
                <a:schemeClr val="dk1"/>
              </a:solidFill>
              <a:latin typeface="Lexend"/>
              <a:ea typeface="Lexend"/>
              <a:cs typeface="Lexend"/>
              <a:sym typeface="Lexend"/>
            </a:endParaRPr>
          </a:p>
        </p:txBody>
      </p:sp>
      <p:grpSp>
        <p:nvGrpSpPr>
          <p:cNvPr id="325" name="Google Shape;325;p15"/>
          <p:cNvGrpSpPr/>
          <p:nvPr/>
        </p:nvGrpSpPr>
        <p:grpSpPr>
          <a:xfrm>
            <a:off x="3210506" y="2125625"/>
            <a:ext cx="5263234" cy="2622828"/>
            <a:chOff x="2160" y="1872"/>
            <a:chExt cx="3456" cy="1749"/>
          </a:xfrm>
        </p:grpSpPr>
        <p:sp>
          <p:nvSpPr>
            <p:cNvPr id="326" name="Google Shape;326;p15"/>
            <p:cNvSpPr txBox="1"/>
            <p:nvPr/>
          </p:nvSpPr>
          <p:spPr>
            <a:xfrm>
              <a:off x="2160" y="2400"/>
              <a:ext cx="21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27" name="Google Shape;327;p15"/>
            <p:cNvSpPr txBox="1"/>
            <p:nvPr/>
          </p:nvSpPr>
          <p:spPr>
            <a:xfrm>
              <a:off x="2496" y="2496"/>
              <a:ext cx="1500" cy="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4-bit</a:t>
              </a:r>
              <a:endParaRPr sz="14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Parallel Adder</a:t>
              </a:r>
              <a:endParaRPr sz="1400" b="0" i="0" u="none" strike="noStrike" cap="none">
                <a:solidFill>
                  <a:srgbClr val="000000"/>
                </a:solidFill>
                <a:latin typeface="Lexend"/>
                <a:ea typeface="Lexend"/>
                <a:cs typeface="Lexend"/>
                <a:sym typeface="Lexend"/>
              </a:endParaRPr>
            </a:p>
          </p:txBody>
        </p:sp>
        <p:cxnSp>
          <p:nvCxnSpPr>
            <p:cNvPr id="328" name="Google Shape;328;p15"/>
            <p:cNvCxnSpPr/>
            <p:nvPr/>
          </p:nvCxnSpPr>
          <p:spPr>
            <a:xfrm rot="5400000">
              <a:off x="2586"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29" name="Google Shape;329;p15"/>
            <p:cNvCxnSpPr/>
            <p:nvPr/>
          </p:nvCxnSpPr>
          <p:spPr>
            <a:xfrm rot="10800000">
              <a:off x="4164" y="2736"/>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30" name="Google Shape;330;p15"/>
            <p:cNvCxnSpPr/>
            <p:nvPr/>
          </p:nvCxnSpPr>
          <p:spPr>
            <a:xfrm rot="5400000">
              <a:off x="277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31" name="Google Shape;331;p15"/>
            <p:cNvCxnSpPr/>
            <p:nvPr/>
          </p:nvCxnSpPr>
          <p:spPr>
            <a:xfrm rot="5400000">
              <a:off x="325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32" name="Google Shape;332;p15"/>
            <p:cNvCxnSpPr/>
            <p:nvPr/>
          </p:nvCxnSpPr>
          <p:spPr>
            <a:xfrm rot="5400000">
              <a:off x="3450"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333" name="Google Shape;333;p15"/>
            <p:cNvSpPr txBox="1"/>
            <p:nvPr/>
          </p:nvSpPr>
          <p:spPr>
            <a:xfrm>
              <a:off x="4416" y="2640"/>
              <a:ext cx="12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rgbClr val="000000"/>
                  </a:solidFill>
                  <a:latin typeface="Lexend"/>
                  <a:ea typeface="Lexend"/>
                  <a:cs typeface="Lexend"/>
                  <a:sym typeface="Lexend"/>
                </a:rPr>
                <a:t>S: control signal for add/subtract</a:t>
              </a:r>
              <a:endParaRPr sz="1400" b="1" i="0" u="none" strike="noStrike" cap="none">
                <a:solidFill>
                  <a:srgbClr val="000000"/>
                </a:solidFill>
                <a:latin typeface="Lexend"/>
                <a:ea typeface="Lexend"/>
                <a:cs typeface="Lexend"/>
                <a:sym typeface="Lexend"/>
              </a:endParaRPr>
            </a:p>
          </p:txBody>
        </p:sp>
        <p:sp>
          <p:nvSpPr>
            <p:cNvPr id="334" name="Google Shape;334;p15"/>
            <p:cNvSpPr txBox="1"/>
            <p:nvPr/>
          </p:nvSpPr>
          <p:spPr>
            <a:xfrm>
              <a:off x="2544"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335" name="Google Shape;335;p15"/>
            <p:cNvSpPr txBox="1"/>
            <p:nvPr/>
          </p:nvSpPr>
          <p:spPr>
            <a:xfrm>
              <a:off x="273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sp>
          <p:nvSpPr>
            <p:cNvPr id="336" name="Google Shape;336;p15"/>
            <p:cNvSpPr txBox="1"/>
            <p:nvPr/>
          </p:nvSpPr>
          <p:spPr>
            <a:xfrm>
              <a:off x="321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337" name="Google Shape;337;p15"/>
            <p:cNvSpPr txBox="1"/>
            <p:nvPr/>
          </p:nvSpPr>
          <p:spPr>
            <a:xfrm>
              <a:off x="345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sp>
          <p:nvSpPr>
            <p:cNvPr id="338" name="Google Shape;338;p15"/>
            <p:cNvSpPr txBox="1"/>
            <p:nvPr/>
          </p:nvSpPr>
          <p:spPr>
            <a:xfrm>
              <a:off x="2172" y="3321"/>
              <a:ext cx="18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rgbClr val="000000"/>
                  </a:solidFill>
                  <a:latin typeface="Lexend"/>
                  <a:ea typeface="Lexend"/>
                  <a:cs typeface="Lexend"/>
                  <a:sym typeface="Lexend"/>
                </a:rPr>
                <a:t>Result: either X+Y or X-Y</a:t>
              </a:r>
              <a:r>
                <a:rPr lang="en" sz="1800" b="1" i="0" u="none" strike="noStrike" cap="none">
                  <a:solidFill>
                    <a:srgbClr val="000000"/>
                  </a:solidFill>
                  <a:latin typeface="Lexend"/>
                  <a:ea typeface="Lexend"/>
                  <a:cs typeface="Lexend"/>
                  <a:sym typeface="Lexend"/>
                </a:rPr>
                <a:t> </a:t>
              </a:r>
              <a:endParaRPr sz="1400" b="1" i="0" u="none" strike="noStrike" cap="none">
                <a:solidFill>
                  <a:srgbClr val="000000"/>
                </a:solidFill>
                <a:latin typeface="Lexend"/>
                <a:ea typeface="Lexend"/>
                <a:cs typeface="Lexend"/>
                <a:sym typeface="Lexend"/>
              </a:endParaRPr>
            </a:p>
          </p:txBody>
        </p:sp>
        <p:cxnSp>
          <p:nvCxnSpPr>
            <p:cNvPr id="339" name="Google Shape;339;p15"/>
            <p:cNvCxnSpPr/>
            <p:nvPr/>
          </p:nvCxnSpPr>
          <p:spPr>
            <a:xfrm rot="5400000">
              <a:off x="2730"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0" name="Google Shape;340;p15"/>
            <p:cNvCxnSpPr/>
            <p:nvPr/>
          </p:nvCxnSpPr>
          <p:spPr>
            <a:xfrm rot="5400000">
              <a:off x="2922"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1" name="Google Shape;341;p15"/>
            <p:cNvCxnSpPr/>
            <p:nvPr/>
          </p:nvCxnSpPr>
          <p:spPr>
            <a:xfrm rot="5400000">
              <a:off x="3114"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2" name="Google Shape;342;p15"/>
            <p:cNvCxnSpPr/>
            <p:nvPr/>
          </p:nvCxnSpPr>
          <p:spPr>
            <a:xfrm rot="5400000">
              <a:off x="3306"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3" name="Google Shape;343;p15"/>
            <p:cNvCxnSpPr/>
            <p:nvPr/>
          </p:nvCxnSpPr>
          <p:spPr>
            <a:xfrm rot="5400000">
              <a:off x="364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4" name="Google Shape;344;p15"/>
            <p:cNvCxnSpPr/>
            <p:nvPr/>
          </p:nvCxnSpPr>
          <p:spPr>
            <a:xfrm rot="5400000">
              <a:off x="383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345" name="Google Shape;345;p15"/>
            <p:cNvSpPr txBox="1"/>
            <p:nvPr/>
          </p:nvSpPr>
          <p:spPr>
            <a:xfrm>
              <a:off x="3648"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346" name="Google Shape;346;p15"/>
            <p:cNvSpPr txBox="1"/>
            <p:nvPr/>
          </p:nvSpPr>
          <p:spPr>
            <a:xfrm>
              <a:off x="384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cxnSp>
          <p:nvCxnSpPr>
            <p:cNvPr id="347" name="Google Shape;347;p15"/>
            <p:cNvCxnSpPr/>
            <p:nvPr/>
          </p:nvCxnSpPr>
          <p:spPr>
            <a:xfrm rot="5400000">
              <a:off x="220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8" name="Google Shape;348;p15"/>
            <p:cNvCxnSpPr/>
            <p:nvPr/>
          </p:nvCxnSpPr>
          <p:spPr>
            <a:xfrm rot="5400000">
              <a:off x="239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349" name="Google Shape;349;p15"/>
            <p:cNvSpPr txBox="1"/>
            <p:nvPr/>
          </p:nvSpPr>
          <p:spPr>
            <a:xfrm>
              <a:off x="216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350" name="Google Shape;350;p15"/>
            <p:cNvSpPr txBox="1"/>
            <p:nvPr/>
          </p:nvSpPr>
          <p:spPr>
            <a:xfrm>
              <a:off x="2352"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grpSp>
      <p:cxnSp>
        <p:nvCxnSpPr>
          <p:cNvPr id="351" name="Google Shape;351;p15"/>
          <p:cNvCxnSpPr/>
          <p:nvPr/>
        </p:nvCxnSpPr>
        <p:spPr>
          <a:xfrm rot="5400000">
            <a:off x="3785211" y="4073528"/>
            <a:ext cx="450000" cy="0"/>
          </a:xfrm>
          <a:prstGeom prst="straightConnector1">
            <a:avLst/>
          </a:prstGeom>
          <a:noFill/>
          <a:ln w="15875" cap="flat" cmpd="sng">
            <a:solidFill>
              <a:srgbClr val="000000"/>
            </a:solidFill>
            <a:prstDash val="solid"/>
            <a:miter lim="800000"/>
            <a:headEnd type="none" w="sm" len="sm"/>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1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16</a:t>
            </a:fld>
            <a:endParaRPr sz="1000" b="0" i="0" u="none" strike="noStrike" cap="none">
              <a:solidFill>
                <a:srgbClr val="595959"/>
              </a:solidFill>
              <a:latin typeface="Arial"/>
              <a:ea typeface="Arial"/>
              <a:cs typeface="Arial"/>
              <a:sym typeface="Arial"/>
            </a:endParaRPr>
          </a:p>
        </p:txBody>
      </p:sp>
      <p:grpSp>
        <p:nvGrpSpPr>
          <p:cNvPr id="358" name="Google Shape;358;p16"/>
          <p:cNvGrpSpPr/>
          <p:nvPr/>
        </p:nvGrpSpPr>
        <p:grpSpPr>
          <a:xfrm>
            <a:off x="50480" y="122879"/>
            <a:ext cx="277873" cy="68400"/>
            <a:chOff x="411700" y="2416840"/>
            <a:chExt cx="277873" cy="68400"/>
          </a:xfrm>
        </p:grpSpPr>
        <p:sp>
          <p:nvSpPr>
            <p:cNvPr id="359" name="Google Shape;359;p1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1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2" name="Google Shape;362;p16"/>
          <p:cNvSpPr txBox="1"/>
          <p:nvPr/>
        </p:nvSpPr>
        <p:spPr>
          <a:xfrm>
            <a:off x="209775" y="163775"/>
            <a:ext cx="8112726"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Adder-Subtractor</a:t>
            </a:r>
            <a:endParaRPr sz="3600" b="0" i="0" u="none" strike="noStrike" cap="none">
              <a:solidFill>
                <a:schemeClr val="dk1"/>
              </a:solidFill>
              <a:latin typeface="Lexend"/>
              <a:ea typeface="Lexend"/>
              <a:cs typeface="Lexend"/>
              <a:sym typeface="Lexend"/>
            </a:endParaRPr>
          </a:p>
        </p:txBody>
      </p:sp>
      <p:sp>
        <p:nvSpPr>
          <p:cNvPr id="363" name="Google Shape;363;p1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364" name="Google Shape;364;p16"/>
          <p:cNvSpPr txBox="1"/>
          <p:nvPr/>
        </p:nvSpPr>
        <p:spPr>
          <a:xfrm>
            <a:off x="328350" y="766838"/>
            <a:ext cx="8630700" cy="8004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Design requires:</a:t>
            </a: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 (i) </a:t>
            </a:r>
            <a:r>
              <a:rPr lang="en" sz="2000" b="0" i="0" u="none" strike="noStrike" cap="none">
                <a:solidFill>
                  <a:srgbClr val="0000FF"/>
                </a:solidFill>
                <a:latin typeface="Lexend"/>
                <a:ea typeface="Lexend"/>
                <a:cs typeface="Lexend"/>
                <a:sym typeface="Lexend"/>
              </a:rPr>
              <a:t>XOR gates</a:t>
            </a:r>
            <a:r>
              <a:rPr lang="en" sz="2000" b="0" i="0" u="none" strike="noStrike" cap="none">
                <a:solidFill>
                  <a:schemeClr val="dk1"/>
                </a:solidFill>
                <a:latin typeface="Lexend"/>
                <a:ea typeface="Lexend"/>
                <a:cs typeface="Lexend"/>
                <a:sym typeface="Lexend"/>
              </a:rPr>
              <a:t>:</a:t>
            </a:r>
            <a:endParaRPr sz="2000" b="0" i="0" u="none" strike="noStrike" cap="none">
              <a:solidFill>
                <a:schemeClr val="dk1"/>
              </a:solidFill>
              <a:latin typeface="Lexend"/>
              <a:ea typeface="Lexend"/>
              <a:cs typeface="Lexend"/>
              <a:sym typeface="Lexend"/>
            </a:endParaRPr>
          </a:p>
        </p:txBody>
      </p:sp>
      <p:sp>
        <p:nvSpPr>
          <p:cNvPr id="365" name="Google Shape;365;p16"/>
          <p:cNvSpPr/>
          <p:nvPr/>
        </p:nvSpPr>
        <p:spPr>
          <a:xfrm>
            <a:off x="3097213" y="1643450"/>
            <a:ext cx="107442" cy="586359"/>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66" name="Google Shape;366;p16"/>
          <p:cNvCxnSpPr/>
          <p:nvPr/>
        </p:nvCxnSpPr>
        <p:spPr>
          <a:xfrm>
            <a:off x="3097213" y="1643450"/>
            <a:ext cx="278400" cy="0"/>
          </a:xfrm>
          <a:prstGeom prst="straightConnector1">
            <a:avLst/>
          </a:prstGeom>
          <a:noFill/>
          <a:ln w="15875" cap="flat" cmpd="sng">
            <a:solidFill>
              <a:srgbClr val="000000"/>
            </a:solidFill>
            <a:prstDash val="solid"/>
            <a:miter lim="800000"/>
            <a:headEnd type="none" w="sm" len="sm"/>
            <a:tailEnd type="none" w="sm" len="sm"/>
          </a:ln>
        </p:spPr>
      </p:cxnSp>
      <p:cxnSp>
        <p:nvCxnSpPr>
          <p:cNvPr id="367" name="Google Shape;367;p16"/>
          <p:cNvCxnSpPr/>
          <p:nvPr/>
        </p:nvCxnSpPr>
        <p:spPr>
          <a:xfrm rot="10800000" flipH="1">
            <a:off x="3097213" y="2229625"/>
            <a:ext cx="275700" cy="1200"/>
          </a:xfrm>
          <a:prstGeom prst="straightConnector1">
            <a:avLst/>
          </a:prstGeom>
          <a:noFill/>
          <a:ln w="15875" cap="flat" cmpd="sng">
            <a:solidFill>
              <a:srgbClr val="000000"/>
            </a:solidFill>
            <a:prstDash val="solid"/>
            <a:miter lim="800000"/>
            <a:headEnd type="none" w="sm" len="sm"/>
            <a:tailEnd type="none" w="sm" len="sm"/>
          </a:ln>
        </p:spPr>
      </p:cxnSp>
      <p:sp>
        <p:nvSpPr>
          <p:cNvPr id="368" name="Google Shape;368;p16"/>
          <p:cNvSpPr/>
          <p:nvPr/>
        </p:nvSpPr>
        <p:spPr>
          <a:xfrm>
            <a:off x="3367088" y="1643450"/>
            <a:ext cx="486918"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69" name="Google Shape;369;p16"/>
          <p:cNvSpPr/>
          <p:nvPr/>
        </p:nvSpPr>
        <p:spPr>
          <a:xfrm rot="10800000" flipH="1">
            <a:off x="3367088" y="1910213"/>
            <a:ext cx="486918"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70" name="Google Shape;370;p16"/>
          <p:cNvSpPr/>
          <p:nvPr/>
        </p:nvSpPr>
        <p:spPr>
          <a:xfrm>
            <a:off x="3022600" y="1643450"/>
            <a:ext cx="107442" cy="586359"/>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71" name="Google Shape;371;p16"/>
          <p:cNvCxnSpPr/>
          <p:nvPr/>
        </p:nvCxnSpPr>
        <p:spPr>
          <a:xfrm>
            <a:off x="2641600" y="1795850"/>
            <a:ext cx="454500" cy="0"/>
          </a:xfrm>
          <a:prstGeom prst="straightConnector1">
            <a:avLst/>
          </a:prstGeom>
          <a:noFill/>
          <a:ln w="19050" cap="flat" cmpd="sng">
            <a:solidFill>
              <a:srgbClr val="000000"/>
            </a:solidFill>
            <a:prstDash val="solid"/>
            <a:miter lim="800000"/>
            <a:headEnd type="none" w="sm" len="sm"/>
            <a:tailEnd type="none" w="sm" len="sm"/>
          </a:ln>
        </p:spPr>
      </p:cxnSp>
      <p:cxnSp>
        <p:nvCxnSpPr>
          <p:cNvPr id="372" name="Google Shape;372;p16"/>
          <p:cNvCxnSpPr/>
          <p:nvPr/>
        </p:nvCxnSpPr>
        <p:spPr>
          <a:xfrm>
            <a:off x="2641600" y="2100650"/>
            <a:ext cx="445200" cy="0"/>
          </a:xfrm>
          <a:prstGeom prst="straightConnector1">
            <a:avLst/>
          </a:prstGeom>
          <a:noFill/>
          <a:ln w="19050" cap="flat" cmpd="sng">
            <a:solidFill>
              <a:srgbClr val="000000"/>
            </a:solidFill>
            <a:prstDash val="solid"/>
            <a:miter lim="800000"/>
            <a:headEnd type="none" w="sm" len="sm"/>
            <a:tailEnd type="none" w="sm" len="sm"/>
          </a:ln>
        </p:spPr>
      </p:cxnSp>
      <p:sp>
        <p:nvSpPr>
          <p:cNvPr id="373" name="Google Shape;373;p16"/>
          <p:cNvSpPr txBox="1"/>
          <p:nvPr/>
        </p:nvSpPr>
        <p:spPr>
          <a:xfrm>
            <a:off x="1911350" y="1916500"/>
            <a:ext cx="952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 = 0</a:t>
            </a:r>
            <a:endParaRPr sz="1400" b="0" i="0" u="none" strike="noStrike" cap="none">
              <a:solidFill>
                <a:srgbClr val="000000"/>
              </a:solidFill>
              <a:latin typeface="Lexend"/>
              <a:ea typeface="Lexend"/>
              <a:cs typeface="Lexend"/>
              <a:sym typeface="Lexend"/>
            </a:endParaRPr>
          </a:p>
        </p:txBody>
      </p:sp>
      <p:sp>
        <p:nvSpPr>
          <p:cNvPr id="374" name="Google Shape;374;p16"/>
          <p:cNvSpPr txBox="1"/>
          <p:nvPr/>
        </p:nvSpPr>
        <p:spPr>
          <a:xfrm>
            <a:off x="3860800" y="1567250"/>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sp>
        <p:nvSpPr>
          <p:cNvPr id="375" name="Google Shape;375;p16"/>
          <p:cNvSpPr txBox="1"/>
          <p:nvPr/>
        </p:nvSpPr>
        <p:spPr>
          <a:xfrm>
            <a:off x="2368550" y="1591062"/>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cxnSp>
        <p:nvCxnSpPr>
          <p:cNvPr id="376" name="Google Shape;376;p16"/>
          <p:cNvCxnSpPr/>
          <p:nvPr/>
        </p:nvCxnSpPr>
        <p:spPr>
          <a:xfrm>
            <a:off x="3841750" y="1927612"/>
            <a:ext cx="476250" cy="0"/>
          </a:xfrm>
          <a:prstGeom prst="straightConnector1">
            <a:avLst/>
          </a:prstGeom>
          <a:noFill/>
          <a:ln w="19050" cap="flat" cmpd="sng">
            <a:solidFill>
              <a:srgbClr val="000000"/>
            </a:solidFill>
            <a:prstDash val="solid"/>
            <a:miter lim="800000"/>
            <a:headEnd type="none" w="sm" len="sm"/>
            <a:tailEnd type="none" w="sm" len="sm"/>
          </a:ln>
        </p:spPr>
      </p:cxnSp>
      <p:sp>
        <p:nvSpPr>
          <p:cNvPr id="377" name="Google Shape;377;p16"/>
          <p:cNvSpPr/>
          <p:nvPr/>
        </p:nvSpPr>
        <p:spPr>
          <a:xfrm>
            <a:off x="6429613" y="1644525"/>
            <a:ext cx="107442" cy="586358"/>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78" name="Google Shape;378;p16"/>
          <p:cNvCxnSpPr/>
          <p:nvPr/>
        </p:nvCxnSpPr>
        <p:spPr>
          <a:xfrm>
            <a:off x="6429613" y="1644525"/>
            <a:ext cx="278400" cy="0"/>
          </a:xfrm>
          <a:prstGeom prst="straightConnector1">
            <a:avLst/>
          </a:prstGeom>
          <a:noFill/>
          <a:ln w="15875" cap="flat" cmpd="sng">
            <a:solidFill>
              <a:srgbClr val="000000"/>
            </a:solidFill>
            <a:prstDash val="solid"/>
            <a:miter lim="800000"/>
            <a:headEnd type="none" w="sm" len="sm"/>
            <a:tailEnd type="none" w="sm" len="sm"/>
          </a:ln>
        </p:spPr>
      </p:cxnSp>
      <p:cxnSp>
        <p:nvCxnSpPr>
          <p:cNvPr id="379" name="Google Shape;379;p16"/>
          <p:cNvCxnSpPr/>
          <p:nvPr/>
        </p:nvCxnSpPr>
        <p:spPr>
          <a:xfrm rot="10800000" flipH="1">
            <a:off x="6429613" y="2230700"/>
            <a:ext cx="275700" cy="1200"/>
          </a:xfrm>
          <a:prstGeom prst="straightConnector1">
            <a:avLst/>
          </a:prstGeom>
          <a:noFill/>
          <a:ln w="15875" cap="flat" cmpd="sng">
            <a:solidFill>
              <a:srgbClr val="000000"/>
            </a:solidFill>
            <a:prstDash val="solid"/>
            <a:miter lim="800000"/>
            <a:headEnd type="none" w="sm" len="sm"/>
            <a:tailEnd type="none" w="sm" len="sm"/>
          </a:ln>
        </p:spPr>
      </p:cxnSp>
      <p:sp>
        <p:nvSpPr>
          <p:cNvPr id="380" name="Google Shape;380;p16"/>
          <p:cNvSpPr/>
          <p:nvPr/>
        </p:nvSpPr>
        <p:spPr>
          <a:xfrm>
            <a:off x="6699488" y="1644525"/>
            <a:ext cx="486919"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81" name="Google Shape;381;p16"/>
          <p:cNvSpPr/>
          <p:nvPr/>
        </p:nvSpPr>
        <p:spPr>
          <a:xfrm rot="10800000" flipH="1">
            <a:off x="6699488" y="1911289"/>
            <a:ext cx="486919"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82" name="Google Shape;382;p16"/>
          <p:cNvSpPr/>
          <p:nvPr/>
        </p:nvSpPr>
        <p:spPr>
          <a:xfrm>
            <a:off x="6355000" y="1644525"/>
            <a:ext cx="107442" cy="586358"/>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83" name="Google Shape;383;p16"/>
          <p:cNvCxnSpPr/>
          <p:nvPr/>
        </p:nvCxnSpPr>
        <p:spPr>
          <a:xfrm>
            <a:off x="5974000" y="1796925"/>
            <a:ext cx="454500" cy="0"/>
          </a:xfrm>
          <a:prstGeom prst="straightConnector1">
            <a:avLst/>
          </a:prstGeom>
          <a:noFill/>
          <a:ln w="19050" cap="flat" cmpd="sng">
            <a:solidFill>
              <a:srgbClr val="000000"/>
            </a:solidFill>
            <a:prstDash val="solid"/>
            <a:miter lim="800000"/>
            <a:headEnd type="none" w="sm" len="sm"/>
            <a:tailEnd type="none" w="sm" len="sm"/>
          </a:ln>
        </p:spPr>
      </p:cxnSp>
      <p:cxnSp>
        <p:nvCxnSpPr>
          <p:cNvPr id="384" name="Google Shape;384;p16"/>
          <p:cNvCxnSpPr/>
          <p:nvPr/>
        </p:nvCxnSpPr>
        <p:spPr>
          <a:xfrm>
            <a:off x="5974000" y="2101725"/>
            <a:ext cx="445200" cy="0"/>
          </a:xfrm>
          <a:prstGeom prst="straightConnector1">
            <a:avLst/>
          </a:prstGeom>
          <a:noFill/>
          <a:ln w="19050" cap="flat" cmpd="sng">
            <a:solidFill>
              <a:srgbClr val="000000"/>
            </a:solidFill>
            <a:prstDash val="solid"/>
            <a:miter lim="800000"/>
            <a:headEnd type="none" w="sm" len="sm"/>
            <a:tailEnd type="none" w="sm" len="sm"/>
          </a:ln>
        </p:spPr>
      </p:cxnSp>
      <p:sp>
        <p:nvSpPr>
          <p:cNvPr id="385" name="Google Shape;385;p16"/>
          <p:cNvSpPr txBox="1"/>
          <p:nvPr/>
        </p:nvSpPr>
        <p:spPr>
          <a:xfrm>
            <a:off x="5243750" y="1917575"/>
            <a:ext cx="952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 = 1</a:t>
            </a:r>
            <a:endParaRPr sz="1400" b="0" i="0" u="none" strike="noStrike" cap="none">
              <a:solidFill>
                <a:srgbClr val="000000"/>
              </a:solidFill>
              <a:latin typeface="Lexend"/>
              <a:ea typeface="Lexend"/>
              <a:cs typeface="Lexend"/>
              <a:sym typeface="Lexend"/>
            </a:endParaRPr>
          </a:p>
        </p:txBody>
      </p:sp>
      <p:sp>
        <p:nvSpPr>
          <p:cNvPr id="386" name="Google Shape;386;p16"/>
          <p:cNvSpPr txBox="1"/>
          <p:nvPr/>
        </p:nvSpPr>
        <p:spPr>
          <a:xfrm>
            <a:off x="7193200" y="1568325"/>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sp>
        <p:nvSpPr>
          <p:cNvPr id="387" name="Google Shape;387;p16"/>
          <p:cNvSpPr txBox="1"/>
          <p:nvPr/>
        </p:nvSpPr>
        <p:spPr>
          <a:xfrm>
            <a:off x="5700950" y="1592137"/>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cxnSp>
        <p:nvCxnSpPr>
          <p:cNvPr id="388" name="Google Shape;388;p16"/>
          <p:cNvCxnSpPr/>
          <p:nvPr/>
        </p:nvCxnSpPr>
        <p:spPr>
          <a:xfrm>
            <a:off x="7174150" y="1928687"/>
            <a:ext cx="476400" cy="0"/>
          </a:xfrm>
          <a:prstGeom prst="straightConnector1">
            <a:avLst/>
          </a:prstGeom>
          <a:noFill/>
          <a:ln w="19050" cap="flat" cmpd="sng">
            <a:solidFill>
              <a:srgbClr val="000000"/>
            </a:solidFill>
            <a:prstDash val="solid"/>
            <a:miter lim="800000"/>
            <a:headEnd type="none" w="sm" len="sm"/>
            <a:tailEnd type="none" w="sm" len="sm"/>
          </a:ln>
        </p:spPr>
      </p:cxnSp>
      <p:sp>
        <p:nvSpPr>
          <p:cNvPr id="389" name="Google Shape;389;p16"/>
          <p:cNvSpPr txBox="1"/>
          <p:nvPr/>
        </p:nvSpPr>
        <p:spPr>
          <a:xfrm>
            <a:off x="256650" y="2308138"/>
            <a:ext cx="8630700" cy="1723800"/>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	</a:t>
            </a:r>
            <a:endParaRPr sz="2000" b="0" i="0" u="none" strike="noStrike" cap="none">
              <a:solidFill>
                <a:schemeClr val="dk1"/>
              </a:solidFill>
              <a:latin typeface="Lexend"/>
              <a:ea typeface="Lexend"/>
              <a:cs typeface="Lexend"/>
              <a:sym typeface="Lexend"/>
            </a:endParaRPr>
          </a:p>
          <a:p>
            <a:pPr marL="457200" marR="0" lvl="0" indent="457200" algn="l" rtl="0">
              <a:lnSpc>
                <a:spcPct val="100000"/>
              </a:lnSpc>
              <a:spcBef>
                <a:spcPts val="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such that: output = Y when S=0</a:t>
            </a: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         			           = Y' when S=1</a:t>
            </a: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(ii) </a:t>
            </a:r>
            <a:r>
              <a:rPr lang="en" sz="2000" b="0" i="0" u="none" strike="noStrike" cap="none">
                <a:solidFill>
                  <a:srgbClr val="0000FF"/>
                </a:solidFill>
                <a:latin typeface="Lexend"/>
                <a:ea typeface="Lexend"/>
                <a:cs typeface="Lexend"/>
                <a:sym typeface="Lexend"/>
              </a:rPr>
              <a:t>S connected to carry-in.</a:t>
            </a:r>
            <a:endParaRPr sz="2000" b="0" i="0" u="none" strike="noStrike" cap="none">
              <a:solidFill>
                <a:srgbClr val="0000FF"/>
              </a:solidFill>
              <a:latin typeface="Lexend"/>
              <a:ea typeface="Lexend"/>
              <a:cs typeface="Lexend"/>
              <a:sym typeface="Lexend"/>
            </a:endParaRPr>
          </a:p>
        </p:txBody>
      </p:sp>
      <p:graphicFrame>
        <p:nvGraphicFramePr>
          <p:cNvPr id="390" name="Google Shape;390;p16"/>
          <p:cNvGraphicFramePr/>
          <p:nvPr/>
        </p:nvGraphicFramePr>
        <p:xfrm>
          <a:off x="6013350" y="3143763"/>
          <a:ext cx="2658000" cy="1706680"/>
        </p:xfrm>
        <a:graphic>
          <a:graphicData uri="http://schemas.openxmlformats.org/drawingml/2006/table">
            <a:tbl>
              <a:tblPr>
                <a:noFill/>
                <a:tableStyleId>{B8399E05-102B-49B8-B008-7C1F9EC2AC45}</a:tableStyleId>
              </a:tblPr>
              <a:tblGrid>
                <a:gridCol w="886000">
                  <a:extLst>
                    <a:ext uri="{9D8B030D-6E8A-4147-A177-3AD203B41FA5}">
                      <a16:colId xmlns:a16="http://schemas.microsoft.com/office/drawing/2014/main" val="20000"/>
                    </a:ext>
                  </a:extLst>
                </a:gridCol>
                <a:gridCol w="886000">
                  <a:extLst>
                    <a:ext uri="{9D8B030D-6E8A-4147-A177-3AD203B41FA5}">
                      <a16:colId xmlns:a16="http://schemas.microsoft.com/office/drawing/2014/main" val="20001"/>
                    </a:ext>
                  </a:extLst>
                </a:gridCol>
                <a:gridCol w="886000">
                  <a:extLst>
                    <a:ext uri="{9D8B030D-6E8A-4147-A177-3AD203B41FA5}">
                      <a16:colId xmlns:a16="http://schemas.microsoft.com/office/drawing/2014/main" val="20002"/>
                    </a:ext>
                  </a:extLst>
                </a:gridCol>
              </a:tblGrid>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S</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Y</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Output</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0</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0</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1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17</a:t>
            </a:fld>
            <a:endParaRPr sz="1000" b="0" i="0" u="none" strike="noStrike" cap="none">
              <a:solidFill>
                <a:srgbClr val="595959"/>
              </a:solidFill>
              <a:latin typeface="Arial"/>
              <a:ea typeface="Arial"/>
              <a:cs typeface="Arial"/>
              <a:sym typeface="Arial"/>
            </a:endParaRPr>
          </a:p>
        </p:txBody>
      </p:sp>
      <p:grpSp>
        <p:nvGrpSpPr>
          <p:cNvPr id="397" name="Google Shape;397;p17"/>
          <p:cNvGrpSpPr/>
          <p:nvPr/>
        </p:nvGrpSpPr>
        <p:grpSpPr>
          <a:xfrm>
            <a:off x="50480" y="122879"/>
            <a:ext cx="277873" cy="68400"/>
            <a:chOff x="411700" y="2416840"/>
            <a:chExt cx="277873" cy="68400"/>
          </a:xfrm>
        </p:grpSpPr>
        <p:sp>
          <p:nvSpPr>
            <p:cNvPr id="398" name="Google Shape;398;p1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1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1" name="Google Shape;401;p17"/>
          <p:cNvSpPr txBox="1"/>
          <p:nvPr/>
        </p:nvSpPr>
        <p:spPr>
          <a:xfrm>
            <a:off x="209775" y="163775"/>
            <a:ext cx="717113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Adder-Subtractor</a:t>
            </a:r>
            <a:endParaRPr sz="3600" b="0" i="0" u="none" strike="noStrike" cap="none">
              <a:solidFill>
                <a:schemeClr val="dk1"/>
              </a:solidFill>
              <a:latin typeface="Lexend"/>
              <a:ea typeface="Lexend"/>
              <a:cs typeface="Lexend"/>
              <a:sym typeface="Lexend"/>
            </a:endParaRPr>
          </a:p>
        </p:txBody>
      </p:sp>
      <p:sp>
        <p:nvSpPr>
          <p:cNvPr id="402" name="Google Shape;402;p1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03" name="Google Shape;403;p17"/>
          <p:cNvSpPr txBox="1"/>
          <p:nvPr/>
        </p:nvSpPr>
        <p:spPr>
          <a:xfrm>
            <a:off x="328350" y="766838"/>
            <a:ext cx="8630700" cy="412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Adder cum subtractor circuit:</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Analysis: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If </a:t>
            </a:r>
            <a:r>
              <a:rPr lang="en" sz="1700" b="1" i="0" u="none" strike="noStrike" cap="none">
                <a:solidFill>
                  <a:schemeClr val="dk1"/>
                </a:solidFill>
                <a:latin typeface="Lexend"/>
                <a:ea typeface="Lexend"/>
                <a:cs typeface="Lexend"/>
                <a:sym typeface="Lexend"/>
              </a:rPr>
              <a:t>S</a:t>
            </a:r>
            <a:r>
              <a:rPr lang="en" sz="1700" b="0" i="0" u="none" strike="noStrike" cap="none">
                <a:solidFill>
                  <a:schemeClr val="dk1"/>
                </a:solidFill>
                <a:latin typeface="Lexend"/>
                <a:ea typeface="Lexend"/>
                <a:cs typeface="Lexend"/>
                <a:sym typeface="Lexend"/>
              </a:rPr>
              <a:t>=1, then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 </a:t>
            </a:r>
            <a:r>
              <a:rPr lang="en" sz="1700" b="1" i="0" u="none" strike="noStrike" cap="none">
                <a:solidFill>
                  <a:schemeClr val="dk1"/>
                </a:solidFill>
                <a:latin typeface="Lexend"/>
                <a:ea typeface="Lexend"/>
                <a:cs typeface="Lexend"/>
                <a:sym typeface="Lexend"/>
              </a:rPr>
              <a:t>X</a:t>
            </a:r>
            <a:r>
              <a:rPr lang="en" sz="1700" b="0" i="0" u="none" strike="noStrike" cap="none">
                <a:solidFill>
                  <a:schemeClr val="dk1"/>
                </a:solidFill>
                <a:latin typeface="Lexend"/>
                <a:ea typeface="Lexend"/>
                <a:cs typeface="Lexend"/>
                <a:sym typeface="Lexend"/>
              </a:rPr>
              <a:t> + (1's complement of </a:t>
            </a:r>
            <a:r>
              <a:rPr lang="en" sz="1700" b="1" i="0" u="none" strike="noStrike" cap="none">
                <a:solidFill>
                  <a:schemeClr val="dk1"/>
                </a:solidFill>
                <a:latin typeface="Lexend"/>
                <a:ea typeface="Lexend"/>
                <a:cs typeface="Lexend"/>
                <a:sym typeface="Lexend"/>
              </a:rPr>
              <a:t>Y</a:t>
            </a:r>
            <a:r>
              <a:rPr lang="en" sz="1700" b="0" i="0" u="none" strike="noStrike" cap="none">
                <a:solidFill>
                  <a:schemeClr val="dk1"/>
                </a:solidFill>
                <a:latin typeface="Lexend"/>
                <a:ea typeface="Lexend"/>
                <a:cs typeface="Lexend"/>
                <a:sym typeface="Lexend"/>
              </a:rPr>
              <a:t>) +1</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 appears as the result.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If </a:t>
            </a:r>
            <a:r>
              <a:rPr lang="en" sz="1700" b="1" i="0" u="none" strike="noStrike" cap="none">
                <a:solidFill>
                  <a:schemeClr val="dk1"/>
                </a:solidFill>
                <a:latin typeface="Lexend"/>
                <a:ea typeface="Lexend"/>
                <a:cs typeface="Lexend"/>
                <a:sym typeface="Lexend"/>
              </a:rPr>
              <a:t>S</a:t>
            </a:r>
            <a:r>
              <a:rPr lang="en" sz="1700" b="0" i="0" u="none" strike="noStrike" cap="none">
                <a:solidFill>
                  <a:schemeClr val="dk1"/>
                </a:solidFill>
                <a:latin typeface="Lexend"/>
                <a:ea typeface="Lexend"/>
                <a:cs typeface="Lexend"/>
                <a:sym typeface="Lexend"/>
              </a:rPr>
              <a:t>=0, then </a:t>
            </a:r>
            <a:r>
              <a:rPr lang="en" sz="1700" b="1" i="0" u="none" strike="noStrike" cap="none">
                <a:solidFill>
                  <a:schemeClr val="dk1"/>
                </a:solidFill>
                <a:latin typeface="Lexend"/>
                <a:ea typeface="Lexend"/>
                <a:cs typeface="Lexend"/>
                <a:sym typeface="Lexend"/>
              </a:rPr>
              <a:t>X</a:t>
            </a:r>
            <a:r>
              <a:rPr lang="en" sz="1700" b="0" i="0" u="none" strike="noStrike" cap="none">
                <a:solidFill>
                  <a:schemeClr val="dk1"/>
                </a:solidFill>
                <a:latin typeface="Lexend"/>
                <a:ea typeface="Lexend"/>
                <a:cs typeface="Lexend"/>
                <a:sym typeface="Lexend"/>
              </a:rPr>
              <a:t>+</a:t>
            </a:r>
            <a:r>
              <a:rPr lang="en" sz="1700" b="1" i="0" u="none" strike="noStrike" cap="none">
                <a:solidFill>
                  <a:schemeClr val="dk1"/>
                </a:solidFill>
                <a:latin typeface="Lexend"/>
                <a:ea typeface="Lexend"/>
                <a:cs typeface="Lexend"/>
                <a:sym typeface="Lexend"/>
              </a:rPr>
              <a:t>Y</a:t>
            </a:r>
            <a:r>
              <a:rPr lang="en" sz="1700" b="0" i="0" u="none" strike="noStrike" cap="none">
                <a:solidFill>
                  <a:schemeClr val="dk1"/>
                </a:solidFill>
                <a:latin typeface="Lexend"/>
                <a:ea typeface="Lexend"/>
                <a:cs typeface="Lexend"/>
                <a:sym typeface="Lexend"/>
              </a:rPr>
              <a:t> appears as</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 the result.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pic>
        <p:nvPicPr>
          <p:cNvPr id="404" name="Google Shape;404;p17" title="260_new_Slides-Overflow Detector.drawio (2).png"/>
          <p:cNvPicPr preferRelativeResize="0"/>
          <p:nvPr/>
        </p:nvPicPr>
        <p:blipFill rotWithShape="1">
          <a:blip r:embed="rId3">
            <a:alphaModFix/>
          </a:blip>
          <a:srcRect/>
          <a:stretch/>
        </p:blipFill>
        <p:spPr>
          <a:xfrm>
            <a:off x="3810000" y="1198450"/>
            <a:ext cx="5211150" cy="37337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0" name="Google Shape;410;p18"/>
          <p:cNvPicPr preferRelativeResize="0"/>
          <p:nvPr/>
        </p:nvPicPr>
        <p:blipFill rotWithShape="1">
          <a:blip r:embed="rId3">
            <a:alphaModFix/>
          </a:blip>
          <a:srcRect b="10185"/>
          <a:stretch/>
        </p:blipFill>
        <p:spPr>
          <a:xfrm>
            <a:off x="0" y="902675"/>
            <a:ext cx="2365851"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411" name="Google Shape;411;p1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18</a:t>
            </a:fld>
            <a:endParaRPr sz="1000" b="0" i="0" u="none" strike="noStrike" cap="none">
              <a:solidFill>
                <a:srgbClr val="595959"/>
              </a:solidFill>
              <a:latin typeface="Arial"/>
              <a:ea typeface="Arial"/>
              <a:cs typeface="Arial"/>
              <a:sym typeface="Arial"/>
            </a:endParaRPr>
          </a:p>
        </p:txBody>
      </p:sp>
      <p:grpSp>
        <p:nvGrpSpPr>
          <p:cNvPr id="412" name="Google Shape;412;p18"/>
          <p:cNvGrpSpPr/>
          <p:nvPr/>
        </p:nvGrpSpPr>
        <p:grpSpPr>
          <a:xfrm>
            <a:off x="50480" y="122879"/>
            <a:ext cx="277873" cy="68400"/>
            <a:chOff x="411700" y="2416840"/>
            <a:chExt cx="277873" cy="68400"/>
          </a:xfrm>
        </p:grpSpPr>
        <p:sp>
          <p:nvSpPr>
            <p:cNvPr id="413" name="Google Shape;413;p1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1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1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6" name="Google Shape;416;p18"/>
          <p:cNvSpPr txBox="1"/>
          <p:nvPr/>
        </p:nvSpPr>
        <p:spPr>
          <a:xfrm>
            <a:off x="209775" y="163775"/>
            <a:ext cx="6739041"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17" name="Google Shape;417;p1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18" name="Google Shape;418;p18"/>
          <p:cNvSpPr txBox="1"/>
          <p:nvPr/>
        </p:nvSpPr>
        <p:spPr>
          <a:xfrm>
            <a:off x="328350" y="766838"/>
            <a:ext cx="8630700" cy="369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Lexend"/>
                <a:ea typeface="Lexend"/>
                <a:cs typeface="Lexend"/>
                <a:sym typeface="Lexend"/>
              </a:rPr>
              <a:t>Applications: Condition Based Adder Subtractor </a:t>
            </a:r>
            <a:endParaRPr sz="2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Design a circuit that takes two binary number A, B and performs A-B, if certain condition is met or else perform A+B</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Two Methods</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Brute Force Approach: Find the minterms and use the SOP(s) directly</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Smart Approach: Find existing patterns within the SOP(s)</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1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1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19</a:t>
            </a:fld>
            <a:endParaRPr sz="1000" b="0" i="0" u="none" strike="noStrike" cap="none">
              <a:solidFill>
                <a:srgbClr val="595959"/>
              </a:solidFill>
              <a:latin typeface="Arial"/>
              <a:ea typeface="Arial"/>
              <a:cs typeface="Arial"/>
              <a:sym typeface="Arial"/>
            </a:endParaRPr>
          </a:p>
        </p:txBody>
      </p:sp>
      <p:grpSp>
        <p:nvGrpSpPr>
          <p:cNvPr id="425" name="Google Shape;425;p19"/>
          <p:cNvGrpSpPr/>
          <p:nvPr/>
        </p:nvGrpSpPr>
        <p:grpSpPr>
          <a:xfrm>
            <a:off x="50480" y="122879"/>
            <a:ext cx="277873" cy="68400"/>
            <a:chOff x="411700" y="2416840"/>
            <a:chExt cx="277873" cy="68400"/>
          </a:xfrm>
        </p:grpSpPr>
        <p:sp>
          <p:nvSpPr>
            <p:cNvPr id="426" name="Google Shape;426;p1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1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1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9" name="Google Shape;429;p19"/>
          <p:cNvSpPr txBox="1"/>
          <p:nvPr/>
        </p:nvSpPr>
        <p:spPr>
          <a:xfrm>
            <a:off x="209775" y="163775"/>
            <a:ext cx="765881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30" name="Google Shape;430;p1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31" name="Google Shape;431;p19"/>
          <p:cNvSpPr txBox="1"/>
          <p:nvPr/>
        </p:nvSpPr>
        <p:spPr>
          <a:xfrm>
            <a:off x="328350" y="766838"/>
            <a:ext cx="8630700" cy="1046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Times New Roman"/>
                <a:ea typeface="Times New Roman"/>
                <a:cs typeface="Times New Roman"/>
                <a:sym typeface="Times New Roman"/>
              </a:rPr>
              <a:t>Build a calculator that can add or subtract two 4-bit numbers: X and Y. Now, if both of the numbers are greater than or equal to 8, then the calculator will do the operation X+Y (addition). Otherwise, the calculator will do the operation X-Y(subtraction). </a:t>
            </a:r>
            <a:r>
              <a:rPr lang="en" sz="1200" b="1" i="0" u="none" strike="noStrike" cap="none">
                <a:solidFill>
                  <a:schemeClr val="dk1"/>
                </a:solidFill>
                <a:latin typeface="Times New Roman"/>
                <a:ea typeface="Times New Roman"/>
                <a:cs typeface="Times New Roman"/>
                <a:sym typeface="Times New Roman"/>
              </a:rPr>
              <a:t>Design </a:t>
            </a:r>
            <a:r>
              <a:rPr lang="en" sz="1200" b="0" i="0" u="none" strike="noStrike" cap="none">
                <a:solidFill>
                  <a:schemeClr val="dk1"/>
                </a:solidFill>
                <a:latin typeface="Times New Roman"/>
                <a:ea typeface="Times New Roman"/>
                <a:cs typeface="Times New Roman"/>
                <a:sym typeface="Times New Roman"/>
              </a:rPr>
              <a:t>the circuit using a 4-bit parallel adder-subtractor.</a:t>
            </a: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pic>
        <p:nvPicPr>
          <p:cNvPr id="432" name="Google Shape;432;p19"/>
          <p:cNvPicPr preferRelativeResize="0"/>
          <p:nvPr/>
        </p:nvPicPr>
        <p:blipFill rotWithShape="1">
          <a:blip r:embed="rId3">
            <a:alphaModFix/>
          </a:blip>
          <a:srcRect/>
          <a:stretch/>
        </p:blipFill>
        <p:spPr>
          <a:xfrm>
            <a:off x="2982200" y="1379650"/>
            <a:ext cx="4120302" cy="3504200"/>
          </a:xfrm>
          <a:prstGeom prst="rect">
            <a:avLst/>
          </a:prstGeom>
          <a:noFill/>
          <a:ln>
            <a:noFill/>
          </a:ln>
          <a:effectLst>
            <a:outerShdw blurRad="57150" dist="19050" algn="bl" rotWithShape="0">
              <a:srgbClr val="000000">
                <a:alpha val="10196"/>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2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20</a:t>
            </a:fld>
            <a:endParaRPr sz="1000" b="0" i="0" u="none" strike="noStrike" cap="none">
              <a:solidFill>
                <a:srgbClr val="595959"/>
              </a:solidFill>
              <a:latin typeface="Arial"/>
              <a:ea typeface="Arial"/>
              <a:cs typeface="Arial"/>
              <a:sym typeface="Arial"/>
            </a:endParaRPr>
          </a:p>
        </p:txBody>
      </p:sp>
      <p:grpSp>
        <p:nvGrpSpPr>
          <p:cNvPr id="439" name="Google Shape;439;p20"/>
          <p:cNvGrpSpPr/>
          <p:nvPr/>
        </p:nvGrpSpPr>
        <p:grpSpPr>
          <a:xfrm>
            <a:off x="50480" y="122879"/>
            <a:ext cx="277873" cy="68400"/>
            <a:chOff x="411700" y="2416840"/>
            <a:chExt cx="277873" cy="68400"/>
          </a:xfrm>
        </p:grpSpPr>
        <p:sp>
          <p:nvSpPr>
            <p:cNvPr id="440" name="Google Shape;440;p2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2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2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3" name="Google Shape;443;p20"/>
          <p:cNvSpPr txBox="1"/>
          <p:nvPr/>
        </p:nvSpPr>
        <p:spPr>
          <a:xfrm>
            <a:off x="209775" y="163775"/>
            <a:ext cx="729305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44" name="Google Shape;444;p2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45" name="Google Shape;445;p20"/>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Brute Force Approach</a:t>
            </a:r>
            <a:endParaRPr sz="2000" b="0" i="0" u="none" strike="noStrike" cap="none">
              <a:solidFill>
                <a:schemeClr val="dk1"/>
              </a:solidFill>
              <a:latin typeface="Lexend"/>
              <a:ea typeface="Lexend"/>
              <a:cs typeface="Lexend"/>
              <a:sym typeface="Lexend"/>
            </a:endParaRPr>
          </a:p>
        </p:txBody>
      </p:sp>
      <p:sp>
        <p:nvSpPr>
          <p:cNvPr id="446" name="Google Shape;446;p20"/>
          <p:cNvSpPr txBox="1"/>
          <p:nvPr/>
        </p:nvSpPr>
        <p:spPr>
          <a:xfrm>
            <a:off x="5543675" y="1332750"/>
            <a:ext cx="3600600" cy="318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Only the numbers 0 and 12 are divisible by 12 among all 4-bit numbers, So the following expression will solve the problem, </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     F(B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2</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1</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 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2</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1</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 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2</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1</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If the number of minterm increases, you may use KMAP to simplify the circuit.</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highlight>
                <a:srgbClr val="ECECEC"/>
              </a:highlight>
              <a:latin typeface="Lexend"/>
              <a:ea typeface="Lexend"/>
              <a:cs typeface="Lexend"/>
              <a:sym typeface="Lexend"/>
            </a:endParaRPr>
          </a:p>
        </p:txBody>
      </p:sp>
      <p:graphicFrame>
        <p:nvGraphicFramePr>
          <p:cNvPr id="447" name="Google Shape;447;p20"/>
          <p:cNvGraphicFramePr/>
          <p:nvPr/>
        </p:nvGraphicFramePr>
        <p:xfrm>
          <a:off x="5788700" y="1300438"/>
          <a:ext cx="2628600" cy="1310520"/>
        </p:xfrm>
        <a:graphic>
          <a:graphicData uri="http://schemas.openxmlformats.org/drawingml/2006/table">
            <a:tbl>
              <a:tblPr>
                <a:noFill/>
                <a:tableStyleId>{B8399E05-102B-49B8-B008-7C1F9EC2AC45}</a:tableStyleId>
              </a:tblPr>
              <a:tblGrid>
                <a:gridCol w="1314300">
                  <a:extLst>
                    <a:ext uri="{9D8B030D-6E8A-4147-A177-3AD203B41FA5}">
                      <a16:colId xmlns:a16="http://schemas.microsoft.com/office/drawing/2014/main" val="20000"/>
                    </a:ext>
                  </a:extLst>
                </a:gridCol>
                <a:gridCol w="1314300">
                  <a:extLst>
                    <a:ext uri="{9D8B030D-6E8A-4147-A177-3AD203B41FA5}">
                      <a16:colId xmlns:a16="http://schemas.microsoft.com/office/drawing/2014/main" val="20001"/>
                    </a:ext>
                  </a:extLst>
                </a:gridCol>
              </a:tblGrid>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Minterm</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Product</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0</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B</a:t>
                      </a:r>
                      <a:r>
                        <a:rPr lang="en" sz="1700" u="none" strike="noStrike" cap="none" baseline="-25000">
                          <a:latin typeface="Lexend Medium"/>
                          <a:ea typeface="Lexend Medium"/>
                          <a:cs typeface="Lexend Medium"/>
                          <a:sym typeface="Lexend Medium"/>
                        </a:rPr>
                        <a:t>3</a:t>
                      </a:r>
                      <a:r>
                        <a:rPr lang="en" sz="1700" u="none" strike="noStrike" cap="none">
                          <a:latin typeface="Lexend Medium"/>
                          <a:ea typeface="Lexend Medium"/>
                          <a:cs typeface="Lexend Medium"/>
                          <a:sym typeface="Lexend Medium"/>
                        </a:rPr>
                        <a:t>’</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2</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1</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0</a:t>
                      </a:r>
                      <a:r>
                        <a:rPr lang="en" sz="1700" u="none" strike="noStrike" cap="none">
                          <a:solidFill>
                            <a:schemeClr val="dk1"/>
                          </a:solidFill>
                          <a:latin typeface="Lexend Medium"/>
                          <a:ea typeface="Lexend Medium"/>
                          <a:cs typeface="Lexend Medium"/>
                          <a:sym typeface="Lexend Medium"/>
                        </a:rPr>
                        <a:t>’</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12</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3</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2</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1</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0</a:t>
                      </a:r>
                      <a:r>
                        <a:rPr lang="en" sz="1700" u="none" strike="noStrike" cap="none">
                          <a:solidFill>
                            <a:schemeClr val="dk1"/>
                          </a:solidFill>
                          <a:latin typeface="Lexend Medium"/>
                          <a:ea typeface="Lexend Medium"/>
                          <a:cs typeface="Lexend Medium"/>
                          <a:sym typeface="Lexend Medium"/>
                        </a:rPr>
                        <a:t>’</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pic>
        <p:nvPicPr>
          <p:cNvPr id="448" name="Google Shape;448;p20" title="brute 32.drawio.png"/>
          <p:cNvPicPr preferRelativeResize="0"/>
          <p:nvPr/>
        </p:nvPicPr>
        <p:blipFill rotWithShape="1">
          <a:blip r:embed="rId3">
            <a:alphaModFix/>
          </a:blip>
          <a:srcRect/>
          <a:stretch/>
        </p:blipFill>
        <p:spPr>
          <a:xfrm>
            <a:off x="209773" y="1190675"/>
            <a:ext cx="4859425" cy="36931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2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2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21</a:t>
            </a:fld>
            <a:endParaRPr sz="1000" b="0" i="0" u="none" strike="noStrike" cap="none">
              <a:solidFill>
                <a:srgbClr val="595959"/>
              </a:solidFill>
              <a:latin typeface="Arial"/>
              <a:ea typeface="Arial"/>
              <a:cs typeface="Arial"/>
              <a:sym typeface="Arial"/>
            </a:endParaRPr>
          </a:p>
        </p:txBody>
      </p:sp>
      <p:grpSp>
        <p:nvGrpSpPr>
          <p:cNvPr id="455" name="Google Shape;455;p21"/>
          <p:cNvGrpSpPr/>
          <p:nvPr/>
        </p:nvGrpSpPr>
        <p:grpSpPr>
          <a:xfrm>
            <a:off x="50480" y="122879"/>
            <a:ext cx="277873" cy="68400"/>
            <a:chOff x="411700" y="2416840"/>
            <a:chExt cx="277873" cy="68400"/>
          </a:xfrm>
        </p:grpSpPr>
        <p:sp>
          <p:nvSpPr>
            <p:cNvPr id="456" name="Google Shape;456;p2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2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2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9" name="Google Shape;459;p21"/>
          <p:cNvSpPr txBox="1"/>
          <p:nvPr/>
        </p:nvSpPr>
        <p:spPr>
          <a:xfrm>
            <a:off x="209775" y="163775"/>
            <a:ext cx="730049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60" name="Google Shape;460;p2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61" name="Google Shape;461;p21"/>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Patterns</a:t>
            </a:r>
            <a:endParaRPr sz="2000" b="0" i="0" u="none" strike="noStrike" cap="none">
              <a:solidFill>
                <a:schemeClr val="dk1"/>
              </a:solidFill>
              <a:latin typeface="Lexend"/>
              <a:ea typeface="Lexend"/>
              <a:cs typeface="Lexend"/>
              <a:sym typeface="Lexend"/>
            </a:endParaRPr>
          </a:p>
        </p:txBody>
      </p:sp>
      <p:sp>
        <p:nvSpPr>
          <p:cNvPr id="462" name="Google Shape;462;p21"/>
          <p:cNvSpPr txBox="1"/>
          <p:nvPr/>
        </p:nvSpPr>
        <p:spPr>
          <a:xfrm>
            <a:off x="5566625" y="1332750"/>
            <a:ext cx="3577500" cy="318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Possible combinations among 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 and B</a:t>
            </a:r>
            <a:r>
              <a:rPr lang="en" sz="1400" b="0" i="0" u="none" strike="noStrike" cap="none" baseline="-25000">
                <a:solidFill>
                  <a:schemeClr val="dk1"/>
                </a:solidFill>
                <a:latin typeface="Lexend"/>
                <a:ea typeface="Lexend"/>
                <a:cs typeface="Lexend"/>
                <a:sym typeface="Lexend"/>
              </a:rPr>
              <a:t>2 </a:t>
            </a:r>
            <a:r>
              <a:rPr lang="en" sz="1400" b="0" i="0" u="none" strike="noStrike" cap="none">
                <a:solidFill>
                  <a:schemeClr val="dk1"/>
                </a:solidFill>
                <a:latin typeface="Lexend"/>
                <a:ea typeface="Lexend"/>
                <a:cs typeface="Lexend"/>
                <a:sym typeface="Lexend"/>
              </a:rPr>
              <a:t>are 00 and 11, hence XNOR gate was used to combine them as only XNOR gate will provide 1 for these two unique combinations. NOR gate was used for latter variables for the same reason. </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Finally, combining them with AND gate ensures the output of the AND gate will only be 1 if the current combination is indeed divisible by 12. If C</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receives 1 then it will perform A-B.  </a:t>
            </a:r>
            <a:endParaRPr sz="1400" b="0" i="0" u="none" strike="noStrike" cap="none">
              <a:solidFill>
                <a:schemeClr val="dk1"/>
              </a:solidFill>
              <a:latin typeface="Lexend"/>
              <a:ea typeface="Lexend"/>
              <a:cs typeface="Lexend"/>
              <a:sym typeface="Lexend"/>
            </a:endParaRPr>
          </a:p>
        </p:txBody>
      </p:sp>
      <p:pic>
        <p:nvPicPr>
          <p:cNvPr id="463" name="Google Shape;463;p21" title="DIv by 12 pattern-Overflow Detector.drawio (1).png"/>
          <p:cNvPicPr preferRelativeResize="0"/>
          <p:nvPr/>
        </p:nvPicPr>
        <p:blipFill rotWithShape="1">
          <a:blip r:embed="rId3">
            <a:alphaModFix/>
          </a:blip>
          <a:srcRect/>
          <a:stretch/>
        </p:blipFill>
        <p:spPr>
          <a:xfrm>
            <a:off x="141200" y="1199600"/>
            <a:ext cx="5353650" cy="36842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2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2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22</a:t>
            </a:fld>
            <a:endParaRPr sz="1000" b="0" i="0" u="none" strike="noStrike" cap="none">
              <a:solidFill>
                <a:srgbClr val="595959"/>
              </a:solidFill>
              <a:latin typeface="Arial"/>
              <a:ea typeface="Arial"/>
              <a:cs typeface="Arial"/>
              <a:sym typeface="Arial"/>
            </a:endParaRPr>
          </a:p>
        </p:txBody>
      </p:sp>
      <p:grpSp>
        <p:nvGrpSpPr>
          <p:cNvPr id="470" name="Google Shape;470;p22"/>
          <p:cNvGrpSpPr/>
          <p:nvPr/>
        </p:nvGrpSpPr>
        <p:grpSpPr>
          <a:xfrm>
            <a:off x="50480" y="122879"/>
            <a:ext cx="277873" cy="68400"/>
            <a:chOff x="411700" y="2416840"/>
            <a:chExt cx="277873" cy="68400"/>
          </a:xfrm>
        </p:grpSpPr>
        <p:sp>
          <p:nvSpPr>
            <p:cNvPr id="471" name="Google Shape;471;p2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2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4" name="Google Shape;474;p22"/>
          <p:cNvSpPr txBox="1"/>
          <p:nvPr/>
        </p:nvSpPr>
        <p:spPr>
          <a:xfrm>
            <a:off x="209775" y="163775"/>
            <a:ext cx="740278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75" name="Google Shape;475;p2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76" name="Google Shape;476;p22"/>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Patterns (Cont)</a:t>
            </a:r>
            <a:endParaRPr sz="2000" b="0" i="0" u="none" strike="noStrike" cap="none">
              <a:solidFill>
                <a:schemeClr val="dk1"/>
              </a:solidFill>
              <a:latin typeface="Lexend"/>
              <a:ea typeface="Lexend"/>
              <a:cs typeface="Lexend"/>
              <a:sym typeface="Lexend"/>
            </a:endParaRPr>
          </a:p>
        </p:txBody>
      </p:sp>
      <p:sp>
        <p:nvSpPr>
          <p:cNvPr id="477" name="Google Shape;477;p22"/>
          <p:cNvSpPr txBox="1"/>
          <p:nvPr/>
        </p:nvSpPr>
        <p:spPr>
          <a:xfrm>
            <a:off x="1188650" y="3198775"/>
            <a:ext cx="6092400" cy="1602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The solution is simulated for both valid combinations who are divisible by 12, 0000 and 1100. The red circled elements indicate that the output of the intermediary gates cannot mismatch, any mismatch in those circled outputs means that the current combination is not divisible by 12 and the final output will give 0 which will result in C</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being 0 hence, performing A+B likewise</a:t>
            </a:r>
            <a:endParaRPr sz="1400" b="0" i="0" u="none" strike="noStrike" cap="none">
              <a:solidFill>
                <a:schemeClr val="dk1"/>
              </a:solidFill>
              <a:latin typeface="Lexend"/>
              <a:ea typeface="Lexend"/>
              <a:cs typeface="Lexend"/>
              <a:sym typeface="Lexend"/>
            </a:endParaRPr>
          </a:p>
        </p:txBody>
      </p:sp>
      <p:pic>
        <p:nvPicPr>
          <p:cNvPr id="478" name="Google Shape;478;p22" title="div 12 11.drawio.png"/>
          <p:cNvPicPr preferRelativeResize="0"/>
          <p:nvPr/>
        </p:nvPicPr>
        <p:blipFill rotWithShape="1">
          <a:blip r:embed="rId3">
            <a:alphaModFix/>
          </a:blip>
          <a:srcRect/>
          <a:stretch/>
        </p:blipFill>
        <p:spPr>
          <a:xfrm>
            <a:off x="4641575" y="1197050"/>
            <a:ext cx="4317475" cy="2114050"/>
          </a:xfrm>
          <a:prstGeom prst="rect">
            <a:avLst/>
          </a:prstGeom>
          <a:noFill/>
          <a:ln>
            <a:noFill/>
          </a:ln>
        </p:spPr>
      </p:pic>
      <p:pic>
        <p:nvPicPr>
          <p:cNvPr id="479" name="Google Shape;479;p22" title="div 12 00.drawio.png"/>
          <p:cNvPicPr preferRelativeResize="0"/>
          <p:nvPr/>
        </p:nvPicPr>
        <p:blipFill rotWithShape="1">
          <a:blip r:embed="rId4">
            <a:alphaModFix/>
          </a:blip>
          <a:srcRect/>
          <a:stretch/>
        </p:blipFill>
        <p:spPr>
          <a:xfrm>
            <a:off x="98325" y="1166925"/>
            <a:ext cx="4120624" cy="214416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2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23</a:t>
            </a:fld>
            <a:endParaRPr sz="1000" b="0" i="0" u="none" strike="noStrike" cap="none">
              <a:solidFill>
                <a:srgbClr val="595959"/>
              </a:solidFill>
              <a:latin typeface="Arial"/>
              <a:ea typeface="Arial"/>
              <a:cs typeface="Arial"/>
              <a:sym typeface="Arial"/>
            </a:endParaRPr>
          </a:p>
        </p:txBody>
      </p:sp>
      <p:grpSp>
        <p:nvGrpSpPr>
          <p:cNvPr id="486" name="Google Shape;486;p23"/>
          <p:cNvGrpSpPr/>
          <p:nvPr/>
        </p:nvGrpSpPr>
        <p:grpSpPr>
          <a:xfrm>
            <a:off x="50480" y="122879"/>
            <a:ext cx="277873" cy="68400"/>
            <a:chOff x="411700" y="2416840"/>
            <a:chExt cx="277873" cy="68400"/>
          </a:xfrm>
        </p:grpSpPr>
        <p:sp>
          <p:nvSpPr>
            <p:cNvPr id="487" name="Google Shape;487;p2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2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0" name="Google Shape;490;p23"/>
          <p:cNvSpPr txBox="1"/>
          <p:nvPr/>
        </p:nvSpPr>
        <p:spPr>
          <a:xfrm>
            <a:off x="209775" y="163775"/>
            <a:ext cx="9045900"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91" name="Google Shape;491;p2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492" name="Google Shape;492;p23"/>
          <p:cNvSpPr txBox="1"/>
          <p:nvPr/>
        </p:nvSpPr>
        <p:spPr>
          <a:xfrm>
            <a:off x="279575" y="766850"/>
            <a:ext cx="8679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Patterns (Alternate Solution)</a:t>
            </a:r>
            <a:endParaRPr sz="2000" b="0" i="0" u="none" strike="noStrike" cap="none">
              <a:solidFill>
                <a:schemeClr val="dk1"/>
              </a:solidFill>
              <a:latin typeface="Lexend"/>
              <a:ea typeface="Lexend"/>
              <a:cs typeface="Lexend"/>
              <a:sym typeface="Lexend"/>
            </a:endParaRPr>
          </a:p>
        </p:txBody>
      </p:sp>
      <p:sp>
        <p:nvSpPr>
          <p:cNvPr id="493" name="Google Shape;493;p23"/>
          <p:cNvSpPr txBox="1"/>
          <p:nvPr/>
        </p:nvSpPr>
        <p:spPr>
          <a:xfrm>
            <a:off x="1188650" y="3974450"/>
            <a:ext cx="6092400" cy="82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chemeClr val="dk1"/>
                </a:solidFill>
                <a:latin typeface="Lexend"/>
                <a:ea typeface="Lexend"/>
                <a:cs typeface="Lexend"/>
                <a:sym typeface="Lexend"/>
              </a:rPr>
              <a:t>The alternate solution using different logic gates also fulfill the same logic</a:t>
            </a:r>
            <a:endParaRPr sz="1700" b="0" i="0" u="none" strike="noStrike" cap="none">
              <a:solidFill>
                <a:schemeClr val="dk1"/>
              </a:solidFill>
              <a:latin typeface="Lexend"/>
              <a:ea typeface="Lexend"/>
              <a:cs typeface="Lexend"/>
              <a:sym typeface="Lexend"/>
            </a:endParaRPr>
          </a:p>
        </p:txBody>
      </p:sp>
      <p:pic>
        <p:nvPicPr>
          <p:cNvPr id="494" name="Google Shape;494;p23" title="div 12 00 alt.drawio.png"/>
          <p:cNvPicPr preferRelativeResize="0"/>
          <p:nvPr/>
        </p:nvPicPr>
        <p:blipFill rotWithShape="1">
          <a:blip r:embed="rId3">
            <a:alphaModFix/>
          </a:blip>
          <a:srcRect/>
          <a:stretch/>
        </p:blipFill>
        <p:spPr>
          <a:xfrm>
            <a:off x="130225" y="1212099"/>
            <a:ext cx="4476976" cy="2329574"/>
          </a:xfrm>
          <a:prstGeom prst="rect">
            <a:avLst/>
          </a:prstGeom>
          <a:noFill/>
          <a:ln>
            <a:noFill/>
          </a:ln>
        </p:spPr>
      </p:pic>
      <p:pic>
        <p:nvPicPr>
          <p:cNvPr id="495" name="Google Shape;495;p23" title="div 12 11 alt.drawio.png"/>
          <p:cNvPicPr preferRelativeResize="0"/>
          <p:nvPr/>
        </p:nvPicPr>
        <p:blipFill rotWithShape="1">
          <a:blip r:embed="rId4">
            <a:alphaModFix/>
          </a:blip>
          <a:srcRect/>
          <a:stretch/>
        </p:blipFill>
        <p:spPr>
          <a:xfrm>
            <a:off x="4822500" y="1314475"/>
            <a:ext cx="4245300" cy="22090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2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2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24</a:t>
            </a:fld>
            <a:endParaRPr sz="1000" b="0" i="0" u="none" strike="noStrike" cap="none">
              <a:solidFill>
                <a:srgbClr val="595959"/>
              </a:solidFill>
              <a:latin typeface="Arial"/>
              <a:ea typeface="Arial"/>
              <a:cs typeface="Arial"/>
              <a:sym typeface="Arial"/>
            </a:endParaRPr>
          </a:p>
        </p:txBody>
      </p:sp>
      <p:grpSp>
        <p:nvGrpSpPr>
          <p:cNvPr id="502" name="Google Shape;502;p24"/>
          <p:cNvGrpSpPr/>
          <p:nvPr/>
        </p:nvGrpSpPr>
        <p:grpSpPr>
          <a:xfrm>
            <a:off x="50480" y="122879"/>
            <a:ext cx="277873" cy="68400"/>
            <a:chOff x="411700" y="2416840"/>
            <a:chExt cx="277873" cy="68400"/>
          </a:xfrm>
        </p:grpSpPr>
        <p:sp>
          <p:nvSpPr>
            <p:cNvPr id="503" name="Google Shape;503;p2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2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2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06" name="Google Shape;506;p24"/>
          <p:cNvSpPr txBox="1"/>
          <p:nvPr/>
        </p:nvSpPr>
        <p:spPr>
          <a:xfrm>
            <a:off x="209775" y="163775"/>
            <a:ext cx="779596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16-bit Parallel Adder</a:t>
            </a:r>
            <a:endParaRPr sz="3600" b="0" i="0" u="none" strike="noStrike" cap="none">
              <a:solidFill>
                <a:schemeClr val="dk1"/>
              </a:solidFill>
              <a:latin typeface="Lexend"/>
              <a:ea typeface="Lexend"/>
              <a:cs typeface="Lexend"/>
              <a:sym typeface="Lexend"/>
            </a:endParaRPr>
          </a:p>
        </p:txBody>
      </p:sp>
      <p:sp>
        <p:nvSpPr>
          <p:cNvPr id="507" name="Google Shape;507;p2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508" name="Google Shape;508;p24"/>
          <p:cNvSpPr txBox="1"/>
          <p:nvPr/>
        </p:nvSpPr>
        <p:spPr>
          <a:xfrm>
            <a:off x="328350" y="766838"/>
            <a:ext cx="8630700" cy="11697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Larger parallel adders can be built from smaller ones.</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Example: a </a:t>
            </a:r>
            <a:r>
              <a:rPr lang="en" sz="2000" b="0" i="0" u="none" strike="noStrike" cap="none">
                <a:solidFill>
                  <a:srgbClr val="0000FF"/>
                </a:solidFill>
                <a:latin typeface="Lexend"/>
                <a:ea typeface="Lexend"/>
                <a:cs typeface="Lexend"/>
                <a:sym typeface="Lexend"/>
              </a:rPr>
              <a:t>16-bit parallel adder</a:t>
            </a:r>
            <a:r>
              <a:rPr lang="en" sz="2000" b="0" i="0" u="none" strike="noStrike" cap="none">
                <a:solidFill>
                  <a:schemeClr val="dk1"/>
                </a:solidFill>
                <a:latin typeface="Lexend"/>
                <a:ea typeface="Lexend"/>
                <a:cs typeface="Lexend"/>
                <a:sym typeface="Lexend"/>
              </a:rPr>
              <a:t> can be constructed from four 4-bit parallel adders:</a:t>
            </a:r>
            <a:endParaRPr sz="2000" b="0" i="0" u="none" strike="noStrike" cap="none">
              <a:solidFill>
                <a:schemeClr val="dk1"/>
              </a:solidFill>
              <a:latin typeface="Lexend"/>
              <a:ea typeface="Lexend"/>
              <a:cs typeface="Lexend"/>
              <a:sym typeface="Lexend"/>
            </a:endParaRPr>
          </a:p>
        </p:txBody>
      </p:sp>
      <p:pic>
        <p:nvPicPr>
          <p:cNvPr id="509" name="Google Shape;509;p24" title="16 bit pa.drawio.png"/>
          <p:cNvPicPr preferRelativeResize="0"/>
          <p:nvPr/>
        </p:nvPicPr>
        <p:blipFill rotWithShape="1">
          <a:blip r:embed="rId3">
            <a:alphaModFix/>
          </a:blip>
          <a:srcRect t="14163"/>
          <a:stretch/>
        </p:blipFill>
        <p:spPr>
          <a:xfrm>
            <a:off x="497100" y="2233350"/>
            <a:ext cx="8149801" cy="2582275"/>
          </a:xfrm>
          <a:prstGeom prst="rect">
            <a:avLst/>
          </a:prstGeom>
          <a:noFill/>
          <a:ln>
            <a:noFill/>
          </a:ln>
        </p:spPr>
      </p:pic>
      <p:sp>
        <p:nvSpPr>
          <p:cNvPr id="510" name="Google Shape;510;p24"/>
          <p:cNvSpPr txBox="1"/>
          <p:nvPr/>
        </p:nvSpPr>
        <p:spPr>
          <a:xfrm>
            <a:off x="1169200" y="1908000"/>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15</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12</a:t>
            </a:r>
            <a:endParaRPr sz="1500" b="0" i="1" u="none" strike="noStrike" cap="none" baseline="-25000">
              <a:solidFill>
                <a:srgbClr val="0000FF"/>
              </a:solidFill>
              <a:latin typeface="Lexend"/>
              <a:ea typeface="Lexend"/>
              <a:cs typeface="Lexend"/>
              <a:sym typeface="Lexend"/>
            </a:endParaRPr>
          </a:p>
        </p:txBody>
      </p:sp>
      <p:sp>
        <p:nvSpPr>
          <p:cNvPr id="511" name="Google Shape;511;p24"/>
          <p:cNvSpPr txBox="1"/>
          <p:nvPr/>
        </p:nvSpPr>
        <p:spPr>
          <a:xfrm>
            <a:off x="2907525" y="1891325"/>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11</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8</a:t>
            </a:r>
            <a:endParaRPr sz="1500" b="0" i="1" u="none" strike="noStrike" cap="none" baseline="-25000">
              <a:solidFill>
                <a:srgbClr val="0000FF"/>
              </a:solidFill>
              <a:latin typeface="Lexend"/>
              <a:ea typeface="Lexend"/>
              <a:cs typeface="Lexend"/>
              <a:sym typeface="Lexend"/>
            </a:endParaRPr>
          </a:p>
        </p:txBody>
      </p:sp>
      <p:sp>
        <p:nvSpPr>
          <p:cNvPr id="512" name="Google Shape;512;p24"/>
          <p:cNvSpPr txBox="1"/>
          <p:nvPr/>
        </p:nvSpPr>
        <p:spPr>
          <a:xfrm>
            <a:off x="4645850" y="1908000"/>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7</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4</a:t>
            </a:r>
            <a:endParaRPr sz="1500" b="0" i="1" u="none" strike="noStrike" cap="none" baseline="-25000">
              <a:solidFill>
                <a:srgbClr val="0000FF"/>
              </a:solidFill>
              <a:latin typeface="Lexend"/>
              <a:ea typeface="Lexend"/>
              <a:cs typeface="Lexend"/>
              <a:sym typeface="Lexend"/>
            </a:endParaRPr>
          </a:p>
        </p:txBody>
      </p:sp>
      <p:sp>
        <p:nvSpPr>
          <p:cNvPr id="513" name="Google Shape;513;p24"/>
          <p:cNvSpPr txBox="1"/>
          <p:nvPr/>
        </p:nvSpPr>
        <p:spPr>
          <a:xfrm>
            <a:off x="6384175" y="1908000"/>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3</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0</a:t>
            </a:r>
            <a:endParaRPr sz="1500" b="0" i="1" u="none" strike="noStrike" cap="none" baseline="-25000">
              <a:solidFill>
                <a:srgbClr val="0000FF"/>
              </a:solidFill>
              <a:latin typeface="Lexend"/>
              <a:ea typeface="Lexend"/>
              <a:cs typeface="Lexend"/>
              <a:sym typeface="Lexend"/>
            </a:endParaRPr>
          </a:p>
        </p:txBody>
      </p:sp>
      <p:sp>
        <p:nvSpPr>
          <p:cNvPr id="514" name="Google Shape;514;p24"/>
          <p:cNvSpPr txBox="1"/>
          <p:nvPr/>
        </p:nvSpPr>
        <p:spPr>
          <a:xfrm>
            <a:off x="1885963" y="1916338"/>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15</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12</a:t>
            </a:r>
            <a:endParaRPr sz="1500" b="0" i="1" u="none" strike="noStrike" cap="none" baseline="-25000">
              <a:solidFill>
                <a:srgbClr val="0000FF"/>
              </a:solidFill>
              <a:latin typeface="Lexend"/>
              <a:ea typeface="Lexend"/>
              <a:cs typeface="Lexend"/>
              <a:sym typeface="Lexend"/>
            </a:endParaRPr>
          </a:p>
        </p:txBody>
      </p:sp>
      <p:sp>
        <p:nvSpPr>
          <p:cNvPr id="515" name="Google Shape;515;p24"/>
          <p:cNvSpPr txBox="1"/>
          <p:nvPr/>
        </p:nvSpPr>
        <p:spPr>
          <a:xfrm>
            <a:off x="3624288" y="1899663"/>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11</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8</a:t>
            </a:r>
            <a:endParaRPr sz="1500" b="0" i="1" u="none" strike="noStrike" cap="none" baseline="-25000">
              <a:solidFill>
                <a:srgbClr val="0000FF"/>
              </a:solidFill>
              <a:latin typeface="Lexend"/>
              <a:ea typeface="Lexend"/>
              <a:cs typeface="Lexend"/>
              <a:sym typeface="Lexend"/>
            </a:endParaRPr>
          </a:p>
        </p:txBody>
      </p:sp>
      <p:sp>
        <p:nvSpPr>
          <p:cNvPr id="516" name="Google Shape;516;p24"/>
          <p:cNvSpPr txBox="1"/>
          <p:nvPr/>
        </p:nvSpPr>
        <p:spPr>
          <a:xfrm>
            <a:off x="5362613" y="1916338"/>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7</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4</a:t>
            </a:r>
            <a:endParaRPr sz="1500" b="0" i="1" u="none" strike="noStrike" cap="none" baseline="-25000">
              <a:solidFill>
                <a:srgbClr val="0000FF"/>
              </a:solidFill>
              <a:latin typeface="Lexend"/>
              <a:ea typeface="Lexend"/>
              <a:cs typeface="Lexend"/>
              <a:sym typeface="Lexend"/>
            </a:endParaRPr>
          </a:p>
        </p:txBody>
      </p:sp>
      <p:sp>
        <p:nvSpPr>
          <p:cNvPr id="517" name="Google Shape;517;p24"/>
          <p:cNvSpPr txBox="1"/>
          <p:nvPr/>
        </p:nvSpPr>
        <p:spPr>
          <a:xfrm>
            <a:off x="7100938" y="1916338"/>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3</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0</a:t>
            </a:r>
            <a:endParaRPr sz="1500" b="0" i="1" u="none" strike="noStrike" cap="none" baseline="-25000">
              <a:solidFill>
                <a:srgbClr val="0000FF"/>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2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2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25</a:t>
            </a:fld>
            <a:endParaRPr sz="1000" b="0" i="0" u="none" strike="noStrike" cap="none">
              <a:solidFill>
                <a:srgbClr val="595959"/>
              </a:solidFill>
              <a:latin typeface="Arial"/>
              <a:ea typeface="Arial"/>
              <a:cs typeface="Arial"/>
              <a:sym typeface="Arial"/>
            </a:endParaRPr>
          </a:p>
        </p:txBody>
      </p:sp>
      <p:grpSp>
        <p:nvGrpSpPr>
          <p:cNvPr id="524" name="Google Shape;524;p25"/>
          <p:cNvGrpSpPr/>
          <p:nvPr/>
        </p:nvGrpSpPr>
        <p:grpSpPr>
          <a:xfrm>
            <a:off x="50480" y="122879"/>
            <a:ext cx="277873" cy="68400"/>
            <a:chOff x="411700" y="2416840"/>
            <a:chExt cx="277873" cy="68400"/>
          </a:xfrm>
        </p:grpSpPr>
        <p:sp>
          <p:nvSpPr>
            <p:cNvPr id="525" name="Google Shape;525;p2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2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2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8" name="Google Shape;528;p25"/>
          <p:cNvSpPr txBox="1"/>
          <p:nvPr/>
        </p:nvSpPr>
        <p:spPr>
          <a:xfrm>
            <a:off x="209775" y="163775"/>
            <a:ext cx="7677794"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16-bit Parallel Adder</a:t>
            </a:r>
            <a:endParaRPr sz="3600" b="0" i="0" u="none" strike="noStrike" cap="none">
              <a:solidFill>
                <a:schemeClr val="dk1"/>
              </a:solidFill>
              <a:latin typeface="Lexend"/>
              <a:ea typeface="Lexend"/>
              <a:cs typeface="Lexend"/>
              <a:sym typeface="Lexend"/>
            </a:endParaRPr>
          </a:p>
        </p:txBody>
      </p:sp>
      <p:sp>
        <p:nvSpPr>
          <p:cNvPr id="529" name="Google Shape;529;p2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530" name="Google Shape;530;p25"/>
          <p:cNvSpPr txBox="1"/>
          <p:nvPr/>
        </p:nvSpPr>
        <p:spPr>
          <a:xfrm>
            <a:off x="328350" y="766838"/>
            <a:ext cx="8630700" cy="37557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48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Shortened notation for multiple lines.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16-bit parallel adder ripples carry from one 4-bit block to the next.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Such ripple-carry circuits are “slow” because of long delays needed to propagate the carries.</a:t>
            </a:r>
            <a:endParaRPr sz="2000" b="0" i="0" u="none" strike="noStrike" cap="none">
              <a:solidFill>
                <a:schemeClr val="dk1"/>
              </a:solidFill>
              <a:latin typeface="Lexend"/>
              <a:ea typeface="Lexend"/>
              <a:cs typeface="Lexend"/>
              <a:sym typeface="Lexend"/>
            </a:endParaRPr>
          </a:p>
        </p:txBody>
      </p:sp>
      <p:cxnSp>
        <p:nvCxnSpPr>
          <p:cNvPr id="531" name="Google Shape;531;p25"/>
          <p:cNvCxnSpPr/>
          <p:nvPr/>
        </p:nvCxnSpPr>
        <p:spPr>
          <a:xfrm>
            <a:off x="28575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2" name="Google Shape;532;p25"/>
          <p:cNvCxnSpPr/>
          <p:nvPr/>
        </p:nvCxnSpPr>
        <p:spPr>
          <a:xfrm flipH="1">
            <a:off x="2628900" y="1540450"/>
            <a:ext cx="381000" cy="304800"/>
          </a:xfrm>
          <a:prstGeom prst="straightConnector1">
            <a:avLst/>
          </a:prstGeom>
          <a:noFill/>
          <a:ln w="19050" cap="flat" cmpd="sng">
            <a:solidFill>
              <a:srgbClr val="000000"/>
            </a:solidFill>
            <a:prstDash val="solid"/>
            <a:miter lim="800000"/>
            <a:headEnd type="none" w="sm" len="sm"/>
            <a:tailEnd type="none" w="sm" len="sm"/>
          </a:ln>
        </p:spPr>
      </p:cxnSp>
      <p:sp>
        <p:nvSpPr>
          <p:cNvPr id="533" name="Google Shape;533;p25"/>
          <p:cNvSpPr txBox="1"/>
          <p:nvPr/>
        </p:nvSpPr>
        <p:spPr>
          <a:xfrm>
            <a:off x="2833687" y="1530925"/>
            <a:ext cx="304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534" name="Google Shape;534;p25"/>
          <p:cNvSpPr txBox="1"/>
          <p:nvPr/>
        </p:nvSpPr>
        <p:spPr>
          <a:xfrm>
            <a:off x="2324100" y="2226250"/>
            <a:ext cx="1143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S</a:t>
            </a:r>
            <a:r>
              <a:rPr lang="en" sz="2000" b="1" i="0" u="none" strike="noStrike" cap="none" baseline="-25000">
                <a:solidFill>
                  <a:srgbClr val="000000"/>
                </a:solidFill>
                <a:latin typeface="Arial"/>
                <a:ea typeface="Arial"/>
                <a:cs typeface="Arial"/>
                <a:sym typeface="Arial"/>
              </a:rPr>
              <a:t>3</a:t>
            </a:r>
            <a:r>
              <a:rPr lang="en" sz="2000" b="1" i="0" u="none" strike="noStrike" cap="none">
                <a:solidFill>
                  <a:srgbClr val="000000"/>
                </a:solidFill>
                <a:latin typeface="Arial"/>
                <a:ea typeface="Arial"/>
                <a:cs typeface="Arial"/>
                <a:sym typeface="Arial"/>
              </a:rPr>
              <a:t> .. S</a:t>
            </a:r>
            <a:r>
              <a:rPr lang="en" sz="2000" b="1" i="0" u="none" strike="noStrike" cap="none" baseline="-25000">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cxnSp>
        <p:nvCxnSpPr>
          <p:cNvPr id="535" name="Google Shape;535;p25"/>
          <p:cNvCxnSpPr/>
          <p:nvPr/>
        </p:nvCxnSpPr>
        <p:spPr>
          <a:xfrm>
            <a:off x="56007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6" name="Google Shape;536;p25"/>
          <p:cNvCxnSpPr/>
          <p:nvPr/>
        </p:nvCxnSpPr>
        <p:spPr>
          <a:xfrm>
            <a:off x="59055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7" name="Google Shape;537;p25"/>
          <p:cNvCxnSpPr/>
          <p:nvPr/>
        </p:nvCxnSpPr>
        <p:spPr>
          <a:xfrm>
            <a:off x="65151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8" name="Google Shape;538;p25"/>
          <p:cNvCxnSpPr/>
          <p:nvPr/>
        </p:nvCxnSpPr>
        <p:spPr>
          <a:xfrm>
            <a:off x="6210300" y="1311850"/>
            <a:ext cx="0" cy="914400"/>
          </a:xfrm>
          <a:prstGeom prst="straightConnector1">
            <a:avLst/>
          </a:prstGeom>
          <a:noFill/>
          <a:ln w="19050" cap="flat" cmpd="sng">
            <a:solidFill>
              <a:srgbClr val="000000"/>
            </a:solidFill>
            <a:prstDash val="solid"/>
            <a:miter lim="800000"/>
            <a:headEnd type="none" w="sm" len="sm"/>
            <a:tailEnd type="triangle" w="med" len="med"/>
          </a:ln>
        </p:spPr>
      </p:cxnSp>
      <p:sp>
        <p:nvSpPr>
          <p:cNvPr id="539" name="Google Shape;539;p25"/>
          <p:cNvSpPr txBox="1"/>
          <p:nvPr/>
        </p:nvSpPr>
        <p:spPr>
          <a:xfrm>
            <a:off x="5372100" y="2302450"/>
            <a:ext cx="14478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S</a:t>
            </a:r>
            <a:r>
              <a:rPr lang="en" sz="2000" b="1" i="0" u="none" strike="noStrike" cap="none" baseline="-25000">
                <a:solidFill>
                  <a:srgbClr val="000000"/>
                </a:solidFill>
                <a:latin typeface="Arial"/>
                <a:ea typeface="Arial"/>
                <a:cs typeface="Arial"/>
                <a:sym typeface="Arial"/>
              </a:rPr>
              <a:t>3</a:t>
            </a:r>
            <a:r>
              <a:rPr lang="en" sz="2000" b="1" i="0" u="none" strike="noStrike" cap="none">
                <a:solidFill>
                  <a:srgbClr val="000000"/>
                </a:solidFill>
                <a:latin typeface="Arial"/>
                <a:ea typeface="Arial"/>
                <a:cs typeface="Arial"/>
                <a:sym typeface="Arial"/>
              </a:rPr>
              <a:t> S</a:t>
            </a:r>
            <a:r>
              <a:rPr lang="en" sz="2000" b="1" i="0" u="none" strike="noStrike" cap="none" baseline="-25000">
                <a:solidFill>
                  <a:srgbClr val="000000"/>
                </a:solidFill>
                <a:latin typeface="Arial"/>
                <a:ea typeface="Arial"/>
                <a:cs typeface="Arial"/>
                <a:sym typeface="Arial"/>
              </a:rPr>
              <a:t>2 </a:t>
            </a:r>
            <a:r>
              <a:rPr lang="en" sz="2000" b="1" i="0" u="none" strike="noStrike" cap="none">
                <a:solidFill>
                  <a:srgbClr val="000000"/>
                </a:solidFill>
                <a:latin typeface="Arial"/>
                <a:ea typeface="Arial"/>
                <a:cs typeface="Arial"/>
                <a:sym typeface="Arial"/>
              </a:rPr>
              <a:t>S</a:t>
            </a:r>
            <a:r>
              <a:rPr lang="en" sz="2000" b="1" i="0" u="none" strike="noStrike" cap="none" baseline="-25000">
                <a:solidFill>
                  <a:srgbClr val="000000"/>
                </a:solidFill>
                <a:latin typeface="Arial"/>
                <a:ea typeface="Arial"/>
                <a:cs typeface="Arial"/>
                <a:sym typeface="Arial"/>
              </a:rPr>
              <a:t>1</a:t>
            </a:r>
            <a:r>
              <a:rPr lang="en" sz="2000" b="1" i="0" u="none" strike="noStrike" cap="none">
                <a:solidFill>
                  <a:srgbClr val="000000"/>
                </a:solidFill>
                <a:latin typeface="Arial"/>
                <a:ea typeface="Arial"/>
                <a:cs typeface="Arial"/>
                <a:sym typeface="Arial"/>
              </a:rPr>
              <a:t> S</a:t>
            </a:r>
            <a:r>
              <a:rPr lang="en" sz="2000" b="1" i="0" u="none" strike="noStrike" cap="none" baseline="-25000">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540" name="Google Shape;540;p25"/>
          <p:cNvSpPr txBox="1"/>
          <p:nvPr/>
        </p:nvSpPr>
        <p:spPr>
          <a:xfrm>
            <a:off x="3467100" y="1464250"/>
            <a:ext cx="19050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1" u="none" strike="noStrike" cap="none">
                <a:solidFill>
                  <a:srgbClr val="000000"/>
                </a:solidFill>
                <a:latin typeface="Arial"/>
                <a:ea typeface="Arial"/>
                <a:cs typeface="Arial"/>
                <a:sym typeface="Arial"/>
              </a:rPr>
              <a:t>is a shortened notation for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6"/>
          <p:cNvSpPr/>
          <p:nvPr/>
        </p:nvSpPr>
        <p:spPr>
          <a:xfrm>
            <a:off x="0" y="47928"/>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6" name="Google Shape;546;p26"/>
          <p:cNvPicPr preferRelativeResize="0"/>
          <p:nvPr/>
        </p:nvPicPr>
        <p:blipFill rotWithShape="1">
          <a:blip r:embed="rId3">
            <a:alphaModFix/>
          </a:blip>
          <a:srcRect b="10185"/>
          <a:stretch/>
        </p:blipFill>
        <p:spPr>
          <a:xfrm>
            <a:off x="0" y="849000"/>
            <a:ext cx="1901673"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47" name="Google Shape;547;p2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26</a:t>
            </a:fld>
            <a:endParaRPr sz="1000" b="0" i="0" u="none" strike="noStrike" cap="none">
              <a:solidFill>
                <a:srgbClr val="595959"/>
              </a:solidFill>
              <a:latin typeface="Arial"/>
              <a:ea typeface="Arial"/>
              <a:cs typeface="Arial"/>
              <a:sym typeface="Arial"/>
            </a:endParaRPr>
          </a:p>
        </p:txBody>
      </p:sp>
      <p:grpSp>
        <p:nvGrpSpPr>
          <p:cNvPr id="548" name="Google Shape;548;p26"/>
          <p:cNvGrpSpPr/>
          <p:nvPr/>
        </p:nvGrpSpPr>
        <p:grpSpPr>
          <a:xfrm>
            <a:off x="50480" y="122879"/>
            <a:ext cx="277873" cy="68400"/>
            <a:chOff x="411700" y="2416840"/>
            <a:chExt cx="277873" cy="68400"/>
          </a:xfrm>
        </p:grpSpPr>
        <p:sp>
          <p:nvSpPr>
            <p:cNvPr id="549" name="Google Shape;549;p2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2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2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52" name="Google Shape;552;p26"/>
          <p:cNvSpPr txBox="1"/>
          <p:nvPr/>
        </p:nvSpPr>
        <p:spPr>
          <a:xfrm>
            <a:off x="209775" y="163775"/>
            <a:ext cx="8088203" cy="7080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400"/>
              <a:buFont typeface="Arial"/>
              <a:buNone/>
            </a:pPr>
            <a:r>
              <a:rPr lang="en" sz="3400" b="0" i="0" u="none" strike="noStrike" cap="none">
                <a:solidFill>
                  <a:schemeClr val="dk1"/>
                </a:solidFill>
                <a:latin typeface="Lexend"/>
                <a:ea typeface="Lexend"/>
                <a:cs typeface="Lexend"/>
                <a:sym typeface="Lexend"/>
              </a:rPr>
              <a:t>Arithmetic Circuits: Cascading Adders</a:t>
            </a:r>
            <a:endParaRPr sz="3400" b="0" i="0" u="none" strike="noStrike" cap="none">
              <a:solidFill>
                <a:schemeClr val="dk1"/>
              </a:solidFill>
              <a:latin typeface="Lexend"/>
              <a:ea typeface="Lexend"/>
              <a:cs typeface="Lexend"/>
              <a:sym typeface="Lexend"/>
            </a:endParaRPr>
          </a:p>
        </p:txBody>
      </p:sp>
      <p:sp>
        <p:nvSpPr>
          <p:cNvPr id="553" name="Google Shape;553;p2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554" name="Google Shape;554;p26"/>
          <p:cNvSpPr txBox="1"/>
          <p:nvPr/>
        </p:nvSpPr>
        <p:spPr>
          <a:xfrm>
            <a:off x="294153" y="1147412"/>
            <a:ext cx="8630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chemeClr val="dk1"/>
              </a:buClr>
              <a:buSzPts val="1100"/>
              <a:buFont typeface="Arial"/>
              <a:buNone/>
            </a:pPr>
            <a:r>
              <a:rPr lang="en" sz="2000" b="0" i="0" u="none" strike="noStrike" cap="none" dirty="0">
                <a:solidFill>
                  <a:schemeClr val="dk1"/>
                </a:solidFill>
                <a:latin typeface="Lexend"/>
                <a:ea typeface="Lexend"/>
                <a:cs typeface="Lexend"/>
                <a:sym typeface="Lexend"/>
              </a:rPr>
              <a:t>Application: 6-person voting system. </a:t>
            </a:r>
            <a:endParaRPr sz="2000" b="0" i="0" u="none" strike="noStrike" cap="none" dirty="0">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Char char="●"/>
            </a:pPr>
            <a:r>
              <a:rPr lang="en" sz="2000" b="0" i="0" u="none" strike="noStrike" cap="none" dirty="0">
                <a:solidFill>
                  <a:schemeClr val="dk1"/>
                </a:solidFill>
                <a:latin typeface="Lexend"/>
                <a:ea typeface="Lexend"/>
                <a:cs typeface="Lexend"/>
                <a:sym typeface="Lexend"/>
              </a:rPr>
              <a:t>Use FAs and a 4-bit binary parallel adder.</a:t>
            </a:r>
            <a:endParaRPr sz="2000" b="0" i="0" u="none" strike="noStrike" cap="none" dirty="0">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dirty="0">
                <a:solidFill>
                  <a:schemeClr val="dk1"/>
                </a:solidFill>
                <a:latin typeface="Lexend"/>
                <a:ea typeface="Lexend"/>
                <a:cs typeface="Lexend"/>
                <a:sym typeface="Lexend"/>
              </a:rPr>
              <a:t>Each FA can sum up to 3 votes.</a:t>
            </a:r>
            <a:endParaRPr sz="2000" b="0" i="0" u="none" strike="noStrike" cap="none" dirty="0">
              <a:solidFill>
                <a:schemeClr val="dk1"/>
              </a:solidFill>
              <a:latin typeface="Lexend"/>
              <a:ea typeface="Lexend"/>
              <a:cs typeface="Lexend"/>
              <a:sym typeface="Lexend"/>
            </a:endParaRPr>
          </a:p>
        </p:txBody>
      </p:sp>
      <p:pic>
        <p:nvPicPr>
          <p:cNvPr id="555" name="Google Shape;555;p26"/>
          <p:cNvPicPr preferRelativeResize="0"/>
          <p:nvPr/>
        </p:nvPicPr>
        <p:blipFill rotWithShape="1">
          <a:blip r:embed="rId4">
            <a:alphaModFix/>
          </a:blip>
          <a:srcRect/>
          <a:stretch/>
        </p:blipFill>
        <p:spPr>
          <a:xfrm>
            <a:off x="2094161" y="1936550"/>
            <a:ext cx="4955686" cy="2870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61" name="Google Shape;561;p27"/>
          <p:cNvPicPr preferRelativeResize="0"/>
          <p:nvPr/>
        </p:nvPicPr>
        <p:blipFill rotWithShape="1">
          <a:blip r:embed="rId3">
            <a:alphaModFix/>
          </a:blip>
          <a:srcRect b="10185"/>
          <a:stretch/>
        </p:blipFill>
        <p:spPr>
          <a:xfrm>
            <a:off x="0" y="849000"/>
            <a:ext cx="1594701"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62" name="Google Shape;562;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27</a:t>
            </a:fld>
            <a:endParaRPr sz="1000" b="0" i="0" u="none" strike="noStrike" cap="none">
              <a:solidFill>
                <a:srgbClr val="595959"/>
              </a:solidFill>
              <a:latin typeface="Arial"/>
              <a:ea typeface="Arial"/>
              <a:cs typeface="Arial"/>
              <a:sym typeface="Arial"/>
            </a:endParaRPr>
          </a:p>
        </p:txBody>
      </p:sp>
      <p:grpSp>
        <p:nvGrpSpPr>
          <p:cNvPr id="563" name="Google Shape;563;p27"/>
          <p:cNvGrpSpPr/>
          <p:nvPr/>
        </p:nvGrpSpPr>
        <p:grpSpPr>
          <a:xfrm>
            <a:off x="50480" y="122879"/>
            <a:ext cx="277873" cy="68400"/>
            <a:chOff x="411700" y="2416840"/>
            <a:chExt cx="277873" cy="68400"/>
          </a:xfrm>
        </p:grpSpPr>
        <p:sp>
          <p:nvSpPr>
            <p:cNvPr id="564" name="Google Shape;564;p2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2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2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67" name="Google Shape;567;p27"/>
          <p:cNvSpPr txBox="1"/>
          <p:nvPr/>
        </p:nvSpPr>
        <p:spPr>
          <a:xfrm>
            <a:off x="209775" y="163775"/>
            <a:ext cx="7658817"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 Try it yourself</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568" name="Google Shape;568;p2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569" name="Google Shape;569;p27"/>
          <p:cNvSpPr txBox="1"/>
          <p:nvPr/>
        </p:nvSpPr>
        <p:spPr>
          <a:xfrm>
            <a:off x="328350" y="766838"/>
            <a:ext cx="8630700" cy="221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Example:  Using Full adders and 4 Bit Parallel Adder,</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12 person voting system</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13 person voting system, your circuit must be efficient.</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14 person voting system</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Using Half Adder and 4 Bit Parallel Adder</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10 person voting system. Your circuit must be efficient</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2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5" name="Google Shape;575;p28"/>
          <p:cNvPicPr preferRelativeResize="0"/>
          <p:nvPr/>
        </p:nvPicPr>
        <p:blipFill rotWithShape="1">
          <a:blip r:embed="rId3">
            <a:alphaModFix/>
          </a:blip>
          <a:srcRect b="10185"/>
          <a:stretch/>
        </p:blipFill>
        <p:spPr>
          <a:xfrm>
            <a:off x="0" y="849000"/>
            <a:ext cx="793602"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76" name="Google Shape;576;p2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28</a:t>
            </a:fld>
            <a:endParaRPr sz="1000" b="0" i="0" u="none" strike="noStrike" cap="none">
              <a:solidFill>
                <a:srgbClr val="595959"/>
              </a:solidFill>
              <a:latin typeface="Arial"/>
              <a:ea typeface="Arial"/>
              <a:cs typeface="Arial"/>
              <a:sym typeface="Arial"/>
            </a:endParaRPr>
          </a:p>
        </p:txBody>
      </p:sp>
      <p:grpSp>
        <p:nvGrpSpPr>
          <p:cNvPr id="577" name="Google Shape;577;p28"/>
          <p:cNvGrpSpPr/>
          <p:nvPr/>
        </p:nvGrpSpPr>
        <p:grpSpPr>
          <a:xfrm>
            <a:off x="50480" y="122879"/>
            <a:ext cx="277873" cy="68400"/>
            <a:chOff x="411700" y="2416840"/>
            <a:chExt cx="277873" cy="68400"/>
          </a:xfrm>
        </p:grpSpPr>
        <p:sp>
          <p:nvSpPr>
            <p:cNvPr id="578" name="Google Shape;578;p2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2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2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81" name="Google Shape;581;p28"/>
          <p:cNvSpPr txBox="1"/>
          <p:nvPr/>
        </p:nvSpPr>
        <p:spPr>
          <a:xfrm>
            <a:off x="209775" y="163775"/>
            <a:ext cx="7690641"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Solution of 1</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582" name="Google Shape;582;p2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583" name="Google Shape;583;p28"/>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48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12 person voting system</a:t>
            </a:r>
            <a:endParaRPr sz="2000" b="0" i="0" u="none" strike="noStrike" cap="none">
              <a:solidFill>
                <a:schemeClr val="dk1"/>
              </a:solidFill>
              <a:latin typeface="Lexend"/>
              <a:ea typeface="Lexend"/>
              <a:cs typeface="Lexend"/>
              <a:sym typeface="Lexend"/>
            </a:endParaRPr>
          </a:p>
        </p:txBody>
      </p:sp>
      <p:pic>
        <p:nvPicPr>
          <p:cNvPr id="584" name="Google Shape;584;p28"/>
          <p:cNvPicPr preferRelativeResize="0"/>
          <p:nvPr/>
        </p:nvPicPr>
        <p:blipFill rotWithShape="1">
          <a:blip r:embed="rId4">
            <a:alphaModFix/>
          </a:blip>
          <a:srcRect/>
          <a:stretch/>
        </p:blipFill>
        <p:spPr>
          <a:xfrm>
            <a:off x="2205039" y="1259450"/>
            <a:ext cx="4733924" cy="3584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2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0" name="Google Shape;590;p29"/>
          <p:cNvPicPr preferRelativeResize="0"/>
          <p:nvPr/>
        </p:nvPicPr>
        <p:blipFill rotWithShape="1">
          <a:blip r:embed="rId3">
            <a:alphaModFix/>
          </a:blip>
          <a:srcRect b="10185"/>
          <a:stretch/>
        </p:blipFill>
        <p:spPr>
          <a:xfrm>
            <a:off x="0" y="849000"/>
            <a:ext cx="1242826"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91" name="Google Shape;591;p2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29</a:t>
            </a:fld>
            <a:endParaRPr sz="1000" b="0" i="0" u="none" strike="noStrike" cap="none">
              <a:solidFill>
                <a:srgbClr val="595959"/>
              </a:solidFill>
              <a:latin typeface="Arial"/>
              <a:ea typeface="Arial"/>
              <a:cs typeface="Arial"/>
              <a:sym typeface="Arial"/>
            </a:endParaRPr>
          </a:p>
        </p:txBody>
      </p:sp>
      <p:grpSp>
        <p:nvGrpSpPr>
          <p:cNvPr id="592" name="Google Shape;592;p29"/>
          <p:cNvGrpSpPr/>
          <p:nvPr/>
        </p:nvGrpSpPr>
        <p:grpSpPr>
          <a:xfrm>
            <a:off x="50480" y="122879"/>
            <a:ext cx="277873" cy="68400"/>
            <a:chOff x="411700" y="2416840"/>
            <a:chExt cx="277873" cy="68400"/>
          </a:xfrm>
        </p:grpSpPr>
        <p:sp>
          <p:nvSpPr>
            <p:cNvPr id="593" name="Google Shape;593;p2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2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2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6" name="Google Shape;596;p29"/>
          <p:cNvSpPr txBox="1"/>
          <p:nvPr/>
        </p:nvSpPr>
        <p:spPr>
          <a:xfrm>
            <a:off x="209775" y="163775"/>
            <a:ext cx="8192939"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BCD to excess 3 code converter</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597" name="Google Shape;597;p2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598" name="Google Shape;598;p29"/>
          <p:cNvSpPr txBox="1"/>
          <p:nvPr/>
        </p:nvSpPr>
        <p:spPr>
          <a:xfrm>
            <a:off x="328350" y="766838"/>
            <a:ext cx="8630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Think: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A code converter that will take 4 bit BCD code as input and generate the Excess 3 output using 4 bit parallel adder.</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3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4" name="Google Shape;604;p30"/>
          <p:cNvPicPr preferRelativeResize="0"/>
          <p:nvPr/>
        </p:nvPicPr>
        <p:blipFill rotWithShape="1">
          <a:blip r:embed="rId3">
            <a:alphaModFix/>
          </a:blip>
          <a:srcRect b="10185"/>
          <a:stretch/>
        </p:blipFill>
        <p:spPr>
          <a:xfrm>
            <a:off x="0" y="849000"/>
            <a:ext cx="1617175"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605" name="Google Shape;605;p3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30</a:t>
            </a:fld>
            <a:endParaRPr sz="1000" b="0" i="0" u="none" strike="noStrike" cap="none">
              <a:solidFill>
                <a:srgbClr val="595959"/>
              </a:solidFill>
              <a:latin typeface="Arial"/>
              <a:ea typeface="Arial"/>
              <a:cs typeface="Arial"/>
              <a:sym typeface="Arial"/>
            </a:endParaRPr>
          </a:p>
        </p:txBody>
      </p:sp>
      <p:grpSp>
        <p:nvGrpSpPr>
          <p:cNvPr id="606" name="Google Shape;606;p30"/>
          <p:cNvGrpSpPr/>
          <p:nvPr/>
        </p:nvGrpSpPr>
        <p:grpSpPr>
          <a:xfrm>
            <a:off x="50480" y="122879"/>
            <a:ext cx="277873" cy="68400"/>
            <a:chOff x="411700" y="2416840"/>
            <a:chExt cx="277873" cy="68400"/>
          </a:xfrm>
        </p:grpSpPr>
        <p:sp>
          <p:nvSpPr>
            <p:cNvPr id="607" name="Google Shape;607;p3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3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3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0" name="Google Shape;610;p30"/>
          <p:cNvSpPr txBox="1"/>
          <p:nvPr/>
        </p:nvSpPr>
        <p:spPr>
          <a:xfrm>
            <a:off x="209775" y="163775"/>
            <a:ext cx="7719777"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BCD to excess 3 code converter</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611" name="Google Shape;611;p3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612" name="Google Shape;612;p30"/>
          <p:cNvSpPr txBox="1"/>
          <p:nvPr/>
        </p:nvSpPr>
        <p:spPr>
          <a:xfrm>
            <a:off x="328350" y="766838"/>
            <a:ext cx="8630700" cy="252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Solution: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Inspection of truth table of ‘excess 3 from BCD’ shows that we can get excess-3 code from BCD by adding ‘0011’ to each BCD number. This addition can be implemented by means of 4-bit full adder MSI circuit.</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Let, ABCD as BCD input and WXYZ as Excess 3 output</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3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18" name="Google Shape;618;p31"/>
          <p:cNvPicPr preferRelativeResize="0"/>
          <p:nvPr/>
        </p:nvPicPr>
        <p:blipFill rotWithShape="1">
          <a:blip r:embed="rId3">
            <a:alphaModFix/>
          </a:blip>
          <a:srcRect b="10185"/>
          <a:stretch/>
        </p:blipFill>
        <p:spPr>
          <a:xfrm>
            <a:off x="0" y="849000"/>
            <a:ext cx="1617175"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619" name="Google Shape;619;p3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31</a:t>
            </a:fld>
            <a:endParaRPr sz="1000" b="0" i="0" u="none" strike="noStrike" cap="none">
              <a:solidFill>
                <a:srgbClr val="595959"/>
              </a:solidFill>
              <a:latin typeface="Arial"/>
              <a:ea typeface="Arial"/>
              <a:cs typeface="Arial"/>
              <a:sym typeface="Arial"/>
            </a:endParaRPr>
          </a:p>
        </p:txBody>
      </p:sp>
      <p:grpSp>
        <p:nvGrpSpPr>
          <p:cNvPr id="620" name="Google Shape;620;p31"/>
          <p:cNvGrpSpPr/>
          <p:nvPr/>
        </p:nvGrpSpPr>
        <p:grpSpPr>
          <a:xfrm>
            <a:off x="50480" y="122879"/>
            <a:ext cx="277873" cy="68400"/>
            <a:chOff x="411700" y="2416840"/>
            <a:chExt cx="277873" cy="68400"/>
          </a:xfrm>
        </p:grpSpPr>
        <p:sp>
          <p:nvSpPr>
            <p:cNvPr id="621" name="Google Shape;621;p3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3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3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24" name="Google Shape;624;p31"/>
          <p:cNvSpPr txBox="1"/>
          <p:nvPr/>
        </p:nvSpPr>
        <p:spPr>
          <a:xfrm>
            <a:off x="209775" y="163775"/>
            <a:ext cx="7378401"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BCD to excess 3 code converter</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625" name="Google Shape;625;p3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626" name="Google Shape;626;p31"/>
          <p:cNvSpPr txBox="1"/>
          <p:nvPr/>
        </p:nvSpPr>
        <p:spPr>
          <a:xfrm>
            <a:off x="328350" y="766838"/>
            <a:ext cx="86307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Solution: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Let, ABCD as BCD input and WXYZ as Excess 3 output</a:t>
            </a:r>
            <a:endParaRPr sz="2000" b="0" i="0" u="none" strike="noStrike" cap="none">
              <a:solidFill>
                <a:schemeClr val="dk1"/>
              </a:solidFill>
              <a:latin typeface="Lexend"/>
              <a:ea typeface="Lexend"/>
              <a:cs typeface="Lexend"/>
              <a:sym typeface="Lexend"/>
            </a:endParaRPr>
          </a:p>
        </p:txBody>
      </p:sp>
      <p:pic>
        <p:nvPicPr>
          <p:cNvPr id="627" name="Google Shape;627;p31" title="260_new_Slides-Overflow Detector.drawio (1).png"/>
          <p:cNvPicPr preferRelativeResize="0"/>
          <p:nvPr/>
        </p:nvPicPr>
        <p:blipFill rotWithShape="1">
          <a:blip r:embed="rId4">
            <a:alphaModFix/>
          </a:blip>
          <a:srcRect/>
          <a:stretch/>
        </p:blipFill>
        <p:spPr>
          <a:xfrm>
            <a:off x="2967013" y="1543375"/>
            <a:ext cx="3209971" cy="3333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3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3" name="Google Shape;633;p32"/>
          <p:cNvPicPr preferRelativeResize="0"/>
          <p:nvPr/>
        </p:nvPicPr>
        <p:blipFill rotWithShape="1">
          <a:blip r:embed="rId3">
            <a:alphaModFix/>
          </a:blip>
          <a:srcRect b="10185"/>
          <a:stretch/>
        </p:blipFill>
        <p:spPr>
          <a:xfrm>
            <a:off x="0" y="3409525"/>
            <a:ext cx="1946599"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634" name="Google Shape;634;p3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32</a:t>
            </a:fld>
            <a:endParaRPr sz="1000" b="0" i="0" u="none" strike="noStrike" cap="none">
              <a:solidFill>
                <a:srgbClr val="595959"/>
              </a:solidFill>
              <a:latin typeface="Arial"/>
              <a:ea typeface="Arial"/>
              <a:cs typeface="Arial"/>
              <a:sym typeface="Arial"/>
            </a:endParaRPr>
          </a:p>
        </p:txBody>
      </p:sp>
      <p:sp>
        <p:nvSpPr>
          <p:cNvPr id="635" name="Google Shape;635;p32"/>
          <p:cNvSpPr txBox="1"/>
          <p:nvPr/>
        </p:nvSpPr>
        <p:spPr>
          <a:xfrm>
            <a:off x="256650" y="1120638"/>
            <a:ext cx="8630700" cy="846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292929"/>
              </a:buClr>
              <a:buSzPts val="2000"/>
              <a:buFont typeface="Lexend"/>
              <a:buChar char="●"/>
            </a:pPr>
            <a:r>
              <a:rPr lang="en" sz="2000" b="0" i="0" u="none" strike="noStrike" cap="none">
                <a:solidFill>
                  <a:srgbClr val="292929"/>
                </a:solidFill>
                <a:latin typeface="Lexend"/>
                <a:ea typeface="Lexend"/>
                <a:cs typeface="Lexend"/>
                <a:sym typeface="Lexend"/>
              </a:rPr>
              <a:t>Code converters – take an input code, translate to its equivalent output code. </a:t>
            </a:r>
            <a:endParaRPr sz="2000" b="0" i="0" u="none" strike="noStrike" cap="none">
              <a:solidFill>
                <a:srgbClr val="292929"/>
              </a:solidFill>
              <a:latin typeface="Lexend"/>
              <a:ea typeface="Lexend"/>
              <a:cs typeface="Lexend"/>
              <a:sym typeface="Lexend"/>
            </a:endParaRPr>
          </a:p>
        </p:txBody>
      </p:sp>
      <p:grpSp>
        <p:nvGrpSpPr>
          <p:cNvPr id="636" name="Google Shape;636;p32"/>
          <p:cNvGrpSpPr/>
          <p:nvPr/>
        </p:nvGrpSpPr>
        <p:grpSpPr>
          <a:xfrm>
            <a:off x="50480" y="122879"/>
            <a:ext cx="277873" cy="68400"/>
            <a:chOff x="411700" y="2416840"/>
            <a:chExt cx="277873" cy="68400"/>
          </a:xfrm>
        </p:grpSpPr>
        <p:sp>
          <p:nvSpPr>
            <p:cNvPr id="637" name="Google Shape;637;p3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3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3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40" name="Google Shape;640;p32"/>
          <p:cNvSpPr txBox="1"/>
          <p:nvPr/>
        </p:nvSpPr>
        <p:spPr>
          <a:xfrm>
            <a:off x="209775" y="163775"/>
            <a:ext cx="765881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Code Converters</a:t>
            </a:r>
            <a:endParaRPr sz="3600" b="0" i="0" u="none" strike="noStrike" cap="none">
              <a:solidFill>
                <a:schemeClr val="dk1"/>
              </a:solidFill>
              <a:latin typeface="Lexend"/>
              <a:ea typeface="Lexend"/>
              <a:cs typeface="Lexend"/>
              <a:sym typeface="Lexend"/>
            </a:endParaRPr>
          </a:p>
        </p:txBody>
      </p:sp>
      <p:sp>
        <p:nvSpPr>
          <p:cNvPr id="641" name="Google Shape;641;p3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grpSp>
        <p:nvGrpSpPr>
          <p:cNvPr id="642" name="Google Shape;642;p32"/>
          <p:cNvGrpSpPr/>
          <p:nvPr/>
        </p:nvGrpSpPr>
        <p:grpSpPr>
          <a:xfrm>
            <a:off x="2000250" y="1891850"/>
            <a:ext cx="5143500" cy="952500"/>
            <a:chOff x="1536" y="1728"/>
            <a:chExt cx="3240" cy="600"/>
          </a:xfrm>
        </p:grpSpPr>
        <p:sp>
          <p:nvSpPr>
            <p:cNvPr id="643" name="Google Shape;643;p32"/>
            <p:cNvSpPr txBox="1"/>
            <p:nvPr/>
          </p:nvSpPr>
          <p:spPr>
            <a:xfrm>
              <a:off x="2640" y="1728"/>
              <a:ext cx="9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644" name="Google Shape;644;p32"/>
            <p:cNvSpPr txBox="1"/>
            <p:nvPr/>
          </p:nvSpPr>
          <p:spPr>
            <a:xfrm>
              <a:off x="2688" y="1824"/>
              <a:ext cx="9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1800" b="1" i="0" u="none" strike="noStrike" cap="none">
                  <a:solidFill>
                    <a:srgbClr val="000000"/>
                  </a:solidFill>
                  <a:latin typeface="Lexend"/>
                  <a:ea typeface="Lexend"/>
                  <a:cs typeface="Lexend"/>
                  <a:sym typeface="Lexend"/>
                </a:rPr>
                <a:t>Code</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1800" b="1" i="0" u="none" strike="noStrike" cap="none">
                  <a:solidFill>
                    <a:srgbClr val="000000"/>
                  </a:solidFill>
                  <a:latin typeface="Lexend"/>
                  <a:ea typeface="Lexend"/>
                  <a:cs typeface="Lexend"/>
                  <a:sym typeface="Lexend"/>
                </a:rPr>
                <a:t>converter</a:t>
              </a:r>
              <a:endParaRPr sz="1200" b="0" i="0" u="none" strike="noStrike" cap="none">
                <a:solidFill>
                  <a:srgbClr val="000000"/>
                </a:solidFill>
                <a:latin typeface="Lexend"/>
                <a:ea typeface="Lexend"/>
                <a:cs typeface="Lexend"/>
                <a:sym typeface="Lexend"/>
              </a:endParaRPr>
            </a:p>
          </p:txBody>
        </p:sp>
        <p:cxnSp>
          <p:nvCxnSpPr>
            <p:cNvPr id="645" name="Google Shape;645;p32"/>
            <p:cNvCxnSpPr/>
            <p:nvPr/>
          </p:nvCxnSpPr>
          <p:spPr>
            <a:xfrm>
              <a:off x="2064" y="1824"/>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46" name="Google Shape;646;p32"/>
            <p:cNvCxnSpPr/>
            <p:nvPr/>
          </p:nvCxnSpPr>
          <p:spPr>
            <a:xfrm>
              <a:off x="2064" y="1968"/>
              <a:ext cx="600" cy="0"/>
            </a:xfrm>
            <a:prstGeom prst="straightConnector1">
              <a:avLst/>
            </a:prstGeom>
            <a:noFill/>
            <a:ln w="15875" cap="flat" cmpd="sng">
              <a:solidFill>
                <a:srgbClr val="000000"/>
              </a:solidFill>
              <a:prstDash val="solid"/>
              <a:miter lim="800000"/>
              <a:headEnd type="none" w="sm" len="sm"/>
              <a:tailEnd type="triangle" w="med" len="med"/>
            </a:ln>
          </p:spPr>
        </p:cxnSp>
        <p:sp>
          <p:nvSpPr>
            <p:cNvPr id="647" name="Google Shape;647;p32"/>
            <p:cNvSpPr txBox="1"/>
            <p:nvPr/>
          </p:nvSpPr>
          <p:spPr>
            <a:xfrm>
              <a:off x="1536" y="187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Input</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18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code</a:t>
              </a:r>
              <a:endParaRPr sz="1200" b="0" i="0" u="none" strike="noStrike" cap="none">
                <a:solidFill>
                  <a:srgbClr val="000000"/>
                </a:solidFill>
                <a:latin typeface="Lexend"/>
                <a:ea typeface="Lexend"/>
                <a:cs typeface="Lexend"/>
                <a:sym typeface="Lexend"/>
              </a:endParaRPr>
            </a:p>
          </p:txBody>
        </p:sp>
        <p:cxnSp>
          <p:nvCxnSpPr>
            <p:cNvPr id="648" name="Google Shape;648;p32"/>
            <p:cNvCxnSpPr/>
            <p:nvPr/>
          </p:nvCxnSpPr>
          <p:spPr>
            <a:xfrm>
              <a:off x="2064" y="2112"/>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49" name="Google Shape;649;p32"/>
            <p:cNvCxnSpPr/>
            <p:nvPr/>
          </p:nvCxnSpPr>
          <p:spPr>
            <a:xfrm>
              <a:off x="2064" y="2256"/>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50" name="Google Shape;650;p32"/>
            <p:cNvCxnSpPr/>
            <p:nvPr/>
          </p:nvCxnSpPr>
          <p:spPr>
            <a:xfrm>
              <a:off x="3552" y="1824"/>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51" name="Google Shape;651;p32"/>
            <p:cNvCxnSpPr/>
            <p:nvPr/>
          </p:nvCxnSpPr>
          <p:spPr>
            <a:xfrm>
              <a:off x="3552" y="1968"/>
              <a:ext cx="600" cy="0"/>
            </a:xfrm>
            <a:prstGeom prst="straightConnector1">
              <a:avLst/>
            </a:prstGeom>
            <a:noFill/>
            <a:ln w="15875" cap="flat" cmpd="sng">
              <a:solidFill>
                <a:srgbClr val="000000"/>
              </a:solidFill>
              <a:prstDash val="solid"/>
              <a:miter lim="800000"/>
              <a:headEnd type="none" w="sm" len="sm"/>
              <a:tailEnd type="triangle" w="med" len="med"/>
            </a:ln>
          </p:spPr>
        </p:cxnSp>
        <p:sp>
          <p:nvSpPr>
            <p:cNvPr id="652" name="Google Shape;652;p32"/>
            <p:cNvSpPr txBox="1"/>
            <p:nvPr/>
          </p:nvSpPr>
          <p:spPr>
            <a:xfrm>
              <a:off x="4176" y="187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Output</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18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code</a:t>
              </a:r>
              <a:endParaRPr sz="1200" b="0" i="0" u="none" strike="noStrike" cap="none">
                <a:solidFill>
                  <a:srgbClr val="000000"/>
                </a:solidFill>
                <a:latin typeface="Lexend"/>
                <a:ea typeface="Lexend"/>
                <a:cs typeface="Lexend"/>
                <a:sym typeface="Lexend"/>
              </a:endParaRPr>
            </a:p>
          </p:txBody>
        </p:sp>
        <p:cxnSp>
          <p:nvCxnSpPr>
            <p:cNvPr id="653" name="Google Shape;653;p32"/>
            <p:cNvCxnSpPr/>
            <p:nvPr/>
          </p:nvCxnSpPr>
          <p:spPr>
            <a:xfrm>
              <a:off x="3552" y="2112"/>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54" name="Google Shape;654;p32"/>
            <p:cNvCxnSpPr/>
            <p:nvPr/>
          </p:nvCxnSpPr>
          <p:spPr>
            <a:xfrm>
              <a:off x="3552" y="2256"/>
              <a:ext cx="600" cy="0"/>
            </a:xfrm>
            <a:prstGeom prst="straightConnector1">
              <a:avLst/>
            </a:prstGeom>
            <a:noFill/>
            <a:ln w="15875" cap="flat" cmpd="sng">
              <a:solidFill>
                <a:srgbClr val="000000"/>
              </a:solidFill>
              <a:prstDash val="solid"/>
              <a:miter lim="800000"/>
              <a:headEnd type="none" w="sm" len="sm"/>
              <a:tailEnd type="triangle" w="med" len="med"/>
            </a:ln>
          </p:spPr>
        </p:cxnSp>
      </p:grpSp>
      <p:sp>
        <p:nvSpPr>
          <p:cNvPr id="655" name="Google Shape;655;p32"/>
          <p:cNvSpPr txBox="1"/>
          <p:nvPr/>
        </p:nvSpPr>
        <p:spPr>
          <a:xfrm>
            <a:off x="256650" y="3308025"/>
            <a:ext cx="8630700" cy="15084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292929"/>
              </a:buClr>
              <a:buSzPts val="2000"/>
              <a:buFont typeface="Lexend"/>
              <a:buChar char="●"/>
            </a:pPr>
            <a:r>
              <a:rPr lang="en" sz="2000" b="0" i="0" u="none" strike="noStrike" cap="none">
                <a:solidFill>
                  <a:srgbClr val="292929"/>
                </a:solidFill>
                <a:latin typeface="Lexend"/>
                <a:ea typeface="Lexend"/>
                <a:cs typeface="Lexend"/>
                <a:sym typeface="Lexend"/>
              </a:rPr>
              <a:t>Example: </a:t>
            </a:r>
            <a:r>
              <a:rPr lang="en" sz="2000" b="0" i="0" u="none" strike="noStrike" cap="none">
                <a:solidFill>
                  <a:srgbClr val="0000FF"/>
                </a:solidFill>
                <a:latin typeface="Lexend"/>
                <a:ea typeface="Lexend"/>
                <a:cs typeface="Lexend"/>
                <a:sym typeface="Lexend"/>
              </a:rPr>
              <a:t>BCD to Excess-3 Code Converter.</a:t>
            </a:r>
            <a:endParaRPr sz="2000" b="0" i="0" u="none" strike="noStrike" cap="none">
              <a:solidFill>
                <a:srgbClr val="0000FF"/>
              </a:solidFill>
              <a:latin typeface="Lexend"/>
              <a:ea typeface="Lexend"/>
              <a:cs typeface="Lexend"/>
              <a:sym typeface="Lexend"/>
            </a:endParaRPr>
          </a:p>
          <a:p>
            <a:pPr marL="457200" marR="0" lvl="0" indent="0" algn="l" rtl="0">
              <a:lnSpc>
                <a:spcPct val="115000"/>
              </a:lnSpc>
              <a:spcBef>
                <a:spcPts val="120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Input: BCD digit</a:t>
            </a:r>
            <a:endParaRPr sz="2000" b="0" i="0" u="none" strike="noStrike" cap="none">
              <a:solidFill>
                <a:srgbClr val="292929"/>
              </a:solidFill>
              <a:latin typeface="Lexend"/>
              <a:ea typeface="Lexend"/>
              <a:cs typeface="Lexend"/>
              <a:sym typeface="Lexend"/>
            </a:endParaRPr>
          </a:p>
          <a:p>
            <a:pPr marL="457200" marR="0" lvl="0" indent="0" algn="l" rtl="0">
              <a:lnSpc>
                <a:spcPct val="115000"/>
              </a:lnSpc>
              <a:spcBef>
                <a:spcPts val="1200"/>
              </a:spcBef>
              <a:spcAft>
                <a:spcPts val="120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Output: Excess-3 digit </a:t>
            </a:r>
            <a:endParaRPr sz="2000" b="0" i="0" u="none" strike="noStrike" cap="none">
              <a:solidFill>
                <a:srgbClr val="292929"/>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33"/>
          <p:cNvSpPr/>
          <p:nvPr/>
        </p:nvSpPr>
        <p:spPr>
          <a:xfrm>
            <a:off x="0" y="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3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33</a:t>
            </a:fld>
            <a:endParaRPr sz="1000" b="0" i="0" u="none" strike="noStrike" cap="none">
              <a:solidFill>
                <a:srgbClr val="595959"/>
              </a:solidFill>
              <a:latin typeface="Arial"/>
              <a:ea typeface="Arial"/>
              <a:cs typeface="Arial"/>
              <a:sym typeface="Arial"/>
            </a:endParaRPr>
          </a:p>
        </p:txBody>
      </p:sp>
      <p:sp>
        <p:nvSpPr>
          <p:cNvPr id="662" name="Google Shape;662;p33"/>
          <p:cNvSpPr txBox="1"/>
          <p:nvPr/>
        </p:nvSpPr>
        <p:spPr>
          <a:xfrm>
            <a:off x="328350" y="830863"/>
            <a:ext cx="8630700" cy="1736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1200"/>
              </a:spcBef>
              <a:spcAft>
                <a:spcPts val="0"/>
              </a:spcAft>
              <a:buClr>
                <a:srgbClr val="292929"/>
              </a:buClr>
              <a:buSzPts val="1800"/>
              <a:buFont typeface="Lexend"/>
              <a:buChar char="●"/>
            </a:pPr>
            <a:r>
              <a:rPr lang="en" sz="1800" b="0" i="0" u="none" strike="noStrike" cap="none">
                <a:solidFill>
                  <a:srgbClr val="292929"/>
                </a:solidFill>
                <a:latin typeface="Lexend"/>
                <a:ea typeface="Lexend"/>
                <a:cs typeface="Lexend"/>
                <a:sym typeface="Lexend"/>
              </a:rPr>
              <a:t>An overflow condition can be detected by observing the carry into the sign bit position (C3) and the carry out of the sign bit position (C4).</a:t>
            </a:r>
            <a:endParaRPr sz="1800" b="0" i="0" u="none" strike="noStrike" cap="none">
              <a:solidFill>
                <a:srgbClr val="292929"/>
              </a:solidFill>
              <a:latin typeface="Lexend"/>
              <a:ea typeface="Lexend"/>
              <a:cs typeface="Lexend"/>
              <a:sym typeface="Lexend"/>
            </a:endParaRPr>
          </a:p>
          <a:p>
            <a:pPr marL="457200" marR="0" lvl="0" indent="-342900" algn="l" rtl="0">
              <a:lnSpc>
                <a:spcPct val="115000"/>
              </a:lnSpc>
              <a:spcBef>
                <a:spcPts val="0"/>
              </a:spcBef>
              <a:spcAft>
                <a:spcPts val="0"/>
              </a:spcAft>
              <a:buClr>
                <a:srgbClr val="292929"/>
              </a:buClr>
              <a:buSzPts val="1800"/>
              <a:buFont typeface="Lexend"/>
              <a:buChar char="●"/>
            </a:pPr>
            <a:r>
              <a:rPr lang="en" sz="1800" b="0" i="0" u="none" strike="noStrike" cap="none">
                <a:solidFill>
                  <a:srgbClr val="292929"/>
                </a:solidFill>
                <a:latin typeface="Lexend"/>
                <a:ea typeface="Lexend"/>
                <a:cs typeface="Lexend"/>
                <a:sym typeface="Lexend"/>
              </a:rPr>
              <a:t>If these </a:t>
            </a:r>
            <a:r>
              <a:rPr lang="en" sz="1800" b="0" i="0" u="none" strike="noStrike" cap="none">
                <a:solidFill>
                  <a:srgbClr val="FF0000"/>
                </a:solidFill>
                <a:latin typeface="Lexend"/>
                <a:ea typeface="Lexend"/>
                <a:cs typeface="Lexend"/>
                <a:sym typeface="Lexend"/>
              </a:rPr>
              <a:t>two</a:t>
            </a:r>
            <a:r>
              <a:rPr lang="en" sz="1800" b="0" i="0" u="none" strike="noStrike" cap="none">
                <a:solidFill>
                  <a:srgbClr val="292929"/>
                </a:solidFill>
                <a:latin typeface="Lexend"/>
                <a:ea typeface="Lexend"/>
                <a:cs typeface="Lexend"/>
                <a:sym typeface="Lexend"/>
              </a:rPr>
              <a:t> </a:t>
            </a:r>
            <a:r>
              <a:rPr lang="en" sz="1800" b="0" i="0" u="none" strike="noStrike" cap="none">
                <a:solidFill>
                  <a:srgbClr val="FF0000"/>
                </a:solidFill>
                <a:latin typeface="Lexend"/>
                <a:ea typeface="Lexend"/>
                <a:cs typeface="Lexend"/>
                <a:sym typeface="Lexend"/>
              </a:rPr>
              <a:t>carries are not equal</a:t>
            </a:r>
            <a:r>
              <a:rPr lang="en" sz="1800" b="0" i="0" u="none" strike="noStrike" cap="none">
                <a:solidFill>
                  <a:srgbClr val="292929"/>
                </a:solidFill>
                <a:latin typeface="Lexend"/>
                <a:ea typeface="Lexend"/>
                <a:cs typeface="Lexend"/>
                <a:sym typeface="Lexend"/>
              </a:rPr>
              <a:t>, an overflow has occurred.</a:t>
            </a:r>
            <a:endParaRPr sz="1800" b="0" i="0" u="none" strike="noStrike" cap="none">
              <a:solidFill>
                <a:srgbClr val="292929"/>
              </a:solidFill>
              <a:latin typeface="Lexend"/>
              <a:ea typeface="Lexend"/>
              <a:cs typeface="Lexend"/>
              <a:sym typeface="Lexend"/>
            </a:endParaRPr>
          </a:p>
          <a:p>
            <a:pPr marL="457200" marR="0" lvl="0" indent="-342900" algn="l" rtl="0">
              <a:lnSpc>
                <a:spcPct val="115000"/>
              </a:lnSpc>
              <a:spcBef>
                <a:spcPts val="0"/>
              </a:spcBef>
              <a:spcAft>
                <a:spcPts val="0"/>
              </a:spcAft>
              <a:buClr>
                <a:srgbClr val="292929"/>
              </a:buClr>
              <a:buSzPts val="1800"/>
              <a:buFont typeface="Lexend"/>
              <a:buChar char="●"/>
            </a:pPr>
            <a:r>
              <a:rPr lang="en" sz="1800" b="0" i="0" u="none" strike="noStrike" cap="none">
                <a:solidFill>
                  <a:srgbClr val="292929"/>
                </a:solidFill>
                <a:latin typeface="Lexend"/>
                <a:ea typeface="Lexend"/>
                <a:cs typeface="Lexend"/>
                <a:sym typeface="Lexend"/>
              </a:rPr>
              <a:t>The two carries are applied to an exclusive-OR gate(XOR), an overflow is detected when the output(V) of the XOR gate is equal to 1.</a:t>
            </a:r>
            <a:endParaRPr sz="1800" b="0" i="0" u="none" strike="noStrike" cap="none">
              <a:solidFill>
                <a:srgbClr val="292929"/>
              </a:solidFill>
              <a:latin typeface="Lexend"/>
              <a:ea typeface="Lexend"/>
              <a:cs typeface="Lexend"/>
              <a:sym typeface="Lexend"/>
            </a:endParaRPr>
          </a:p>
        </p:txBody>
      </p:sp>
      <p:grpSp>
        <p:nvGrpSpPr>
          <p:cNvPr id="663" name="Google Shape;663;p33"/>
          <p:cNvGrpSpPr/>
          <p:nvPr/>
        </p:nvGrpSpPr>
        <p:grpSpPr>
          <a:xfrm>
            <a:off x="50480" y="122879"/>
            <a:ext cx="277873" cy="68400"/>
            <a:chOff x="411700" y="2416840"/>
            <a:chExt cx="277873" cy="68400"/>
          </a:xfrm>
        </p:grpSpPr>
        <p:sp>
          <p:nvSpPr>
            <p:cNvPr id="664" name="Google Shape;664;p3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3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3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7" name="Google Shape;667;p3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668" name="Google Shape;668;p33"/>
          <p:cNvSpPr txBox="1"/>
          <p:nvPr/>
        </p:nvSpPr>
        <p:spPr>
          <a:xfrm>
            <a:off x="194750" y="122875"/>
            <a:ext cx="7656898" cy="7080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400"/>
              <a:buFont typeface="Arial"/>
              <a:buNone/>
            </a:pPr>
            <a:r>
              <a:rPr lang="en" sz="3400" b="0" i="0" u="none" strike="noStrike" cap="none">
                <a:solidFill>
                  <a:schemeClr val="dk1"/>
                </a:solidFill>
                <a:latin typeface="Lexend"/>
                <a:ea typeface="Lexend"/>
                <a:cs typeface="Lexend"/>
                <a:sym typeface="Lexend"/>
              </a:rPr>
              <a:t>Overflow Detection [Self Study]</a:t>
            </a:r>
            <a:endParaRPr sz="3400" b="0" i="0" u="none" strike="noStrike" cap="none">
              <a:solidFill>
                <a:schemeClr val="dk1"/>
              </a:solidFill>
              <a:latin typeface="Lexend"/>
              <a:ea typeface="Lexend"/>
              <a:cs typeface="Lexend"/>
              <a:sym typeface="Lexend"/>
            </a:endParaRPr>
          </a:p>
        </p:txBody>
      </p:sp>
      <p:sp>
        <p:nvSpPr>
          <p:cNvPr id="669" name="Google Shape;669;p33"/>
          <p:cNvSpPr txBox="1"/>
          <p:nvPr/>
        </p:nvSpPr>
        <p:spPr>
          <a:xfrm>
            <a:off x="395075" y="2832475"/>
            <a:ext cx="18216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Carry:  </a:t>
            </a:r>
            <a:r>
              <a:rPr lang="en" sz="1800" b="0" i="0" u="none" strike="noStrike" cap="none">
                <a:solidFill>
                  <a:srgbClr val="FF0000"/>
                </a:solidFill>
                <a:latin typeface="Arial"/>
                <a:ea typeface="Arial"/>
                <a:cs typeface="Arial"/>
                <a:sym typeface="Arial"/>
              </a:rPr>
              <a:t>0 1</a:t>
            </a:r>
            <a:endParaRPr sz="18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+7		 0 111</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+6		 0 110</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____	_____</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+48		 </a:t>
            </a:r>
            <a:r>
              <a:rPr lang="en" sz="1800" b="0" i="0" u="none" strike="noStrike" cap="none">
                <a:solidFill>
                  <a:srgbClr val="FF0000"/>
                </a:solidFill>
                <a:latin typeface="Arial"/>
                <a:ea typeface="Arial"/>
                <a:cs typeface="Arial"/>
                <a:sym typeface="Arial"/>
              </a:rPr>
              <a:t>1 </a:t>
            </a:r>
            <a:r>
              <a:rPr lang="en" sz="1800" b="0" i="0" u="none" strike="noStrike" cap="none">
                <a:solidFill>
                  <a:schemeClr val="dk2"/>
                </a:solidFill>
                <a:latin typeface="Arial"/>
                <a:ea typeface="Arial"/>
                <a:cs typeface="Arial"/>
                <a:sym typeface="Arial"/>
              </a:rPr>
              <a:t>101</a:t>
            </a:r>
            <a:endParaRPr sz="1800" b="0" i="0" u="none" strike="noStrike" cap="none">
              <a:solidFill>
                <a:schemeClr val="dk2"/>
              </a:solidFill>
              <a:latin typeface="Arial"/>
              <a:ea typeface="Arial"/>
              <a:cs typeface="Arial"/>
              <a:sym typeface="Arial"/>
            </a:endParaRPr>
          </a:p>
        </p:txBody>
      </p:sp>
      <p:sp>
        <p:nvSpPr>
          <p:cNvPr id="670" name="Google Shape;670;p33"/>
          <p:cNvSpPr txBox="1"/>
          <p:nvPr/>
        </p:nvSpPr>
        <p:spPr>
          <a:xfrm>
            <a:off x="2491812" y="2832475"/>
            <a:ext cx="17424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Carry:  </a:t>
            </a:r>
            <a:r>
              <a:rPr lang="en" sz="1800" b="0" i="0" u="none" strike="noStrike" cap="none">
                <a:solidFill>
                  <a:srgbClr val="FF0000"/>
                </a:solidFill>
                <a:latin typeface="Arial"/>
                <a:ea typeface="Arial"/>
                <a:cs typeface="Arial"/>
                <a:sym typeface="Arial"/>
              </a:rPr>
              <a:t>1	0</a:t>
            </a:r>
            <a:endParaRPr sz="18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-7		1 001</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-6		1 010</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____	_____</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-13		</a:t>
            </a:r>
            <a:r>
              <a:rPr lang="en" sz="1800" b="0" i="0" u="none" strike="noStrike" cap="none">
                <a:solidFill>
                  <a:srgbClr val="FF0000"/>
                </a:solidFill>
                <a:latin typeface="Arial"/>
                <a:ea typeface="Arial"/>
                <a:cs typeface="Arial"/>
                <a:sym typeface="Arial"/>
              </a:rPr>
              <a:t>0</a:t>
            </a:r>
            <a:r>
              <a:rPr lang="en" sz="1800" b="0" i="0" u="none" strike="noStrike" cap="none">
                <a:solidFill>
                  <a:schemeClr val="dk2"/>
                </a:solidFill>
                <a:latin typeface="Arial"/>
                <a:ea typeface="Arial"/>
                <a:cs typeface="Arial"/>
                <a:sym typeface="Arial"/>
              </a:rPr>
              <a:t> 011</a:t>
            </a:r>
            <a:endParaRPr sz="1800" b="0" i="0" u="none" strike="noStrike" cap="none">
              <a:solidFill>
                <a:schemeClr val="dk2"/>
              </a:solidFill>
              <a:latin typeface="Arial"/>
              <a:ea typeface="Arial"/>
              <a:cs typeface="Arial"/>
              <a:sym typeface="Arial"/>
            </a:endParaRPr>
          </a:p>
        </p:txBody>
      </p:sp>
      <p:sp>
        <p:nvSpPr>
          <p:cNvPr id="671" name="Google Shape;671;p33"/>
          <p:cNvSpPr txBox="1"/>
          <p:nvPr/>
        </p:nvSpPr>
        <p:spPr>
          <a:xfrm>
            <a:off x="4500625" y="2832475"/>
            <a:ext cx="18216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Carry:  </a:t>
            </a:r>
            <a:r>
              <a:rPr lang="en" sz="1800" b="0" i="0" u="none" strike="noStrike" cap="none">
                <a:solidFill>
                  <a:srgbClr val="FF0000"/>
                </a:solidFill>
                <a:latin typeface="Arial"/>
                <a:ea typeface="Arial"/>
                <a:cs typeface="Arial"/>
                <a:sym typeface="Arial"/>
              </a:rPr>
              <a:t>1	1</a:t>
            </a:r>
            <a:endParaRPr sz="18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-3		1 101</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-2		1 110</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____	_____</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-5		</a:t>
            </a:r>
            <a:r>
              <a:rPr lang="en" sz="1800" b="0" i="0" u="none" strike="noStrike" cap="none">
                <a:solidFill>
                  <a:srgbClr val="FF0000"/>
                </a:solidFill>
                <a:latin typeface="Arial"/>
                <a:ea typeface="Arial"/>
                <a:cs typeface="Arial"/>
                <a:sym typeface="Arial"/>
              </a:rPr>
              <a:t>1</a:t>
            </a:r>
            <a:r>
              <a:rPr lang="en" sz="1800" b="0" i="0" u="none" strike="noStrike" cap="none">
                <a:solidFill>
                  <a:schemeClr val="dk2"/>
                </a:solidFill>
                <a:latin typeface="Arial"/>
                <a:ea typeface="Arial"/>
                <a:cs typeface="Arial"/>
                <a:sym typeface="Arial"/>
              </a:rPr>
              <a:t> 011</a:t>
            </a:r>
            <a:endParaRPr sz="1800" b="0" i="0" u="none" strike="noStrike" cap="none">
              <a:solidFill>
                <a:schemeClr val="dk2"/>
              </a:solidFill>
              <a:latin typeface="Arial"/>
              <a:ea typeface="Arial"/>
              <a:cs typeface="Arial"/>
              <a:sym typeface="Arial"/>
            </a:endParaRPr>
          </a:p>
        </p:txBody>
      </p:sp>
      <p:sp>
        <p:nvSpPr>
          <p:cNvPr id="672" name="Google Shape;672;p33"/>
          <p:cNvSpPr txBox="1"/>
          <p:nvPr/>
        </p:nvSpPr>
        <p:spPr>
          <a:xfrm>
            <a:off x="6622025" y="2832475"/>
            <a:ext cx="17796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Carry:  </a:t>
            </a:r>
            <a:r>
              <a:rPr lang="en" sz="1800" b="0" i="0" u="none" strike="noStrike" cap="none">
                <a:solidFill>
                  <a:srgbClr val="FF0000"/>
                </a:solidFill>
                <a:latin typeface="Arial"/>
                <a:ea typeface="Arial"/>
                <a:cs typeface="Arial"/>
                <a:sym typeface="Arial"/>
              </a:rPr>
              <a:t>0	0</a:t>
            </a:r>
            <a:endParaRPr sz="18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+2		0 010</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- 4		1 100</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____	_____</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-2		</a:t>
            </a:r>
            <a:r>
              <a:rPr lang="en" sz="1800" b="0" i="0" u="none" strike="noStrike" cap="none">
                <a:solidFill>
                  <a:srgbClr val="FF0000"/>
                </a:solidFill>
                <a:latin typeface="Arial"/>
                <a:ea typeface="Arial"/>
                <a:cs typeface="Arial"/>
                <a:sym typeface="Arial"/>
              </a:rPr>
              <a:t>1</a:t>
            </a:r>
            <a:r>
              <a:rPr lang="en" sz="1800" b="0" i="0" u="none" strike="noStrike" cap="none">
                <a:solidFill>
                  <a:schemeClr val="dk2"/>
                </a:solidFill>
                <a:latin typeface="Arial"/>
                <a:ea typeface="Arial"/>
                <a:cs typeface="Arial"/>
                <a:sym typeface="Arial"/>
              </a:rPr>
              <a:t> 110</a:t>
            </a:r>
            <a:endParaRPr sz="1800" b="0" i="0" u="none" strike="noStrike" cap="none">
              <a:solidFill>
                <a:schemeClr val="dk2"/>
              </a:solidFill>
              <a:latin typeface="Arial"/>
              <a:ea typeface="Arial"/>
              <a:cs typeface="Arial"/>
              <a:sym typeface="Arial"/>
            </a:endParaRPr>
          </a:p>
        </p:txBody>
      </p:sp>
      <p:sp>
        <p:nvSpPr>
          <p:cNvPr id="673" name="Google Shape;673;p33"/>
          <p:cNvSpPr txBox="1"/>
          <p:nvPr/>
        </p:nvSpPr>
        <p:spPr>
          <a:xfrm>
            <a:off x="642425" y="4380175"/>
            <a:ext cx="1143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FF0000"/>
                </a:solidFill>
                <a:latin typeface="Lexend"/>
                <a:ea typeface="Lexend"/>
                <a:cs typeface="Lexend"/>
                <a:sym typeface="Lexend"/>
              </a:rPr>
              <a:t>Overflow</a:t>
            </a:r>
            <a:endParaRPr sz="1700" b="0" i="0" u="none" strike="noStrike" cap="none">
              <a:solidFill>
                <a:srgbClr val="FF0000"/>
              </a:solidFill>
              <a:latin typeface="Lexend"/>
              <a:ea typeface="Lexend"/>
              <a:cs typeface="Lexend"/>
              <a:sym typeface="Lexend"/>
            </a:endParaRPr>
          </a:p>
        </p:txBody>
      </p:sp>
      <p:sp>
        <p:nvSpPr>
          <p:cNvPr id="674" name="Google Shape;674;p33"/>
          <p:cNvSpPr txBox="1"/>
          <p:nvPr/>
        </p:nvSpPr>
        <p:spPr>
          <a:xfrm>
            <a:off x="2787150" y="4380175"/>
            <a:ext cx="1143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FF0000"/>
                </a:solidFill>
                <a:latin typeface="Lexend"/>
                <a:ea typeface="Lexend"/>
                <a:cs typeface="Lexend"/>
                <a:sym typeface="Lexend"/>
              </a:rPr>
              <a:t>Overflow</a:t>
            </a:r>
            <a:endParaRPr sz="1700" b="0" i="0" u="none" strike="noStrike" cap="none">
              <a:solidFill>
                <a:srgbClr val="FF0000"/>
              </a:solidFill>
              <a:latin typeface="Lexend"/>
              <a:ea typeface="Lexend"/>
              <a:cs typeface="Lexend"/>
              <a:sym typeface="Lexend"/>
            </a:endParaRPr>
          </a:p>
        </p:txBody>
      </p:sp>
      <p:sp>
        <p:nvSpPr>
          <p:cNvPr id="675" name="Google Shape;675;p33"/>
          <p:cNvSpPr txBox="1"/>
          <p:nvPr/>
        </p:nvSpPr>
        <p:spPr>
          <a:xfrm>
            <a:off x="4645299" y="4380175"/>
            <a:ext cx="17424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chemeClr val="dk1"/>
                </a:solidFill>
                <a:latin typeface="Lexend"/>
                <a:ea typeface="Lexend"/>
                <a:cs typeface="Lexend"/>
                <a:sym typeface="Lexend"/>
              </a:rPr>
              <a:t>No Overflow</a:t>
            </a:r>
            <a:endParaRPr sz="1700" b="0" i="0" u="none" strike="noStrike" cap="none">
              <a:solidFill>
                <a:schemeClr val="dk1"/>
              </a:solidFill>
              <a:latin typeface="Lexend"/>
              <a:ea typeface="Lexend"/>
              <a:cs typeface="Lexend"/>
              <a:sym typeface="Lexend"/>
            </a:endParaRPr>
          </a:p>
        </p:txBody>
      </p:sp>
      <p:sp>
        <p:nvSpPr>
          <p:cNvPr id="676" name="Google Shape;676;p33"/>
          <p:cNvSpPr txBox="1"/>
          <p:nvPr/>
        </p:nvSpPr>
        <p:spPr>
          <a:xfrm>
            <a:off x="6761375" y="4380175"/>
            <a:ext cx="15009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chemeClr val="dk1"/>
                </a:solidFill>
                <a:latin typeface="Lexend"/>
                <a:ea typeface="Lexend"/>
                <a:cs typeface="Lexend"/>
                <a:sym typeface="Lexend"/>
              </a:rPr>
              <a:t>No Overflow</a:t>
            </a:r>
            <a:endParaRPr sz="1700" b="0" i="0" u="none" strike="noStrike" cap="none">
              <a:solidFill>
                <a:schemeClr val="dk1"/>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34"/>
          <p:cNvSpPr/>
          <p:nvPr/>
        </p:nvSpPr>
        <p:spPr>
          <a:xfrm>
            <a:off x="-3264" y="328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3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34</a:t>
            </a:fld>
            <a:endParaRPr sz="1000" b="0" i="0" u="none" strike="noStrike" cap="none">
              <a:solidFill>
                <a:srgbClr val="595959"/>
              </a:solidFill>
              <a:latin typeface="Arial"/>
              <a:ea typeface="Arial"/>
              <a:cs typeface="Arial"/>
              <a:sym typeface="Arial"/>
            </a:endParaRPr>
          </a:p>
        </p:txBody>
      </p:sp>
      <p:grpSp>
        <p:nvGrpSpPr>
          <p:cNvPr id="683" name="Google Shape;683;p34"/>
          <p:cNvGrpSpPr/>
          <p:nvPr/>
        </p:nvGrpSpPr>
        <p:grpSpPr>
          <a:xfrm>
            <a:off x="50480" y="122879"/>
            <a:ext cx="277873" cy="68400"/>
            <a:chOff x="411700" y="2416840"/>
            <a:chExt cx="277873" cy="68400"/>
          </a:xfrm>
        </p:grpSpPr>
        <p:sp>
          <p:nvSpPr>
            <p:cNvPr id="684" name="Google Shape;684;p3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3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3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87" name="Google Shape;687;p34"/>
          <p:cNvSpPr txBox="1"/>
          <p:nvPr/>
        </p:nvSpPr>
        <p:spPr>
          <a:xfrm>
            <a:off x="194750" y="122875"/>
            <a:ext cx="7867525" cy="7080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en" sz="3400" b="0" i="0" u="none" strike="noStrike" cap="none">
                <a:solidFill>
                  <a:schemeClr val="dk1"/>
                </a:solidFill>
                <a:latin typeface="Lexend"/>
                <a:ea typeface="Lexend"/>
                <a:cs typeface="Lexend"/>
                <a:sym typeface="Lexend"/>
              </a:rPr>
              <a:t>Overflow Detection [Self Study]</a:t>
            </a:r>
            <a:endParaRPr sz="3400" b="0" i="0" u="none" strike="noStrike" cap="none">
              <a:solidFill>
                <a:schemeClr val="dk1"/>
              </a:solidFill>
              <a:latin typeface="Lexend"/>
              <a:ea typeface="Lexend"/>
              <a:cs typeface="Lexend"/>
              <a:sym typeface="Lexend"/>
            </a:endParaRPr>
          </a:p>
        </p:txBody>
      </p:sp>
      <p:sp>
        <p:nvSpPr>
          <p:cNvPr id="688" name="Google Shape;688;p3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Department of Computer Science and Engineering</a:t>
            </a:r>
            <a:endParaRPr sz="900" b="1" i="0" u="none" strike="noStrike" cap="none">
              <a:solidFill>
                <a:srgbClr val="4F4F4F"/>
              </a:solidFill>
              <a:latin typeface="Lexend"/>
              <a:ea typeface="Lexend"/>
              <a:cs typeface="Lexend"/>
              <a:sym typeface="Lexend"/>
            </a:endParaRPr>
          </a:p>
        </p:txBody>
      </p:sp>
      <p:sp>
        <p:nvSpPr>
          <p:cNvPr id="689" name="Google Shape;689;p34"/>
          <p:cNvSpPr txBox="1"/>
          <p:nvPr/>
        </p:nvSpPr>
        <p:spPr>
          <a:xfrm>
            <a:off x="1212675" y="4477950"/>
            <a:ext cx="68496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Lexend"/>
                <a:ea typeface="Lexend"/>
                <a:cs typeface="Lexend"/>
                <a:sym typeface="Lexend"/>
              </a:rPr>
              <a:t>Figure: 4-bit Adder-Subtractor with Overflow Detection</a:t>
            </a:r>
            <a:endParaRPr sz="1800" b="0" i="0" u="none" strike="noStrike" cap="none">
              <a:solidFill>
                <a:schemeClr val="dk1"/>
              </a:solidFill>
              <a:latin typeface="Lexend"/>
              <a:ea typeface="Lexend"/>
              <a:cs typeface="Lexend"/>
              <a:sym typeface="Lexend"/>
            </a:endParaRPr>
          </a:p>
        </p:txBody>
      </p:sp>
      <p:pic>
        <p:nvPicPr>
          <p:cNvPr id="690" name="Google Shape;690;p34" title="260_new_Slides-Overflow Detector.drawio (3).png"/>
          <p:cNvPicPr preferRelativeResize="0"/>
          <p:nvPr/>
        </p:nvPicPr>
        <p:blipFill rotWithShape="1">
          <a:blip r:embed="rId3">
            <a:alphaModFix/>
          </a:blip>
          <a:srcRect/>
          <a:stretch/>
        </p:blipFill>
        <p:spPr>
          <a:xfrm>
            <a:off x="772500" y="639425"/>
            <a:ext cx="7087498" cy="3907125"/>
          </a:xfrm>
          <a:prstGeom prst="rect">
            <a:avLst/>
          </a:prstGeom>
          <a:noFill/>
          <a:ln>
            <a:noFill/>
          </a:ln>
        </p:spPr>
      </p:pic>
      <p:sp>
        <p:nvSpPr>
          <p:cNvPr id="691" name="Google Shape;691;p34"/>
          <p:cNvSpPr/>
          <p:nvPr/>
        </p:nvSpPr>
        <p:spPr>
          <a:xfrm>
            <a:off x="2564325"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
        <p:nvSpPr>
          <p:cNvPr id="692" name="Google Shape;692;p34"/>
          <p:cNvSpPr/>
          <p:nvPr/>
        </p:nvSpPr>
        <p:spPr>
          <a:xfrm>
            <a:off x="3787175"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
        <p:nvSpPr>
          <p:cNvPr id="693" name="Google Shape;693;p34"/>
          <p:cNvSpPr/>
          <p:nvPr/>
        </p:nvSpPr>
        <p:spPr>
          <a:xfrm>
            <a:off x="5010025"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
        <p:nvSpPr>
          <p:cNvPr id="694" name="Google Shape;694;p34"/>
          <p:cNvSpPr/>
          <p:nvPr/>
        </p:nvSpPr>
        <p:spPr>
          <a:xfrm>
            <a:off x="6197400"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2274</Words>
  <Application>Microsoft Office PowerPoint</Application>
  <PresentationFormat>On-screen Show (16:9)</PresentationFormat>
  <Paragraphs>503</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Times New Roman</vt:lpstr>
      <vt:lpstr>Lexend Light</vt:lpstr>
      <vt:lpstr>Lexend</vt:lpstr>
      <vt:lpstr>Lexend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Rawson Tabassum</cp:lastModifiedBy>
  <cp:revision>1</cp:revision>
  <dcterms:modified xsi:type="dcterms:W3CDTF">2026-07-23T05:04:39Z</dcterms:modified>
</cp:coreProperties>
</file>