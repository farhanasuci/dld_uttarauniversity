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6C8EFE-BFCC-412D-8971-004EF5BB507D}">
  <a:tblStyle styleId="{D66C8EFE-BFCC-412D-8971-004EF5BB507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20DC7BB-00BF-40CA-91F3-0E16767CBC3A}" styleName="Table_1">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3475178-5BEF-4557-B169-25190D001F1A}"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7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6e3b8c75c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6e3b8c75c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6e3b8c75cc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6e3b8c75c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e3b8c75cc_0_1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e3b8c75cc_0_1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e3b8c75cc_0_1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6e3b8c75cc_0_1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3b8c75cc_0_1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6e3b8c75cc_0_1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6e3b8c75cc_0_1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6e3b8c75cc_0_1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e3b8c75cc_0_1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6e3b8c75cc_0_1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6e3b8c75cc_0_1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6e3b8c75cc_0_1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6e3b8c75cc_0_1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6e3b8c75cc_0_1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e3b8c75cc_0_1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6e3b8c75cc_0_1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6e3b8c75cc_0_1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6e3b8c75cc_0_1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6e3b8c75cc_0_1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6e3b8c75cc_0_1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6e3b8c75cc_0_1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6e3b8c75cc_0_1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6e3b8c75cc_0_1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6e3b8c75cc_0_1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e3b8c75cc_0_1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e3b8c75cc_0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6e3b8c75cc_0_1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6e3b8c75cc_0_1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6e3b8c75cc_0_1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6e3b8c75cc_0_1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6e3b8c75cc_0_18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6e3b8c75cc_0_18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6e3b8c75cc_0_1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6e3b8c75cc_0_1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6e3b8c75cc_0_1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6e3b8c75cc_0_1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6e3b8c75cc_0_19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6e3b8c75cc_0_1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6e3b8c75cc_0_19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6e3b8c75cc_0_19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6e3b8c75cc_0_19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6e3b8c75cc_0_1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6e3b8c75cc_0_20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6e3b8c75cc_0_2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6e3b8c75cc_0_2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6e3b8c75cc_0_2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6e3b8c75cc_0_2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6e3b8c75cc_0_2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6da8b810c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6da8b810c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6da8b810c5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6da8b810c5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6da8b810c5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36da8b810c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6da8b810c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6da8b810c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6da8b810c5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36da8b810c5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6da8b810c5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36da8b810c5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6da8b810c5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36da8b810c5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6da8b810c5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36da8b810c5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6da8b810c5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6da8b810c5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6da8b810c5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36da8b810c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36da8b810c5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36da8b810c5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6da8b810c5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36da8b810c5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6da8b810c5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36da8b810c5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6da8b810c5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36da8b810c5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6da8b810c5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36da8b810c5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36da8b810c5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36da8b810c5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36da8b810c5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36da8b810c5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36da8b810c5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36da8b810c5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6da8b810c5_0_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6da8b810c5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36da8b810c5_0_7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36da8b810c5_0_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6da8b810c5_0_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36da8b810c5_0_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36da8b810c5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36da8b810c5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6da8b810c5_0_8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36da8b810c5_0_8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36da8b810c5_0_8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36da8b810c5_0_8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36da8b810c5_0_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36da8b810c5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36da8b810c5_0_9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36da8b810c5_0_9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6da8b810c5_0_9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36da8b810c5_0_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6da8b810c5_0_10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36da8b810c5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6da8b810c5_0_1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36da8b810c5_0_1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37329b8843d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6" name="Google Shape;1186;g37329b8843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37329b8843d_3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37329b8843d_3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37329b8843d_3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37329b8843d_3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g37329b8843d_3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6" name="Google Shape;1246;g37329b8843d_3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g37329b8843d_3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37329b8843d_3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37329b8843d_3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37329b8843d_3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3.jp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hyperlink" Target="https://www.youtube.com/watch?v=c8lhlAX2JMk"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marL="0" lvl="0" indent="0" algn="ctr" rtl="0">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marL="0" lvl="0" indent="0" algn="ctr" rtl="0">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rgbClr val="4F4F4F"/>
                </a:solidFill>
                <a:latin typeface="Lexend Light"/>
                <a:ea typeface="Lexend Light"/>
                <a:cs typeface="Lexend Light"/>
                <a:sym typeface="Lexend Light"/>
              </a:rPr>
              <a:t>Department of Computer Science and Engineering, Uttara University</a:t>
            </a:r>
            <a:endParaRPr sz="900" b="1" dirty="0">
              <a:solidFill>
                <a:srgbClr val="4F4F4F"/>
              </a:solidFill>
              <a:latin typeface="Lexend"/>
              <a:ea typeface="Lexend"/>
              <a:cs typeface="Lexend"/>
              <a:sym typeface="Lexend"/>
            </a:endParaRPr>
          </a:p>
        </p:txBody>
      </p:sp>
      <p:sp>
        <p:nvSpPr>
          <p:cNvPr id="57" name="Google Shape;57;p13"/>
          <p:cNvSpPr txBox="1"/>
          <p:nvPr/>
        </p:nvSpPr>
        <p:spPr>
          <a:xfrm>
            <a:off x="321450" y="4484225"/>
            <a:ext cx="8501100" cy="1010400"/>
          </a:xfrm>
          <a:prstGeom prst="rect">
            <a:avLst/>
          </a:prstGeom>
          <a:noFill/>
          <a:ln>
            <a:noFill/>
          </a:ln>
        </p:spPr>
        <p:txBody>
          <a:bodyPr spcFirstLastPara="1" wrap="square" lIns="91425" tIns="91425" rIns="91425" bIns="91425" anchor="t" anchorCtr="0">
            <a:noAutofit/>
          </a:bodyPr>
          <a:lstStyle/>
          <a:p>
            <a:pPr lvl="0">
              <a:lnSpc>
                <a:spcPct val="90000"/>
              </a:lnSpc>
              <a:buClr>
                <a:schemeClr val="dk1"/>
              </a:buClr>
              <a:buSzPts val="1100"/>
            </a:pPr>
            <a:r>
              <a:rPr lang="en-US" sz="3200" dirty="0">
                <a:latin typeface="Lexend"/>
                <a:ea typeface="Lexend"/>
                <a:cs typeface="Lexend"/>
                <a:sym typeface="Lexend"/>
              </a:rPr>
              <a:t>CSE0613203</a:t>
            </a:r>
            <a:r>
              <a:rPr lang="en" sz="3200" dirty="0">
                <a:latin typeface="Lexend"/>
                <a:ea typeface="Lexend"/>
                <a:cs typeface="Lexend"/>
                <a:sym typeface="Lexend"/>
              </a:rPr>
              <a:t> : Digital Logic Design</a:t>
            </a:r>
            <a:endParaRPr sz="5000" dirty="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marL="0" lvl="0" indent="0" algn="l" rtl="0">
              <a:spcBef>
                <a:spcPts val="640"/>
              </a:spcBef>
              <a:spcAft>
                <a:spcPts val="0"/>
              </a:spcAft>
              <a:buNone/>
            </a:pP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 name="Google Shape;68;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 name="Google Shape;69;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0" name="Google Shape;70;p14"/>
          <p:cNvSpPr txBox="1"/>
          <p:nvPr/>
        </p:nvSpPr>
        <p:spPr>
          <a:xfrm>
            <a:off x="209775" y="163775"/>
            <a:ext cx="769064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5" name="Google Shape;85;p15"/>
          <p:cNvSpPr txBox="1"/>
          <p:nvPr/>
        </p:nvSpPr>
        <p:spPr>
          <a:xfrm>
            <a:off x="209775" y="163775"/>
            <a:ext cx="769831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name="adj1" fmla="val 50000"/>
                <a:gd name="adj2" fmla="val 0"/>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5"/>
            <p:cNvSpPr/>
            <p:nvPr/>
          </p:nvSpPr>
          <p:spPr>
            <a:xfrm>
              <a:off x="6575700" y="2318025"/>
              <a:ext cx="1258500" cy="826800"/>
            </a:xfrm>
            <a:prstGeom prst="roundRect">
              <a:avLst>
                <a:gd name="adj" fmla="val 5261"/>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w="9525" cap="flat" cmpd="sng">
              <a:solidFill>
                <a:srgbClr val="28C84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name="adj1" fmla="val 50000"/>
                <a:gd name="adj2" fmla="val 0"/>
              </a:avLst>
            </a:prstGeom>
            <a:solidFill>
              <a:srgbClr val="119B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5"/>
            <p:cNvSpPr/>
            <p:nvPr/>
          </p:nvSpPr>
          <p:spPr>
            <a:xfrm>
              <a:off x="2998000" y="2318025"/>
              <a:ext cx="1258500" cy="826800"/>
            </a:xfrm>
            <a:prstGeom prst="roundRect">
              <a:avLst>
                <a:gd name="adj" fmla="val 5261"/>
              </a:avLst>
            </a:prstGeom>
            <a:solidFill>
              <a:srgbClr val="119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w="9525" cap="flat" cmpd="sng">
              <a:solidFill>
                <a:srgbClr val="119BFE"/>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name="adj1" fmla="val 50000"/>
                <a:gd name="adj2" fmla="val 0"/>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5"/>
            <p:cNvSpPr/>
            <p:nvPr/>
          </p:nvSpPr>
          <p:spPr>
            <a:xfrm>
              <a:off x="4786850" y="2318025"/>
              <a:ext cx="1258500" cy="826800"/>
            </a:xfrm>
            <a:prstGeom prst="roundRect">
              <a:avLst>
                <a:gd name="adj" fmla="val 5261"/>
              </a:avLst>
            </a:prstGeom>
            <a:solidFill>
              <a:srgbClr val="FF6B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w="9525" cap="flat" cmpd="sng">
              <a:solidFill>
                <a:srgbClr val="FF6B4D"/>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name="adj1" fmla="val 50000"/>
                <a:gd name="adj2" fmla="val 0"/>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15"/>
            <p:cNvSpPr/>
            <p:nvPr/>
          </p:nvSpPr>
          <p:spPr>
            <a:xfrm>
              <a:off x="1209150" y="2318025"/>
              <a:ext cx="1258500" cy="826800"/>
            </a:xfrm>
            <a:prstGeom prst="roundRect">
              <a:avLst>
                <a:gd name="adj" fmla="val 5261"/>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w="9525" cap="flat" cmpd="sng">
              <a:solidFill>
                <a:srgbClr val="FFC60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name="adj1" fmla="val 50000"/>
                <a:gd name="adj2" fmla="val 0"/>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p15"/>
            <p:cNvSpPr/>
            <p:nvPr/>
          </p:nvSpPr>
          <p:spPr>
            <a:xfrm>
              <a:off x="1209150" y="2318025"/>
              <a:ext cx="1258500" cy="826800"/>
            </a:xfrm>
            <a:prstGeom prst="roundRect">
              <a:avLst>
                <a:gd name="adj" fmla="val 5261"/>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w="9525" cap="flat" cmpd="sng">
              <a:solidFill>
                <a:srgbClr val="FFC60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name="adj1" fmla="val 50000"/>
                <a:gd name="adj2" fmla="val 0"/>
              </a:avLst>
            </a:prstGeom>
            <a:solidFill>
              <a:srgbClr val="119B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5"/>
            <p:cNvSpPr/>
            <p:nvPr/>
          </p:nvSpPr>
          <p:spPr>
            <a:xfrm>
              <a:off x="2998000" y="2318025"/>
              <a:ext cx="1258500" cy="826800"/>
            </a:xfrm>
            <a:prstGeom prst="roundRect">
              <a:avLst>
                <a:gd name="adj" fmla="val 5261"/>
              </a:avLst>
            </a:prstGeom>
            <a:solidFill>
              <a:srgbClr val="119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w="9525" cap="flat" cmpd="sng">
              <a:solidFill>
                <a:srgbClr val="119BFE"/>
              </a:solidFill>
              <a:prstDash val="solid"/>
              <a:round/>
              <a:headEnd type="none" w="med" len="med"/>
              <a:tailEnd type="none" w="med" len="med"/>
            </a:ln>
            <a:effectLst>
              <a:outerShdw blurRad="57150" dist="19050" dir="5400000" algn="bl" rotWithShape="0">
                <a:srgbClr val="000000">
                  <a:alpha val="30000"/>
                </a:srgbClr>
              </a:outerShdw>
            </a:effectLst>
          </p:spPr>
        </p:cxnSp>
      </p:grpSp>
      <p:sp>
        <p:nvSpPr>
          <p:cNvPr id="112" name="Google Shape;112;p15"/>
          <p:cNvSpPr/>
          <p:nvPr/>
        </p:nvSpPr>
        <p:spPr>
          <a:xfrm>
            <a:off x="2708075" y="1882900"/>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15"/>
          <p:cNvSpPr/>
          <p:nvPr/>
        </p:nvSpPr>
        <p:spPr>
          <a:xfrm>
            <a:off x="5875550" y="1882900"/>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 name="Google Shape;114;p15"/>
          <p:cNvSpPr/>
          <p:nvPr/>
        </p:nvSpPr>
        <p:spPr>
          <a:xfrm rot="5400000">
            <a:off x="7559338" y="2808699"/>
            <a:ext cx="3603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 name="Google Shape;115;p15"/>
          <p:cNvSpPr/>
          <p:nvPr/>
        </p:nvSpPr>
        <p:spPr>
          <a:xfrm rot="10800000">
            <a:off x="5833025" y="3593313"/>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5"/>
          <p:cNvSpPr/>
          <p:nvPr/>
        </p:nvSpPr>
        <p:spPr>
          <a:xfrm rot="10800000">
            <a:off x="2669075" y="3593313"/>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5"/>
          <p:cNvSpPr txBox="1"/>
          <p:nvPr/>
        </p:nvSpPr>
        <p:spPr>
          <a:xfrm>
            <a:off x="209775" y="4578146"/>
            <a:ext cx="8630700" cy="3540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1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spcFirstLastPara="1" wrap="square" lIns="91425" tIns="91425" rIns="91425" bIns="91425" anchor="t" anchorCtr="0">
            <a:spAutoFit/>
          </a:bodyPr>
          <a:lstStyle/>
          <a:p>
            <a:pPr marL="342900" lvl="0" indent="-299720" algn="l" rtl="0">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marL="342900" lvl="0" indent="-299720" algn="l" rtl="0">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marL="0" lvl="0" indent="0" algn="l" rtl="0">
              <a:spcBef>
                <a:spcPts val="640"/>
              </a:spcBef>
              <a:spcAft>
                <a:spcPts val="0"/>
              </a:spcAft>
              <a:buNone/>
            </a:pP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1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0" name="Google Shape;130;p16"/>
          <p:cNvSpPr txBox="1"/>
          <p:nvPr/>
        </p:nvSpPr>
        <p:spPr>
          <a:xfrm>
            <a:off x="209775" y="163775"/>
            <a:ext cx="696387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 name="Google Shape;139;p1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marL="0" lvl="0" indent="0" algn="l" rtl="0">
              <a:spcBef>
                <a:spcPts val="0"/>
              </a:spcBef>
              <a:spcAft>
                <a:spcPts val="0"/>
              </a:spcAft>
              <a:buNone/>
            </a:pPr>
            <a:endParaRPr sz="2400">
              <a:solidFill>
                <a:schemeClr val="dk1"/>
              </a:solidFill>
              <a:latin typeface="Lexend"/>
              <a:ea typeface="Lexend"/>
              <a:cs typeface="Lexend"/>
              <a:sym typeface="Lexend"/>
            </a:endParaRPr>
          </a:p>
          <a:p>
            <a:pPr marL="342900" lvl="0" indent="-279400" algn="l" rtl="0">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marL="342900" lvl="0" indent="-279400" algn="l" rtl="0">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marL="0" lvl="0" indent="0" algn="l" rtl="0">
              <a:spcBef>
                <a:spcPts val="640"/>
              </a:spcBef>
              <a:spcAft>
                <a:spcPts val="0"/>
              </a:spcAft>
              <a:buNone/>
            </a:pP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1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5" name="Google Shape;145;p17"/>
          <p:cNvSpPr txBox="1"/>
          <p:nvPr/>
        </p:nvSpPr>
        <p:spPr>
          <a:xfrm>
            <a:off x="209775" y="163775"/>
            <a:ext cx="731744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1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spcFirstLastPara="1" wrap="square" lIns="91425" tIns="91425" rIns="91425" bIns="91425" anchor="t" anchorCtr="0">
            <a:spAutoFit/>
          </a:bodyPr>
          <a:lstStyle/>
          <a:p>
            <a:pPr marL="342900" lvl="0" indent="-318770" algn="l" rtl="0">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1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1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60" name="Google Shape;160;p18"/>
          <p:cNvSpPr txBox="1"/>
          <p:nvPr/>
        </p:nvSpPr>
        <p:spPr>
          <a:xfrm>
            <a:off x="209775" y="163775"/>
            <a:ext cx="7678449"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8460050" cy="2044675"/>
        </p:xfrm>
        <a:graphic>
          <a:graphicData uri="http://schemas.openxmlformats.org/drawingml/2006/table">
            <a:tbl>
              <a:tblPr>
                <a:noFill/>
                <a:tableStyleId>{D66C8EFE-BFCC-412D-8971-004EF5BB507D}</a:tableStyleId>
              </a:tblPr>
              <a:tblGrid>
                <a:gridCol w="4230025">
                  <a:extLst>
                    <a:ext uri="{9D8B030D-6E8A-4147-A177-3AD203B41FA5}">
                      <a16:colId xmlns:a16="http://schemas.microsoft.com/office/drawing/2014/main" val="20000"/>
                    </a:ext>
                  </a:extLst>
                </a:gridCol>
                <a:gridCol w="4230025">
                  <a:extLst>
                    <a:ext uri="{9D8B030D-6E8A-4147-A177-3AD203B41FA5}">
                      <a16:colId xmlns:a16="http://schemas.microsoft.com/office/drawing/2014/main" val="20001"/>
                    </a:ext>
                  </a:extLst>
                </a:gridCol>
              </a:tblGrid>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sz="1800" i="0" u="none">
                        <a:solidFill>
                          <a:srgbClr val="00000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20050">
                <a:tc>
                  <a:txBody>
                    <a:bodyPr/>
                    <a:lstStyle/>
                    <a:p>
                      <a:pPr marL="0" marR="0" lvl="0" indent="0" algn="l" rtl="0">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20050">
                <a:tc>
                  <a:txBody>
                    <a:bodyPr/>
                    <a:lstStyle/>
                    <a:p>
                      <a:pPr marL="0" marR="0" lvl="0" indent="0" algn="l" rtl="0">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 name="Google Shape;170;p1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7</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spcFirstLastPara="1" wrap="square" lIns="91425" tIns="91425" rIns="91425" bIns="91425" anchor="t" anchorCtr="0">
            <a:spAutoFit/>
          </a:bodyPr>
          <a:lstStyle/>
          <a:p>
            <a:pPr marL="342900" lvl="0" indent="-342900" algn="l" rtl="0">
              <a:lnSpc>
                <a:spcPct val="90000"/>
              </a:lnSpc>
              <a:spcBef>
                <a:spcPts val="1200"/>
              </a:spcBef>
              <a:spcAft>
                <a:spcPts val="0"/>
              </a:spcAft>
              <a:buClr>
                <a:srgbClr val="FF0000"/>
              </a:buClr>
              <a:buSzPts val="2880"/>
              <a:buFont typeface="Lexend"/>
              <a:buChar char="▪"/>
            </a:pPr>
            <a:r>
              <a:rPr lang="en" sz="2400" i="1">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marL="1143000" lvl="2" indent="-228600" algn="l" rtl="0">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marL="1143000" lvl="2" indent="-228600" algn="l" rtl="0">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1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1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76" name="Google Shape;176;p19"/>
          <p:cNvSpPr txBox="1"/>
          <p:nvPr/>
        </p:nvSpPr>
        <p:spPr>
          <a:xfrm>
            <a:off x="209775" y="163775"/>
            <a:ext cx="787827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8</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marL="457200" lvl="0" indent="-381000" algn="l" rtl="0">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sz="2400" i="1">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2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2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91" name="Google Shape;191;p20"/>
          <p:cNvSpPr txBox="1"/>
          <p:nvPr/>
        </p:nvSpPr>
        <p:spPr>
          <a:xfrm>
            <a:off x="209775" y="163775"/>
            <a:ext cx="775635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 name="Google Shape;200;p2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9</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spcFirstLastPara="1" wrap="square" lIns="91425" tIns="91425" rIns="91425" bIns="91425" anchor="t" anchorCtr="0">
            <a:spAutoFit/>
          </a:bodyPr>
          <a:lstStyle/>
          <a:p>
            <a:pPr marL="457200" lvl="0" indent="-392430" algn="l" rtl="0">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marL="457200" lvl="0" indent="-386080" algn="l" rtl="0">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2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 name="Google Shape;205;p2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06" name="Google Shape;206;p21"/>
          <p:cNvSpPr txBox="1"/>
          <p:nvPr/>
        </p:nvSpPr>
        <p:spPr>
          <a:xfrm>
            <a:off x="209775" y="163775"/>
            <a:ext cx="763443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209" name="Google Shape;209;p21"/>
          <p:cNvPicPr preferRelativeResize="0"/>
          <p:nvPr/>
        </p:nvPicPr>
        <p:blipFill>
          <a:blip r:embed="rId3">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4">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5">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6">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2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10</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spcFirstLastPara="1" wrap="square" lIns="91425" tIns="91425" rIns="91425" bIns="91425" anchor="t" anchorCtr="0">
            <a:spAutoFit/>
          </a:bodyPr>
          <a:lstStyle/>
          <a:p>
            <a:pPr marL="457200" lvl="0" indent="-368300" algn="l" rtl="0">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lang="en" sz="2200" i="1">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lang="en" sz="2200" i="1" baseline="300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marL="457200" lvl="0" indent="-36830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lang="en" sz="2200" i="1" baseline="300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marL="457200" lvl="0" indent="-36830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lang="en" sz="2200" i="1" baseline="300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 name="Google Shape;223;p2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 name="Google Shape;224;p2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5" name="Google Shape;225;p22"/>
          <p:cNvSpPr txBox="1"/>
          <p:nvPr/>
        </p:nvSpPr>
        <p:spPr>
          <a:xfrm>
            <a:off x="209775" y="163775"/>
            <a:ext cx="7207713"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2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11</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lang="en" sz="2000" b="1">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lang="en" sz="2000" b="1">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 name="Google Shape;238;p2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2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40" name="Google Shape;240;p23"/>
          <p:cNvSpPr txBox="1"/>
          <p:nvPr/>
        </p:nvSpPr>
        <p:spPr>
          <a:xfrm>
            <a:off x="209775" y="163775"/>
            <a:ext cx="7549089"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2x4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Dec</a:t>
              </a:r>
              <a:endParaRPr sz="2000" b="0" i="0" u="none" strike="noStrike" cap="non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7" name="Google Shape;247;p23"/>
            <p:cNvCxnSpPr/>
            <p:nvPr/>
          </p:nvCxnSpPr>
          <p:spPr>
            <a:xfrm>
              <a:off x="2812527" y="30672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8" name="Google Shape;248;p23"/>
            <p:cNvCxnSpPr/>
            <p:nvPr/>
          </p:nvCxnSpPr>
          <p:spPr>
            <a:xfrm>
              <a:off x="2812527" y="28386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9" name="Google Shape;249;p23"/>
            <p:cNvCxnSpPr/>
            <p:nvPr/>
          </p:nvCxnSpPr>
          <p:spPr>
            <a:xfrm>
              <a:off x="1386884" y="33720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50" name="Google Shape;250;p23"/>
            <p:cNvCxnSpPr/>
            <p:nvPr/>
          </p:nvCxnSpPr>
          <p:spPr>
            <a:xfrm>
              <a:off x="2812527" y="32958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51" name="Google Shape;251;p23"/>
            <p:cNvCxnSpPr/>
            <p:nvPr/>
          </p:nvCxnSpPr>
          <p:spPr>
            <a:xfrm>
              <a:off x="2812527" y="3524425"/>
              <a:ext cx="476400" cy="0"/>
            </a:xfrm>
            <a:prstGeom prst="straightConnector1">
              <a:avLst/>
            </a:prstGeom>
            <a:noFill/>
            <a:ln w="15875" cap="flat" cmpd="sng">
              <a:solidFill>
                <a:srgbClr val="000000"/>
              </a:solidFill>
              <a:prstDash val="solid"/>
              <a:round/>
              <a:headEnd type="none" w="sm" len="sm"/>
              <a:tailEnd type="triangle" w="med" len="med"/>
            </a:ln>
          </p:spPr>
        </p:cxnSp>
        <p:sp>
          <p:nvSpPr>
            <p:cNvPr id="252" name="Google Shape;252;p23"/>
            <p:cNvSpPr txBox="1"/>
            <p:nvPr/>
          </p:nvSpPr>
          <p:spPr>
            <a:xfrm>
              <a:off x="541775" y="2838625"/>
              <a:ext cx="732300" cy="50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2-bit code</a:t>
              </a:r>
              <a:endParaRPr sz="1700" b="0" i="0" u="none" strike="noStrike" cap="non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X</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Y</a:t>
              </a:r>
              <a:endParaRPr sz="2000" b="0" i="0" u="none" strike="noStrike" cap="non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0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1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2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3</a:t>
              </a:r>
              <a:endParaRPr sz="1400" b="1" i="0" u="none" strike="noStrike" cap="non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3</a:t>
              </a:r>
              <a:endParaRPr sz="2000" b="0" i="0" u="none" strike="noStrike" cap="non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2322550" cy="1504950"/>
        </p:xfrm>
        <a:graphic>
          <a:graphicData uri="http://schemas.openxmlformats.org/drawingml/2006/table">
            <a:tbl>
              <a:tblPr>
                <a:noFill/>
                <a:tableStyleId>{D66C8EFE-BFCC-412D-8971-004EF5BB507D}</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408050">
                  <a:extLst>
                    <a:ext uri="{9D8B030D-6E8A-4147-A177-3AD203B41FA5}">
                      <a16:colId xmlns:a16="http://schemas.microsoft.com/office/drawing/2014/main" val="20005"/>
                    </a:ext>
                  </a:extLst>
                </a:gridCol>
              </a:tblGrid>
              <a:tr h="293950">
                <a:tc>
                  <a:txBody>
                    <a:bodyPr/>
                    <a:lstStyle/>
                    <a:p>
                      <a:pPr marL="0" marR="0" lvl="0" indent="0" algn="ctr" rtl="0">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2750">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pic>
        <p:nvPicPr>
          <p:cNvPr id="257" name="Google Shape;257;p23"/>
          <p:cNvPicPr preferRelativeResize="0"/>
          <p:nvPr/>
        </p:nvPicPr>
        <p:blipFill>
          <a:blip r:embed="rId3">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2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12</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2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2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70" name="Google Shape;270;p24"/>
          <p:cNvSpPr txBox="1"/>
          <p:nvPr/>
        </p:nvSpPr>
        <p:spPr>
          <a:xfrm>
            <a:off x="209775" y="163775"/>
            <a:ext cx="714200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9" name="Google Shape;279;p2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13</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3" name="Google Shape;283;p2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2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85" name="Google Shape;285;p25"/>
          <p:cNvSpPr txBox="1"/>
          <p:nvPr/>
        </p:nvSpPr>
        <p:spPr>
          <a:xfrm>
            <a:off x="209775" y="163775"/>
            <a:ext cx="769064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288" name="Google Shape;288;p25"/>
          <p:cNvPicPr preferRelativeResize="0"/>
          <p:nvPr/>
        </p:nvPicPr>
        <p:blipFill>
          <a:blip r:embed="rId3">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4211900" cy="3058775"/>
        </p:xfrm>
        <a:graphic>
          <a:graphicData uri="http://schemas.openxmlformats.org/drawingml/2006/table">
            <a:tbl>
              <a:tblPr>
                <a:noFill/>
                <a:tableStyleId>{D66C8EFE-BFCC-412D-8971-004EF5BB507D}</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382900">
                  <a:extLst>
                    <a:ext uri="{9D8B030D-6E8A-4147-A177-3AD203B41FA5}">
                      <a16:colId xmlns:a16="http://schemas.microsoft.com/office/drawing/2014/main" val="20005"/>
                    </a:ext>
                  </a:extLst>
                </a:gridCol>
                <a:gridCol w="382900">
                  <a:extLst>
                    <a:ext uri="{9D8B030D-6E8A-4147-A177-3AD203B41FA5}">
                      <a16:colId xmlns:a16="http://schemas.microsoft.com/office/drawing/2014/main" val="20006"/>
                    </a:ext>
                  </a:extLst>
                </a:gridCol>
                <a:gridCol w="382900">
                  <a:extLst>
                    <a:ext uri="{9D8B030D-6E8A-4147-A177-3AD203B41FA5}">
                      <a16:colId xmlns:a16="http://schemas.microsoft.com/office/drawing/2014/main" val="20007"/>
                    </a:ext>
                  </a:extLst>
                </a:gridCol>
                <a:gridCol w="382900">
                  <a:extLst>
                    <a:ext uri="{9D8B030D-6E8A-4147-A177-3AD203B41FA5}">
                      <a16:colId xmlns:a16="http://schemas.microsoft.com/office/drawing/2014/main" val="20008"/>
                    </a:ext>
                  </a:extLst>
                </a:gridCol>
                <a:gridCol w="382900">
                  <a:extLst>
                    <a:ext uri="{9D8B030D-6E8A-4147-A177-3AD203B41FA5}">
                      <a16:colId xmlns:a16="http://schemas.microsoft.com/office/drawing/2014/main" val="20009"/>
                    </a:ext>
                  </a:extLst>
                </a:gridCol>
                <a:gridCol w="382900">
                  <a:extLst>
                    <a:ext uri="{9D8B030D-6E8A-4147-A177-3AD203B41FA5}">
                      <a16:colId xmlns:a16="http://schemas.microsoft.com/office/drawing/2014/main" val="20010"/>
                    </a:ext>
                  </a:extLst>
                </a:gridCol>
              </a:tblGrid>
              <a:tr h="407575">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0</a:t>
                      </a:r>
                      <a:endParaRPr sz="1500" baseline="-250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1</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2</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3</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4</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5</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6</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7</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1400">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140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2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14</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lang="en" sz="2000"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p2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2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02" name="Google Shape;302;p26"/>
          <p:cNvSpPr txBox="1"/>
          <p:nvPr/>
        </p:nvSpPr>
        <p:spPr>
          <a:xfrm>
            <a:off x="209775" y="163775"/>
            <a:ext cx="75965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308" name="Google Shape;308;p26"/>
            <p:cNvCxnSpPr/>
            <p:nvPr/>
          </p:nvCxnSpPr>
          <p:spPr>
            <a:xfrm>
              <a:off x="2937080" y="21799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309" name="Google Shape;309;p26"/>
            <p:cNvCxnSpPr/>
            <p:nvPr/>
          </p:nvCxnSpPr>
          <p:spPr>
            <a:xfrm>
              <a:off x="2937080" y="2789525"/>
              <a:ext cx="476400" cy="0"/>
            </a:xfrm>
            <a:prstGeom prst="straightConnector1">
              <a:avLst/>
            </a:prstGeom>
            <a:noFill/>
            <a:ln w="15875" cap="flat" cmpd="sng">
              <a:solidFill>
                <a:srgbClr val="000000"/>
              </a:solidFill>
              <a:prstDash val="solid"/>
              <a:round/>
              <a:headEnd type="none" w="sm" len="sm"/>
              <a:tailEnd type="triangle" w="med" len="med"/>
            </a:ln>
          </p:spPr>
        </p:cxnSp>
        <p:sp>
          <p:nvSpPr>
            <p:cNvPr id="310" name="Google Shape;310;p26"/>
            <p:cNvSpPr txBox="1"/>
            <p:nvPr/>
          </p:nvSpPr>
          <p:spPr>
            <a:xfrm>
              <a:off x="2897750" y="2259125"/>
              <a:ext cx="476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2" name="Google Shape;312;p26"/>
            <p:cNvCxnSpPr/>
            <p:nvPr/>
          </p:nvCxnSpPr>
          <p:spPr>
            <a:xfrm>
              <a:off x="5305425" y="20275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3" name="Google Shape;313;p26"/>
            <p:cNvCxnSpPr/>
            <p:nvPr/>
          </p:nvCxnSpPr>
          <p:spPr>
            <a:xfrm>
              <a:off x="5305425" y="2789525"/>
              <a:ext cx="476250" cy="0"/>
            </a:xfrm>
            <a:prstGeom prst="straightConnector1">
              <a:avLst/>
            </a:prstGeom>
            <a:noFill/>
            <a:ln w="15875" cap="flat" cmpd="sng">
              <a:solidFill>
                <a:srgbClr val="000000"/>
              </a:solidFill>
              <a:prstDash val="solid"/>
              <a:round/>
              <a:headEnd type="none" w="sm" len="sm"/>
              <a:tailEnd type="triangle" w="med" len="med"/>
            </a:ln>
          </p:spPr>
        </p:cxnSp>
        <p:sp>
          <p:nvSpPr>
            <p:cNvPr id="314" name="Google Shape;314;p26"/>
            <p:cNvSpPr txBox="1"/>
            <p:nvPr/>
          </p:nvSpPr>
          <p:spPr>
            <a:xfrm>
              <a:off x="5457825" y="2256125"/>
              <a:ext cx="476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6" name="Google Shape;316;p26"/>
            <p:cNvCxnSpPr/>
            <p:nvPr/>
          </p:nvCxnSpPr>
          <p:spPr>
            <a:xfrm>
              <a:off x="5305425" y="18751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7" name="Google Shape;317;p26"/>
            <p:cNvCxnSpPr/>
            <p:nvPr/>
          </p:nvCxnSpPr>
          <p:spPr>
            <a:xfrm>
              <a:off x="5305425" y="2103725"/>
              <a:ext cx="476250" cy="0"/>
            </a:xfrm>
            <a:prstGeom prst="straightConnector1">
              <a:avLst/>
            </a:prstGeom>
            <a:noFill/>
            <a:ln w="15875" cap="flat" cmpd="sng">
              <a:solidFill>
                <a:srgbClr val="000000"/>
              </a:solidFill>
              <a:prstDash val="solid"/>
              <a:round/>
              <a:headEnd type="none" w="sm" len="sm"/>
              <a:tailEnd type="triangle" w="med" len="med"/>
            </a:ln>
          </p:spPr>
        </p:cxnSp>
        <p:sp>
          <p:nvSpPr>
            <p:cNvPr id="318" name="Google Shape;318;p26"/>
            <p:cNvSpPr txBox="1"/>
            <p:nvPr/>
          </p:nvSpPr>
          <p:spPr>
            <a:xfrm>
              <a:off x="1800225" y="1951325"/>
              <a:ext cx="9525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1" u="none" strike="noStrike" cap="none">
                  <a:solidFill>
                    <a:srgbClr val="000000"/>
                  </a:solidFill>
                  <a:latin typeface="Lexend"/>
                  <a:ea typeface="Lexend"/>
                  <a:cs typeface="Lexend"/>
                  <a:sym typeface="Lexend"/>
                </a:rPr>
                <a:t>n</a:t>
              </a:r>
              <a:r>
                <a:rPr lang="en" sz="2000" i="0" u="none" strike="noStrike" cap="none">
                  <a:solidFill>
                    <a:srgbClr val="000000"/>
                  </a:solidFill>
                  <a:latin typeface="Lexend"/>
                  <a:ea typeface="Lexend"/>
                  <a:cs typeface="Lexend"/>
                  <a:sym typeface="Lexend"/>
                </a:rPr>
                <a:t>-bit</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code</a:t>
              </a:r>
              <a:endParaRPr sz="1800" i="0" u="none" strike="noStrike" cap="non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1" u="none" strike="noStrike" cap="none">
                  <a:solidFill>
                    <a:srgbClr val="000000"/>
                  </a:solidFill>
                  <a:latin typeface="Lexend"/>
                  <a:ea typeface="Lexend"/>
                  <a:cs typeface="Lexend"/>
                  <a:sym typeface="Lexend"/>
                </a:rPr>
                <a:t>n</a:t>
              </a:r>
              <a:r>
                <a:rPr lang="en" sz="2000" i="0" u="none" strike="noStrike" cap="none">
                  <a:solidFill>
                    <a:srgbClr val="000000"/>
                  </a:solidFill>
                  <a:latin typeface="Lexend"/>
                  <a:ea typeface="Lexend"/>
                  <a:cs typeface="Lexend"/>
                  <a:sym typeface="Lexend"/>
                </a:rPr>
                <a:t> to 2</a:t>
              </a:r>
              <a:r>
                <a:rPr lang="en" sz="2000" i="1" u="none" strike="noStrike" cap="none" baseline="30000">
                  <a:solidFill>
                    <a:srgbClr val="000000"/>
                  </a:solidFill>
                  <a:latin typeface="Lexend"/>
                  <a:ea typeface="Lexend"/>
                  <a:cs typeface="Lexend"/>
                  <a:sym typeface="Lexend"/>
                </a:rPr>
                <a:t>n</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decoder</a:t>
              </a:r>
              <a:endParaRPr sz="1800" i="0" u="none" strike="noStrike" cap="non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up to 2</a:t>
              </a:r>
              <a:r>
                <a:rPr lang="en" sz="2000" i="1" u="none" strike="noStrike" cap="none" baseline="30000">
                  <a:solidFill>
                    <a:srgbClr val="000000"/>
                  </a:solidFill>
                  <a:latin typeface="Lexend"/>
                  <a:ea typeface="Lexend"/>
                  <a:cs typeface="Lexend"/>
                  <a:sym typeface="Lexend"/>
                </a:rPr>
                <a:t>n</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output lines</a:t>
              </a:r>
              <a:endParaRPr sz="1800" i="0" u="none" strike="noStrike" cap="non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name="adj1" fmla="val 13592"/>
              <a:gd name="adj2" fmla="val -60005"/>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 name="Google Shape;328;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15</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2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 name="Google Shape;333;p2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34" name="Google Shape;334;p27"/>
          <p:cNvSpPr txBox="1"/>
          <p:nvPr/>
        </p:nvSpPr>
        <p:spPr>
          <a:xfrm>
            <a:off x="209775" y="163775"/>
            <a:ext cx="762968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3">
            <a:alphaModFix/>
          </a:blip>
          <a:srcRect b="13487"/>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 name="Google Shape;344;p2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16</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 name="Google Shape;348;p2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 name="Google Shape;349;p2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50" name="Google Shape;350;p28"/>
          <p:cNvSpPr txBox="1"/>
          <p:nvPr/>
        </p:nvSpPr>
        <p:spPr>
          <a:xfrm>
            <a:off x="209775" y="163775"/>
            <a:ext cx="7805121"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2322550" cy="1504950"/>
        </p:xfrm>
        <a:graphic>
          <a:graphicData uri="http://schemas.openxmlformats.org/drawingml/2006/table">
            <a:tbl>
              <a:tblPr>
                <a:noFill/>
                <a:tableStyleId>{D66C8EFE-BFCC-412D-8971-004EF5BB507D}</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408050">
                  <a:extLst>
                    <a:ext uri="{9D8B030D-6E8A-4147-A177-3AD203B41FA5}">
                      <a16:colId xmlns:a16="http://schemas.microsoft.com/office/drawing/2014/main" val="20005"/>
                    </a:ext>
                  </a:extLst>
                </a:gridCol>
              </a:tblGrid>
              <a:tr h="293950">
                <a:tc>
                  <a:txBody>
                    <a:bodyPr/>
                    <a:lstStyle/>
                    <a:p>
                      <a:pPr marL="0" marR="0" lvl="0" indent="0" algn="ctr" rtl="0">
                        <a:lnSpc>
                          <a:spcPct val="100000"/>
                        </a:lnSpc>
                        <a:spcBef>
                          <a:spcPts val="0"/>
                        </a:spcBef>
                        <a:spcAft>
                          <a:spcPts val="0"/>
                        </a:spcAft>
                        <a:buNone/>
                      </a:pPr>
                      <a:r>
                        <a:rPr lang="en" sz="1300" b="1">
                          <a:latin typeface="Lexend"/>
                          <a:ea typeface="Lexend"/>
                          <a:cs typeface="Lexend"/>
                          <a:sym typeface="Lexend"/>
                        </a:rPr>
                        <a:t>S</a:t>
                      </a:r>
                      <a:r>
                        <a:rPr lang="en" sz="1300" b="1" baseline="-25000">
                          <a:latin typeface="Lexend"/>
                          <a:ea typeface="Lexend"/>
                          <a:cs typeface="Lexend"/>
                          <a:sym typeface="Lexend"/>
                        </a:rPr>
                        <a:t>1</a:t>
                      </a:r>
                      <a:endParaRPr sz="1300" b="1"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S</a:t>
                      </a:r>
                      <a:r>
                        <a:rPr lang="en" sz="1300" b="1" baseline="-25000">
                          <a:solidFill>
                            <a:schemeClr val="dk1"/>
                          </a:solidFill>
                          <a:latin typeface="Lexend"/>
                          <a:ea typeface="Lexend"/>
                          <a:cs typeface="Lexend"/>
                          <a:sym typeface="Lexend"/>
                        </a:rPr>
                        <a:t>2</a:t>
                      </a:r>
                      <a:endParaRPr sz="13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0</a:t>
                      </a:r>
                      <a:endParaRPr sz="1300" baseline="-250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3</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2750">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demux</a:t>
              </a:r>
              <a:endParaRPr sz="2000" b="0" i="0" u="none" strike="noStrike" cap="non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w="15875" cap="flat" cmpd="sng">
              <a:solidFill>
                <a:srgbClr val="000000"/>
              </a:solidFill>
              <a:prstDash val="solid"/>
              <a:round/>
              <a:headEnd type="none" w="sm" len="sm"/>
              <a:tailEnd type="triangle" w="med" len="med"/>
            </a:ln>
          </p:spPr>
        </p:cxnSp>
        <p:cxnSp>
          <p:nvCxnSpPr>
            <p:cNvPr id="357" name="Google Shape;357;p28"/>
            <p:cNvCxnSpPr/>
            <p:nvPr/>
          </p:nvCxnSpPr>
          <p:spPr>
            <a:xfrm>
              <a:off x="2796050" y="345530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358" name="Google Shape;358;p28"/>
            <p:cNvCxnSpPr/>
            <p:nvPr/>
          </p:nvCxnSpPr>
          <p:spPr>
            <a:xfrm>
              <a:off x="2789900" y="2726000"/>
              <a:ext cx="251700" cy="0"/>
            </a:xfrm>
            <a:prstGeom prst="straightConnector1">
              <a:avLst/>
            </a:prstGeom>
            <a:noFill/>
            <a:ln w="15875" cap="flat" cmpd="sng">
              <a:solidFill>
                <a:srgbClr val="000000"/>
              </a:solidFill>
              <a:prstDash val="solid"/>
              <a:round/>
              <a:headEnd type="none" w="sm" len="sm"/>
              <a:tailEnd type="triangle" w="med" len="med"/>
            </a:ln>
          </p:spPr>
        </p:cxnSp>
        <p:cxnSp>
          <p:nvCxnSpPr>
            <p:cNvPr id="359" name="Google Shape;359;p28"/>
            <p:cNvCxnSpPr/>
            <p:nvPr/>
          </p:nvCxnSpPr>
          <p:spPr>
            <a:xfrm rot="10800000">
              <a:off x="1986026" y="3553179"/>
              <a:ext cx="0" cy="516900"/>
            </a:xfrm>
            <a:prstGeom prst="straightConnector1">
              <a:avLst/>
            </a:prstGeom>
            <a:noFill/>
            <a:ln w="15875" cap="flat" cmpd="sng">
              <a:solidFill>
                <a:srgbClr val="000000"/>
              </a:solidFill>
              <a:prstDash val="solid"/>
              <a:round/>
              <a:headEnd type="none" w="sm" len="sm"/>
              <a:tailEnd type="triangle" w="med" len="med"/>
            </a:ln>
          </p:spPr>
        </p:cxnSp>
        <p:cxnSp>
          <p:nvCxnSpPr>
            <p:cNvPr id="360" name="Google Shape;360;p28"/>
            <p:cNvCxnSpPr/>
            <p:nvPr/>
          </p:nvCxnSpPr>
          <p:spPr>
            <a:xfrm>
              <a:off x="2796050" y="309065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361" name="Google Shape;361;p28"/>
            <p:cNvCxnSpPr/>
            <p:nvPr/>
          </p:nvCxnSpPr>
          <p:spPr>
            <a:xfrm>
              <a:off x="2796050" y="3819950"/>
              <a:ext cx="245700" cy="0"/>
            </a:xfrm>
            <a:prstGeom prst="straightConnector1">
              <a:avLst/>
            </a:prstGeom>
            <a:noFill/>
            <a:ln w="15875" cap="flat" cmpd="sng">
              <a:solidFill>
                <a:srgbClr val="000000"/>
              </a:solidFill>
              <a:prstDash val="solid"/>
              <a:round/>
              <a:headEnd type="none" w="sm" len="sm"/>
              <a:tailEnd type="triangle" w="med" len="med"/>
            </a:ln>
          </p:spPr>
        </p:cxnSp>
        <p:sp>
          <p:nvSpPr>
            <p:cNvPr id="362" name="Google Shape;362;p28"/>
            <p:cNvSpPr txBox="1"/>
            <p:nvPr/>
          </p:nvSpPr>
          <p:spPr>
            <a:xfrm>
              <a:off x="230759" y="3094505"/>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Data D</a:t>
              </a:r>
              <a:endParaRPr sz="2000" b="0" i="0" u="none" strike="noStrike" cap="non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Outputs</a:t>
              </a:r>
              <a:endParaRPr sz="2000" b="0" i="0" u="none" strike="noStrike" cap="none">
                <a:solidFill>
                  <a:srgbClr val="000000"/>
                </a:solidFill>
                <a:latin typeface="Arial"/>
                <a:ea typeface="Arial"/>
                <a:cs typeface="Arial"/>
                <a:sym typeface="Arial"/>
              </a:endParaRPr>
            </a:p>
          </p:txBody>
        </p:sp>
        <p:sp>
          <p:nvSpPr>
            <p:cNvPr id="364" name="Google Shape;364;p28"/>
            <p:cNvSpPr/>
            <p:nvPr/>
          </p:nvSpPr>
          <p:spPr>
            <a:xfrm rot="-5400000" flipH="1">
              <a:off x="1420166" y="2580959"/>
              <a:ext cx="1367451" cy="1365801"/>
            </a:xfrm>
            <a:prstGeom prst="triangle">
              <a:avLst>
                <a:gd name="adj" fmla="val 50000"/>
              </a:avLst>
            </a:prstGeom>
            <a:noFill/>
            <a:ln w="158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w="15875" cap="flat" cmpd="sng">
              <a:solidFill>
                <a:srgbClr val="000000"/>
              </a:solidFill>
              <a:prstDash val="solid"/>
              <a:round/>
              <a:headEnd type="none" w="sm" len="sm"/>
              <a:tailEnd type="triangle" w="med" len="med"/>
            </a:ln>
          </p:spPr>
        </p:cxnSp>
        <p:sp>
          <p:nvSpPr>
            <p:cNvPr id="366" name="Google Shape;366;p28"/>
            <p:cNvSpPr txBox="1"/>
            <p:nvPr/>
          </p:nvSpPr>
          <p:spPr>
            <a:xfrm>
              <a:off x="1566677" y="4476333"/>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p2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17</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2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2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83" name="Google Shape;383;p2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385" name="Google Shape;385;p29"/>
          <p:cNvPicPr preferRelativeResize="0">
            <a:picLocks noGrp="1"/>
          </p:cNvPicPr>
          <p:nvPr>
            <p:ph type="body" idx="1"/>
          </p:nvPr>
        </p:nvPicPr>
        <p:blipFill rotWithShape="1">
          <a:blip r:embed="rId3">
            <a:alphaModFix/>
          </a:blip>
          <a:srcRect/>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92;p3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18</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spcFirstLastPara="1" wrap="square" lIns="91425" tIns="91425" rIns="91425" bIns="91425" anchor="t" anchorCtr="0">
            <a:spAutoFit/>
          </a:bodyPr>
          <a:lstStyle/>
          <a:p>
            <a:pPr marL="457200" lvl="0" indent="-336550" algn="l" rtl="0">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marL="457200" lvl="0" indent="-336550" algn="l" rtl="0">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3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3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8" name="Google Shape;398;p3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2x4 Decoder</a:t>
            </a:r>
            <a:endParaRPr sz="2000" b="0" i="0" u="none" strike="noStrike" cap="non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w="15875" cap="flat" cmpd="sng">
            <a:solidFill>
              <a:srgbClr val="000000"/>
            </a:solidFill>
            <a:prstDash val="solid"/>
            <a:round/>
            <a:headEnd type="none" w="sm" len="sm"/>
            <a:tailEnd type="triangle" w="med" len="med"/>
          </a:ln>
        </p:spPr>
      </p:cxnSp>
      <p:cxnSp>
        <p:nvCxnSpPr>
          <p:cNvPr id="403" name="Google Shape;403;p30"/>
          <p:cNvCxnSpPr/>
          <p:nvPr/>
        </p:nvCxnSpPr>
        <p:spPr>
          <a:xfrm>
            <a:off x="6601104" y="3377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4" name="Google Shape;404;p30"/>
          <p:cNvCxnSpPr/>
          <p:nvPr/>
        </p:nvCxnSpPr>
        <p:spPr>
          <a:xfrm>
            <a:off x="6601104" y="2615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5" name="Google Shape;405;p30"/>
          <p:cNvCxnSpPr/>
          <p:nvPr/>
        </p:nvCxnSpPr>
        <p:spPr>
          <a:xfrm rot="10800000">
            <a:off x="5825575" y="3894638"/>
            <a:ext cx="0" cy="476100"/>
          </a:xfrm>
          <a:prstGeom prst="straightConnector1">
            <a:avLst/>
          </a:prstGeom>
          <a:noFill/>
          <a:ln w="15875" cap="flat" cmpd="sng">
            <a:solidFill>
              <a:srgbClr val="000000"/>
            </a:solidFill>
            <a:prstDash val="solid"/>
            <a:round/>
            <a:headEnd type="none" w="sm" len="sm"/>
            <a:tailEnd type="triangle" w="med" len="med"/>
          </a:ln>
        </p:spPr>
      </p:cxnSp>
      <p:cxnSp>
        <p:nvCxnSpPr>
          <p:cNvPr id="406" name="Google Shape;406;p30"/>
          <p:cNvCxnSpPr/>
          <p:nvPr/>
        </p:nvCxnSpPr>
        <p:spPr>
          <a:xfrm>
            <a:off x="6601104" y="2996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7" name="Google Shape;407;p30"/>
          <p:cNvCxnSpPr/>
          <p:nvPr/>
        </p:nvCxnSpPr>
        <p:spPr>
          <a:xfrm>
            <a:off x="6601104" y="3758651"/>
            <a:ext cx="476400" cy="0"/>
          </a:xfrm>
          <a:prstGeom prst="straightConnector1">
            <a:avLst/>
          </a:prstGeom>
          <a:noFill/>
          <a:ln w="15875" cap="flat" cmpd="sng">
            <a:solidFill>
              <a:srgbClr val="000000"/>
            </a:solidFill>
            <a:prstDash val="solid"/>
            <a:round/>
            <a:headEnd type="none" w="sm" len="sm"/>
            <a:tailEnd type="triangle" w="med" len="med"/>
          </a:ln>
        </p:spPr>
      </p:cxnSp>
      <p:sp>
        <p:nvSpPr>
          <p:cNvPr id="408" name="Google Shape;408;p30"/>
          <p:cNvSpPr txBox="1"/>
          <p:nvPr/>
        </p:nvSpPr>
        <p:spPr>
          <a:xfrm>
            <a:off x="5649363" y="4370738"/>
            <a:ext cx="476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
            </a:r>
            <a:endParaRPr sz="2000" b="0" i="0" u="none" strike="noStrike" cap="non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w="15875" cap="flat" cmpd="sng">
            <a:solidFill>
              <a:srgbClr val="000000"/>
            </a:solidFill>
            <a:prstDash val="solid"/>
            <a:round/>
            <a:headEnd type="none" w="sm" len="sm"/>
            <a:tailEnd type="triangle" w="med" len="med"/>
          </a:ln>
        </p:spPr>
      </p:cxnSp>
      <p:sp>
        <p:nvSpPr>
          <p:cNvPr id="416" name="Google Shape;416;p30"/>
          <p:cNvSpPr txBox="1"/>
          <p:nvPr/>
        </p:nvSpPr>
        <p:spPr>
          <a:xfrm>
            <a:off x="5584363" y="3608738"/>
            <a:ext cx="4764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E</a:t>
            </a:r>
            <a:endParaRPr sz="2000" b="0" i="0" u="none" strike="noStrike" cap="non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name="adj1" fmla="val 50000"/>
              <a:gd name="adj2" fmla="val 50000"/>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demux</a:t>
              </a:r>
              <a:endParaRPr sz="2000" b="0" i="0" u="none" strike="noStrike" cap="non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w="15875" cap="flat" cmpd="sng">
              <a:solidFill>
                <a:srgbClr val="000000"/>
              </a:solidFill>
              <a:prstDash val="solid"/>
              <a:round/>
              <a:headEnd type="none" w="sm" len="sm"/>
              <a:tailEnd type="triangle" w="med" len="med"/>
            </a:ln>
          </p:spPr>
        </p:cxnSp>
        <p:cxnSp>
          <p:nvCxnSpPr>
            <p:cNvPr id="421" name="Google Shape;421;p30"/>
            <p:cNvCxnSpPr/>
            <p:nvPr/>
          </p:nvCxnSpPr>
          <p:spPr>
            <a:xfrm>
              <a:off x="2796050" y="345530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422" name="Google Shape;422;p30"/>
            <p:cNvCxnSpPr/>
            <p:nvPr/>
          </p:nvCxnSpPr>
          <p:spPr>
            <a:xfrm>
              <a:off x="2789900" y="2726000"/>
              <a:ext cx="251700" cy="0"/>
            </a:xfrm>
            <a:prstGeom prst="straightConnector1">
              <a:avLst/>
            </a:prstGeom>
            <a:noFill/>
            <a:ln w="15875" cap="flat" cmpd="sng">
              <a:solidFill>
                <a:srgbClr val="000000"/>
              </a:solidFill>
              <a:prstDash val="solid"/>
              <a:round/>
              <a:headEnd type="none" w="sm" len="sm"/>
              <a:tailEnd type="triangle" w="med" len="med"/>
            </a:ln>
          </p:spPr>
        </p:cxnSp>
        <p:cxnSp>
          <p:nvCxnSpPr>
            <p:cNvPr id="423" name="Google Shape;423;p30"/>
            <p:cNvCxnSpPr/>
            <p:nvPr/>
          </p:nvCxnSpPr>
          <p:spPr>
            <a:xfrm rot="10800000">
              <a:off x="1986026" y="3553179"/>
              <a:ext cx="0" cy="516900"/>
            </a:xfrm>
            <a:prstGeom prst="straightConnector1">
              <a:avLst/>
            </a:prstGeom>
            <a:noFill/>
            <a:ln w="15875" cap="flat" cmpd="sng">
              <a:solidFill>
                <a:srgbClr val="000000"/>
              </a:solidFill>
              <a:prstDash val="solid"/>
              <a:round/>
              <a:headEnd type="none" w="sm" len="sm"/>
              <a:tailEnd type="triangle" w="med" len="med"/>
            </a:ln>
          </p:spPr>
        </p:cxnSp>
        <p:cxnSp>
          <p:nvCxnSpPr>
            <p:cNvPr id="424" name="Google Shape;424;p30"/>
            <p:cNvCxnSpPr/>
            <p:nvPr/>
          </p:nvCxnSpPr>
          <p:spPr>
            <a:xfrm>
              <a:off x="2796050" y="309065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425" name="Google Shape;425;p30"/>
            <p:cNvCxnSpPr/>
            <p:nvPr/>
          </p:nvCxnSpPr>
          <p:spPr>
            <a:xfrm>
              <a:off x="2796050" y="3819950"/>
              <a:ext cx="245700" cy="0"/>
            </a:xfrm>
            <a:prstGeom prst="straightConnector1">
              <a:avLst/>
            </a:prstGeom>
            <a:noFill/>
            <a:ln w="15875" cap="flat" cmpd="sng">
              <a:solidFill>
                <a:srgbClr val="000000"/>
              </a:solidFill>
              <a:prstDash val="solid"/>
              <a:round/>
              <a:headEnd type="none" w="sm" len="sm"/>
              <a:tailEnd type="triangle" w="med" len="med"/>
            </a:ln>
          </p:spPr>
        </p:cxnSp>
        <p:sp>
          <p:nvSpPr>
            <p:cNvPr id="426" name="Google Shape;426;p30"/>
            <p:cNvSpPr txBox="1"/>
            <p:nvPr/>
          </p:nvSpPr>
          <p:spPr>
            <a:xfrm>
              <a:off x="131244" y="3094497"/>
              <a:ext cx="10101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Data D</a:t>
              </a:r>
              <a:endParaRPr sz="2000" b="0" i="0" u="none" strike="noStrike" cap="non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Outputs</a:t>
              </a:r>
              <a:endParaRPr sz="2000" b="0" i="0" u="none" strike="noStrike" cap="none">
                <a:solidFill>
                  <a:srgbClr val="000000"/>
                </a:solidFill>
                <a:latin typeface="Arial"/>
                <a:ea typeface="Arial"/>
                <a:cs typeface="Arial"/>
                <a:sym typeface="Arial"/>
              </a:endParaRPr>
            </a:p>
          </p:txBody>
        </p:sp>
        <p:sp>
          <p:nvSpPr>
            <p:cNvPr id="428" name="Google Shape;428;p30"/>
            <p:cNvSpPr/>
            <p:nvPr/>
          </p:nvSpPr>
          <p:spPr>
            <a:xfrm rot="-5400000" flipH="1">
              <a:off x="1420241" y="2580884"/>
              <a:ext cx="1367400" cy="1365900"/>
            </a:xfrm>
            <a:prstGeom prst="triangle">
              <a:avLst>
                <a:gd name="adj" fmla="val 50000"/>
              </a:avLst>
            </a:prstGeom>
            <a:noFill/>
            <a:ln w="158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w="15875" cap="flat" cmpd="sng">
              <a:solidFill>
                <a:srgbClr val="000000"/>
              </a:solidFill>
              <a:prstDash val="solid"/>
              <a:round/>
              <a:headEnd type="none" w="sm" len="sm"/>
              <a:tailEnd type="triangle" w="med" len="med"/>
            </a:ln>
          </p:spPr>
        </p:cxnSp>
        <p:sp>
          <p:nvSpPr>
            <p:cNvPr id="430" name="Google Shape;430;p30"/>
            <p:cNvSpPr txBox="1"/>
            <p:nvPr/>
          </p:nvSpPr>
          <p:spPr>
            <a:xfrm>
              <a:off x="1566677" y="4476333"/>
              <a:ext cx="9105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a:t>
              </a:r>
              <a:endParaRPr sz="1600" b="0" i="0" u="none" strike="noStrike" cap="non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a:t>
              </a:r>
              <a:endParaRPr sz="16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 name="Google Shape;442;p3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19</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3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3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48" name="Google Shape;448;p3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451" name="Google Shape;451;p31" descr="AACFLPD0"/>
          <p:cNvPicPr preferRelativeResize="0">
            <a:picLocks noGrp="1"/>
          </p:cNvPicPr>
          <p:nvPr>
            <p:ph type="body" idx="1"/>
          </p:nvPr>
        </p:nvPicPr>
        <p:blipFill rotWithShape="1">
          <a:blip r:embed="rId3">
            <a:alphaModFix/>
          </a:blip>
          <a:srcRect/>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 name="Google Shape;458;p3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20</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marL="0" lvl="0" indent="0" algn="l" rtl="0">
              <a:lnSpc>
                <a:spcPct val="90000"/>
              </a:lnSpc>
              <a:spcBef>
                <a:spcPts val="1000"/>
              </a:spcBef>
              <a:spcAft>
                <a:spcPts val="0"/>
              </a:spcAft>
              <a:buNone/>
            </a:pPr>
            <a:endParaRPr sz="1600">
              <a:solidFill>
                <a:schemeClr val="dk1"/>
              </a:solidFill>
              <a:latin typeface="Lexend"/>
              <a:ea typeface="Lexend"/>
              <a:cs typeface="Lexend"/>
              <a:sym typeface="Lexend"/>
            </a:endParaRPr>
          </a:p>
          <a:p>
            <a:pPr marL="228600" lvl="0" indent="-17780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marL="228600" lvl="0" indent="-177800" algn="l" rtl="0">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marL="0" lvl="0" indent="0" algn="l" rtl="0">
              <a:lnSpc>
                <a:spcPct val="90000"/>
              </a:lnSpc>
              <a:spcBef>
                <a:spcPts val="1000"/>
              </a:spcBef>
              <a:spcAft>
                <a:spcPts val="0"/>
              </a:spcAft>
              <a:buNone/>
            </a:pP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 name="Google Shape;462;p3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 name="Google Shape;463;p3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64" name="Google Shape;464;p3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1641000" cy="4440310"/>
        </p:xfrm>
        <a:graphic>
          <a:graphicData uri="http://schemas.openxmlformats.org/drawingml/2006/table">
            <a:tbl>
              <a:tblPr>
                <a:noFill/>
                <a:tableStyleId>{D66C8EFE-BFCC-412D-8971-004EF5BB507D}</a:tableStyleId>
              </a:tblPr>
              <a:tblGrid>
                <a:gridCol w="410250">
                  <a:extLst>
                    <a:ext uri="{9D8B030D-6E8A-4147-A177-3AD203B41FA5}">
                      <a16:colId xmlns:a16="http://schemas.microsoft.com/office/drawing/2014/main" val="20000"/>
                    </a:ext>
                  </a:extLst>
                </a:gridCol>
                <a:gridCol w="410250">
                  <a:extLst>
                    <a:ext uri="{9D8B030D-6E8A-4147-A177-3AD203B41FA5}">
                      <a16:colId xmlns:a16="http://schemas.microsoft.com/office/drawing/2014/main" val="20001"/>
                    </a:ext>
                  </a:extLst>
                </a:gridCol>
                <a:gridCol w="410250">
                  <a:extLst>
                    <a:ext uri="{9D8B030D-6E8A-4147-A177-3AD203B41FA5}">
                      <a16:colId xmlns:a16="http://schemas.microsoft.com/office/drawing/2014/main" val="20002"/>
                    </a:ext>
                  </a:extLst>
                </a:gridCol>
                <a:gridCol w="410250">
                  <a:extLst>
                    <a:ext uri="{9D8B030D-6E8A-4147-A177-3AD203B41FA5}">
                      <a16:colId xmlns:a16="http://schemas.microsoft.com/office/drawing/2014/main" val="20003"/>
                    </a:ext>
                  </a:extLst>
                </a:gridCol>
              </a:tblGrid>
              <a:tr h="271250">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W</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X</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Y</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Z</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1250">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085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71250">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 name="Google Shape;474;p3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21</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marL="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marL="45720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3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3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0" name="Google Shape;480;p3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3">
            <a:alphaModFix/>
          </a:blip>
          <a:srcRect l="8983" t="5571" b="13325"/>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89" name="Google Shape;489;p34"/>
          <p:cNvPicPr preferRelativeResize="0"/>
          <p:nvPr/>
        </p:nvPicPr>
        <p:blipFill rotWithShape="1">
          <a:blip r:embed="rId3">
            <a:alphaModFix/>
          </a:blip>
          <a:srcRect/>
          <a:stretch/>
        </p:blipFill>
        <p:spPr>
          <a:xfrm>
            <a:off x="3763552" y="644775"/>
            <a:ext cx="5304248" cy="4153537"/>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22</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3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3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97" name="Google Shape;497;p3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3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23</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lang="en" sz="2000" i="1">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lang="en" sz="2000" i="1">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lang="en" sz="2000" i="1">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lang="en" sz="2000" i="1"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lang="en" sz="2000" i="1">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lang="en" sz="2000" i="1">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3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3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12" name="Google Shape;512;p3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a:t>
            </a:r>
            <a:r>
              <a:rPr lang="en" sz="1600" b="0" i="0" u="none" strike="noStrike" cap="none" baseline="30000">
                <a:solidFill>
                  <a:srgbClr val="000000"/>
                </a:solidFill>
                <a:latin typeface="Arial"/>
                <a:ea typeface="Arial"/>
                <a:cs typeface="Arial"/>
                <a:sym typeface="Arial"/>
              </a:rPr>
              <a:t>n</a:t>
            </a:r>
            <a:r>
              <a:rPr lang="en" sz="16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Multiplexer</a:t>
            </a:r>
            <a:endParaRPr sz="2000" b="0" i="0" u="none" strike="noStrike" cap="non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18" name="Google Shape;518;p35"/>
          <p:cNvCxnSpPr/>
          <p:nvPr/>
        </p:nvCxnSpPr>
        <p:spPr>
          <a:xfrm>
            <a:off x="3543300" y="33279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19" name="Google Shape;519;p35"/>
          <p:cNvCxnSpPr/>
          <p:nvPr/>
        </p:nvCxnSpPr>
        <p:spPr>
          <a:xfrm>
            <a:off x="3543300" y="31755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20" name="Google Shape;520;p35"/>
          <p:cNvCxnSpPr/>
          <p:nvPr/>
        </p:nvCxnSpPr>
        <p:spPr>
          <a:xfrm rot="10800000">
            <a:off x="4305300" y="4089925"/>
            <a:ext cx="0" cy="381000"/>
          </a:xfrm>
          <a:prstGeom prst="straightConnector1">
            <a:avLst/>
          </a:prstGeom>
          <a:noFill/>
          <a:ln w="15875" cap="flat" cmpd="sng">
            <a:solidFill>
              <a:srgbClr val="000000"/>
            </a:solidFill>
            <a:prstDash val="solid"/>
            <a:round/>
            <a:headEnd type="none" w="sm" len="sm"/>
            <a:tailEnd type="triangle" w="med" len="med"/>
          </a:ln>
        </p:spPr>
      </p:cxnSp>
      <p:cxnSp>
        <p:nvCxnSpPr>
          <p:cNvPr id="521" name="Google Shape;521;p35"/>
          <p:cNvCxnSpPr/>
          <p:nvPr/>
        </p:nvCxnSpPr>
        <p:spPr>
          <a:xfrm>
            <a:off x="3543300" y="34803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22" name="Google Shape;522;p35"/>
          <p:cNvCxnSpPr/>
          <p:nvPr/>
        </p:nvCxnSpPr>
        <p:spPr>
          <a:xfrm>
            <a:off x="3543300" y="3937525"/>
            <a:ext cx="457200" cy="0"/>
          </a:xfrm>
          <a:prstGeom prst="straightConnector1">
            <a:avLst/>
          </a:prstGeom>
          <a:noFill/>
          <a:ln w="15875" cap="flat" cmpd="sng">
            <a:solidFill>
              <a:srgbClr val="000000"/>
            </a:solidFill>
            <a:prstDash val="solid"/>
            <a:round/>
            <a:headEnd type="none" w="sm" len="sm"/>
            <a:tailEnd type="triangle" w="med" len="med"/>
          </a:ln>
        </p:spPr>
      </p:cxnSp>
      <p:sp>
        <p:nvSpPr>
          <p:cNvPr id="523" name="Google Shape;523;p35"/>
          <p:cNvSpPr txBox="1"/>
          <p:nvPr/>
        </p:nvSpPr>
        <p:spPr>
          <a:xfrm>
            <a:off x="5676900" y="3404126"/>
            <a:ext cx="838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inputs</a:t>
            </a:r>
            <a:endParaRPr sz="2000" b="0" i="0" u="none" strike="noStrike" cap="non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w="15875" cap="flat" cmpd="sng">
            <a:solidFill>
              <a:srgbClr val="000000"/>
            </a:solidFill>
            <a:prstDash val="solid"/>
            <a:round/>
            <a:headEnd type="none" w="sm" len="sm"/>
            <a:tailEnd type="triangle" w="med" len="med"/>
          </a:ln>
        </p:spPr>
      </p:cxnSp>
      <p:sp>
        <p:nvSpPr>
          <p:cNvPr id="526" name="Google Shape;526;p35"/>
          <p:cNvSpPr txBox="1"/>
          <p:nvPr/>
        </p:nvSpPr>
        <p:spPr>
          <a:xfrm>
            <a:off x="3619500" y="3556525"/>
            <a:ext cx="228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w="15875" cap="flat" cmpd="sng">
            <a:solidFill>
              <a:srgbClr val="000000"/>
            </a:solidFill>
            <a:prstDash val="solid"/>
            <a:round/>
            <a:headEnd type="none" w="sm" len="sm"/>
            <a:tailEnd type="triangle" w="med" len="med"/>
          </a:ln>
        </p:spPr>
      </p:cxnSp>
      <p:sp>
        <p:nvSpPr>
          <p:cNvPr id="528" name="Google Shape;528;p35"/>
          <p:cNvSpPr txBox="1"/>
          <p:nvPr/>
        </p:nvSpPr>
        <p:spPr>
          <a:xfrm>
            <a:off x="4229100" y="4470926"/>
            <a:ext cx="914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w="15875" cap="flat" cmpd="sng">
            <a:solidFill>
              <a:srgbClr val="000000"/>
            </a:solidFill>
            <a:prstDash val="solid"/>
            <a:round/>
            <a:headEnd type="none" w="sm" len="sm"/>
            <a:tailEnd type="triangle" w="med" len="med"/>
          </a:ln>
        </p:spPr>
      </p:cxnSp>
      <p:cxnSp>
        <p:nvCxnSpPr>
          <p:cNvPr id="530" name="Google Shape;530;p35"/>
          <p:cNvCxnSpPr/>
          <p:nvPr/>
        </p:nvCxnSpPr>
        <p:spPr>
          <a:xfrm rot="10800000">
            <a:off x="5067300" y="4089925"/>
            <a:ext cx="0" cy="381000"/>
          </a:xfrm>
          <a:prstGeom prst="straightConnector1">
            <a:avLst/>
          </a:prstGeom>
          <a:noFill/>
          <a:ln w="15875" cap="flat" cmpd="sng">
            <a:solidFill>
              <a:srgbClr val="000000"/>
            </a:solidFill>
            <a:prstDash val="solid"/>
            <a:round/>
            <a:headEnd type="none" w="sm" len="sm"/>
            <a:tailEnd type="triangle" w="med" len="med"/>
          </a:ln>
        </p:spPr>
      </p:cxnSp>
      <p:sp>
        <p:nvSpPr>
          <p:cNvPr id="531" name="Google Shape;531;p35"/>
          <p:cNvSpPr txBox="1"/>
          <p:nvPr/>
        </p:nvSpPr>
        <p:spPr>
          <a:xfrm>
            <a:off x="4686300" y="4166125"/>
            <a:ext cx="38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 name="Google Shape;538;p3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24</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3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3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44" name="Google Shape;544;p3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62425" cy="1780475"/>
        </p:xfrm>
        <a:graphic>
          <a:graphicData uri="http://schemas.openxmlformats.org/drawingml/2006/table">
            <a:tbl>
              <a:tblPr>
                <a:noFill/>
                <a:tableStyleId>{D66C8EFE-BFCC-412D-8971-004EF5BB507D}</a:tableStyleId>
              </a:tblPr>
              <a:tblGrid>
                <a:gridCol w="429425">
                  <a:extLst>
                    <a:ext uri="{9D8B030D-6E8A-4147-A177-3AD203B41FA5}">
                      <a16:colId xmlns:a16="http://schemas.microsoft.com/office/drawing/2014/main" val="20000"/>
                    </a:ext>
                  </a:extLst>
                </a:gridCol>
                <a:gridCol w="429425">
                  <a:extLst>
                    <a:ext uri="{9D8B030D-6E8A-4147-A177-3AD203B41FA5}">
                      <a16:colId xmlns:a16="http://schemas.microsoft.com/office/drawing/2014/main" val="20001"/>
                    </a:ext>
                  </a:extLst>
                </a:gridCol>
                <a:gridCol w="429425">
                  <a:extLst>
                    <a:ext uri="{9D8B030D-6E8A-4147-A177-3AD203B41FA5}">
                      <a16:colId xmlns:a16="http://schemas.microsoft.com/office/drawing/2014/main" val="20002"/>
                    </a:ext>
                  </a:extLst>
                </a:gridCol>
                <a:gridCol w="429425">
                  <a:extLst>
                    <a:ext uri="{9D8B030D-6E8A-4147-A177-3AD203B41FA5}">
                      <a16:colId xmlns:a16="http://schemas.microsoft.com/office/drawing/2014/main" val="20003"/>
                    </a:ext>
                  </a:extLst>
                </a:gridCol>
                <a:gridCol w="429425">
                  <a:extLst>
                    <a:ext uri="{9D8B030D-6E8A-4147-A177-3AD203B41FA5}">
                      <a16:colId xmlns:a16="http://schemas.microsoft.com/office/drawing/2014/main" val="20004"/>
                    </a:ext>
                  </a:extLst>
                </a:gridCol>
                <a:gridCol w="457650">
                  <a:extLst>
                    <a:ext uri="{9D8B030D-6E8A-4147-A177-3AD203B41FA5}">
                      <a16:colId xmlns:a16="http://schemas.microsoft.com/office/drawing/2014/main" val="20005"/>
                    </a:ext>
                  </a:extLst>
                </a:gridCol>
                <a:gridCol w="457650">
                  <a:extLst>
                    <a:ext uri="{9D8B030D-6E8A-4147-A177-3AD203B41FA5}">
                      <a16:colId xmlns:a16="http://schemas.microsoft.com/office/drawing/2014/main" val="20006"/>
                    </a:ext>
                  </a:extLst>
                </a:gridCol>
              </a:tblGrid>
              <a:tr h="347775">
                <a:tc>
                  <a:txBody>
                    <a:bodyPr/>
                    <a:lstStyle/>
                    <a:p>
                      <a:pPr marL="0" marR="0" lvl="0" indent="0" algn="ctr" rtl="0">
                        <a:lnSpc>
                          <a:spcPct val="100000"/>
                        </a:lnSpc>
                        <a:spcBef>
                          <a:spcPts val="0"/>
                        </a:spcBef>
                        <a:spcAft>
                          <a:spcPts val="0"/>
                        </a:spcAft>
                        <a:buNone/>
                      </a:pPr>
                      <a:r>
                        <a:rPr lang="en" sz="1500" b="1">
                          <a:latin typeface="Lexend"/>
                          <a:ea typeface="Lexend"/>
                          <a:cs typeface="Lexend"/>
                          <a:sym typeface="Lexend"/>
                        </a:rPr>
                        <a:t>I</a:t>
                      </a:r>
                      <a:r>
                        <a:rPr lang="en" sz="1500" b="1" baseline="-25000">
                          <a:latin typeface="Lexend"/>
                          <a:ea typeface="Lexend"/>
                          <a:cs typeface="Lexend"/>
                          <a:sym typeface="Lexend"/>
                        </a:rPr>
                        <a:t>0</a:t>
                      </a:r>
                      <a:endParaRPr sz="1500" b="1"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3</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81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d</a:t>
                      </a:r>
                      <a:r>
                        <a:rPr lang="en" sz="1300" baseline="-25000">
                          <a:latin typeface="Lexend Medium"/>
                          <a:ea typeface="Lexend Medium"/>
                          <a:cs typeface="Lexend Medium"/>
                          <a:sym typeface="Lexend Medium"/>
                        </a:rPr>
                        <a:t>0</a:t>
                      </a:r>
                      <a:endParaRPr sz="1300" i="0" u="none" baseline="-25000">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graphicFrame>
        <p:nvGraphicFramePr>
          <p:cNvPr id="548" name="Google Shape;548;p36"/>
          <p:cNvGraphicFramePr/>
          <p:nvPr/>
        </p:nvGraphicFramePr>
        <p:xfrm>
          <a:off x="4261350" y="1282138"/>
          <a:ext cx="1344725" cy="1780475"/>
        </p:xfrm>
        <a:graphic>
          <a:graphicData uri="http://schemas.openxmlformats.org/drawingml/2006/table">
            <a:tbl>
              <a:tblPr>
                <a:noFill/>
                <a:tableStyleId>{D66C8EFE-BFCC-412D-8971-004EF5BB507D}</a:tableStyleId>
              </a:tblPr>
              <a:tblGrid>
                <a:gridCol w="429425">
                  <a:extLst>
                    <a:ext uri="{9D8B030D-6E8A-4147-A177-3AD203B41FA5}">
                      <a16:colId xmlns:a16="http://schemas.microsoft.com/office/drawing/2014/main" val="20000"/>
                    </a:ext>
                  </a:extLst>
                </a:gridCol>
                <a:gridCol w="457650">
                  <a:extLst>
                    <a:ext uri="{9D8B030D-6E8A-4147-A177-3AD203B41FA5}">
                      <a16:colId xmlns:a16="http://schemas.microsoft.com/office/drawing/2014/main" val="20001"/>
                    </a:ext>
                  </a:extLst>
                </a:gridCol>
                <a:gridCol w="457650">
                  <a:extLst>
                    <a:ext uri="{9D8B030D-6E8A-4147-A177-3AD203B41FA5}">
                      <a16:colId xmlns:a16="http://schemas.microsoft.com/office/drawing/2014/main" val="20002"/>
                    </a:ext>
                  </a:extLst>
                </a:gridCol>
              </a:tblGrid>
              <a:tr h="347775">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8175">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
        <p:nvSpPr>
          <p:cNvPr id="549" name="Google Shape;549;p36"/>
          <p:cNvSpPr/>
          <p:nvPr/>
        </p:nvSpPr>
        <p:spPr>
          <a:xfrm>
            <a:off x="3425526" y="2019975"/>
            <a:ext cx="682500" cy="304800"/>
          </a:xfrm>
          <a:prstGeom prst="rightArrow">
            <a:avLst>
              <a:gd name="adj1" fmla="val 50000"/>
              <a:gd name="adj2" fmla="val 50000"/>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550" name="Google Shape;550;p36"/>
          <p:cNvPicPr preferRelativeResize="0"/>
          <p:nvPr/>
        </p:nvPicPr>
        <p:blipFill>
          <a:blip r:embed="rId3">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4">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8" name="Google Shape;558;p3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25</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1" name="Google Shape;561;p3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2" name="Google Shape;562;p3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63" name="Google Shape;563;p3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3">
            <a:alphaModFix/>
          </a:blip>
          <a:srcRect/>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2" name="Google Shape;572;p3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26</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spcFirstLastPara="1" wrap="square" lIns="91425" tIns="91425" rIns="91425" bIns="91425" anchor="t" anchorCtr="0">
            <a:spAutoFit/>
          </a:bodyPr>
          <a:lstStyle/>
          <a:p>
            <a:pPr marL="228600" lvl="0" indent="-154940" algn="l" rtl="0">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marL="228600" lvl="0" indent="-228600" algn="l" rtl="0">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lang="en" sz="2200" i="1">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lang="en" sz="2200" i="1">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marL="228600" lvl="0" indent="-171450" algn="l" rtl="0">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marL="228600" lvl="0" indent="-15494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marL="228600" lvl="0" indent="-228600" algn="l" rtl="0">
              <a:lnSpc>
                <a:spcPct val="90000"/>
              </a:lnSpc>
              <a:spcBef>
                <a:spcPts val="1000"/>
              </a:spcBef>
              <a:spcAft>
                <a:spcPts val="0"/>
              </a:spcAft>
              <a:buClr>
                <a:srgbClr val="FF0000"/>
              </a:buClr>
              <a:buSzPts val="2800"/>
              <a:buFont typeface="Calibri"/>
              <a:buNone/>
            </a:pPr>
            <a:r>
              <a:rPr lang="en" sz="2200" b="1">
                <a:solidFill>
                  <a:srgbClr val="FF0000"/>
                </a:solidFill>
                <a:latin typeface="Lexend"/>
                <a:ea typeface="Lexend"/>
                <a:cs typeface="Lexend"/>
                <a:sym typeface="Lexend"/>
              </a:rPr>
              <a:t>Y = I</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2</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3</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6" name="Google Shape;576;p3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3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78" name="Google Shape;578;p3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7" name="Google Shape;587;p3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27</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3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2" name="Google Shape;592;p3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93" name="Google Shape;593;p39"/>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596" name="Google Shape;596;p39"/>
          <p:cNvPicPr preferRelativeResize="0"/>
          <p:nvPr/>
        </p:nvPicPr>
        <p:blipFill>
          <a:blip r:embed="rId3">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1216925" cy="1560600"/>
        </p:xfrm>
        <a:graphic>
          <a:graphicData uri="http://schemas.openxmlformats.org/drawingml/2006/table">
            <a:tbl>
              <a:tblPr>
                <a:noFill/>
                <a:tableStyleId>{D66C8EFE-BFCC-412D-8971-004EF5BB507D}</a:tableStyleId>
              </a:tblPr>
              <a:tblGrid>
                <a:gridCol w="388625">
                  <a:extLst>
                    <a:ext uri="{9D8B030D-6E8A-4147-A177-3AD203B41FA5}">
                      <a16:colId xmlns:a16="http://schemas.microsoft.com/office/drawing/2014/main" val="20000"/>
                    </a:ext>
                  </a:extLst>
                </a:gridCol>
                <a:gridCol w="414150">
                  <a:extLst>
                    <a:ext uri="{9D8B030D-6E8A-4147-A177-3AD203B41FA5}">
                      <a16:colId xmlns:a16="http://schemas.microsoft.com/office/drawing/2014/main" val="20001"/>
                    </a:ext>
                  </a:extLst>
                </a:gridCol>
                <a:gridCol w="414150">
                  <a:extLst>
                    <a:ext uri="{9D8B030D-6E8A-4147-A177-3AD203B41FA5}">
                      <a16:colId xmlns:a16="http://schemas.microsoft.com/office/drawing/2014/main" val="20002"/>
                    </a:ext>
                  </a:extLst>
                </a:gridCol>
              </a:tblGrid>
              <a:tr h="306900">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150">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pic>
        <p:nvPicPr>
          <p:cNvPr id="598" name="Google Shape;598;p39"/>
          <p:cNvPicPr preferRelativeResize="0"/>
          <p:nvPr/>
        </p:nvPicPr>
        <p:blipFill>
          <a:blip r:embed="rId4">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(a) 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4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28</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spcFirstLastPara="1" wrap="square" lIns="91425" tIns="91425" rIns="91425" bIns="91425" anchor="t" anchorCtr="0">
            <a:spAutoFit/>
          </a:bodyPr>
          <a:lstStyle/>
          <a:p>
            <a:pPr marL="457200" lvl="0" indent="-342900" algn="l" rtl="0">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marL="457200" lvl="0" indent="-342900" algn="l" rtl="0">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4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4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14" name="Google Shape;614;p4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617" name="Google Shape;617;p40"/>
          <p:cNvPicPr preferRelativeResize="0"/>
          <p:nvPr/>
        </p:nvPicPr>
        <p:blipFill>
          <a:blip r:embed="rId3">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1531600" cy="2636160"/>
        </p:xfrm>
        <a:graphic>
          <a:graphicData uri="http://schemas.openxmlformats.org/drawingml/2006/table">
            <a:tbl>
              <a:tblPr>
                <a:noFill/>
                <a:tableStyleId>{D66C8EFE-BFCC-412D-8971-004EF5BB507D}</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tblGrid>
              <a:tr h="211175">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5" name="Google Shape;625;p4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29</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spcFirstLastPara="1" wrap="square" lIns="91425" tIns="91425" rIns="91425" bIns="91425" anchor="t" anchorCtr="0">
            <a:spAutoFit/>
          </a:bodyPr>
          <a:lstStyle/>
          <a:p>
            <a:pPr marL="457200" lvl="0" indent="-342900" algn="l" rtl="0">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4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0" name="Google Shape;630;p4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31" name="Google Shape;631;p4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1531600" cy="2636160"/>
        </p:xfrm>
        <a:graphic>
          <a:graphicData uri="http://schemas.openxmlformats.org/drawingml/2006/table">
            <a:tbl>
              <a:tblPr>
                <a:noFill/>
                <a:tableStyleId>{D66C8EFE-BFCC-412D-8971-004EF5BB507D}</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tblGrid>
              <a:tr h="211175">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pic>
        <p:nvPicPr>
          <p:cNvPr id="635" name="Google Shape;635;p41"/>
          <p:cNvPicPr preferRelativeResize="0"/>
          <p:nvPr/>
        </p:nvPicPr>
        <p:blipFill>
          <a:blip r:embed="rId3">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name="adj1" fmla="val 11276"/>
              <a:gd name="adj2" fmla="val -80531"/>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42" name="Google Shape;642;p42"/>
          <p:cNvPicPr preferRelativeResize="0"/>
          <p:nvPr/>
        </p:nvPicPr>
        <p:blipFill rotWithShape="1">
          <a:blip r:embed="rId3">
            <a:alphaModFix/>
          </a:blip>
          <a:srcRect/>
          <a:stretch/>
        </p:blipFill>
        <p:spPr>
          <a:xfrm>
            <a:off x="4192682" y="647302"/>
            <a:ext cx="4748295" cy="4284850"/>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30</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8" name="Google Shape;648;p4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9" name="Google Shape;649;p4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50" name="Google Shape;650;p4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9" name="Google Shape;659;p4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31</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Q: 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3" name="Google Shape;663;p4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4" name="Google Shape;664;p4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65" name="Google Shape;665;p4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4" name="Google Shape;674;p4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32</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It has 2</a:t>
            </a:r>
            <a:r>
              <a:rPr lang="en" sz="2000"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8" name="Google Shape;678;p4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9" name="Google Shape;679;p4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80" name="Google Shape;680;p4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683" name="Google Shape;683;p44"/>
          <p:cNvPicPr preferRelativeResize="0"/>
          <p:nvPr/>
        </p:nvPicPr>
        <p:blipFill>
          <a:blip r:embed="rId3">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0" name="Google Shape;690;p4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33</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X = D</a:t>
            </a:r>
            <a:r>
              <a:rPr lang="en" sz="2000" baseline="-25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lang="en" sz="2000" baseline="-25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Z = D</a:t>
            </a:r>
            <a:r>
              <a:rPr lang="en" sz="2000" baseline="-25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4" name="Google Shape;694;p4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5" name="Google Shape;695;p4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96" name="Google Shape;696;p4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5529925" cy="3038025"/>
        </p:xfrm>
        <a:graphic>
          <a:graphicData uri="http://schemas.openxmlformats.org/drawingml/2006/table">
            <a:tbl>
              <a:tblPr>
                <a:noFill/>
                <a:tableStyleId>{D66C8EFE-BFCC-412D-8971-004EF5BB507D}</a:tableStyleId>
              </a:tblPr>
              <a:tblGrid>
                <a:gridCol w="468675">
                  <a:extLst>
                    <a:ext uri="{9D8B030D-6E8A-4147-A177-3AD203B41FA5}">
                      <a16:colId xmlns:a16="http://schemas.microsoft.com/office/drawing/2014/main" val="20000"/>
                    </a:ext>
                  </a:extLst>
                </a:gridCol>
                <a:gridCol w="468675">
                  <a:extLst>
                    <a:ext uri="{9D8B030D-6E8A-4147-A177-3AD203B41FA5}">
                      <a16:colId xmlns:a16="http://schemas.microsoft.com/office/drawing/2014/main" val="20001"/>
                    </a:ext>
                  </a:extLst>
                </a:gridCol>
                <a:gridCol w="468675">
                  <a:extLst>
                    <a:ext uri="{9D8B030D-6E8A-4147-A177-3AD203B41FA5}">
                      <a16:colId xmlns:a16="http://schemas.microsoft.com/office/drawing/2014/main" val="20002"/>
                    </a:ext>
                  </a:extLst>
                </a:gridCol>
                <a:gridCol w="468675">
                  <a:extLst>
                    <a:ext uri="{9D8B030D-6E8A-4147-A177-3AD203B41FA5}">
                      <a16:colId xmlns:a16="http://schemas.microsoft.com/office/drawing/2014/main" val="20003"/>
                    </a:ext>
                  </a:extLst>
                </a:gridCol>
                <a:gridCol w="468675">
                  <a:extLst>
                    <a:ext uri="{9D8B030D-6E8A-4147-A177-3AD203B41FA5}">
                      <a16:colId xmlns:a16="http://schemas.microsoft.com/office/drawing/2014/main" val="20004"/>
                    </a:ext>
                  </a:extLst>
                </a:gridCol>
                <a:gridCol w="468675">
                  <a:extLst>
                    <a:ext uri="{9D8B030D-6E8A-4147-A177-3AD203B41FA5}">
                      <a16:colId xmlns:a16="http://schemas.microsoft.com/office/drawing/2014/main" val="20005"/>
                    </a:ext>
                  </a:extLst>
                </a:gridCol>
                <a:gridCol w="543575">
                  <a:extLst>
                    <a:ext uri="{9D8B030D-6E8A-4147-A177-3AD203B41FA5}">
                      <a16:colId xmlns:a16="http://schemas.microsoft.com/office/drawing/2014/main" val="20006"/>
                    </a:ext>
                  </a:extLst>
                </a:gridCol>
                <a:gridCol w="543575">
                  <a:extLst>
                    <a:ext uri="{9D8B030D-6E8A-4147-A177-3AD203B41FA5}">
                      <a16:colId xmlns:a16="http://schemas.microsoft.com/office/drawing/2014/main" val="20007"/>
                    </a:ext>
                  </a:extLst>
                </a:gridCol>
                <a:gridCol w="543575">
                  <a:extLst>
                    <a:ext uri="{9D8B030D-6E8A-4147-A177-3AD203B41FA5}">
                      <a16:colId xmlns:a16="http://schemas.microsoft.com/office/drawing/2014/main" val="20008"/>
                    </a:ext>
                  </a:extLst>
                </a:gridCol>
                <a:gridCol w="543575">
                  <a:extLst>
                    <a:ext uri="{9D8B030D-6E8A-4147-A177-3AD203B41FA5}">
                      <a16:colId xmlns:a16="http://schemas.microsoft.com/office/drawing/2014/main" val="20009"/>
                    </a:ext>
                  </a:extLst>
                </a:gridCol>
                <a:gridCol w="543575">
                  <a:extLst>
                    <a:ext uri="{9D8B030D-6E8A-4147-A177-3AD203B41FA5}">
                      <a16:colId xmlns:a16="http://schemas.microsoft.com/office/drawing/2014/main" val="20010"/>
                    </a:ext>
                  </a:extLst>
                </a:gridCol>
              </a:tblGrid>
              <a:tr h="328825">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lang="en" sz="1500" baseline="-25000">
                          <a:latin typeface="Lexend"/>
                          <a:ea typeface="Lexend"/>
                          <a:cs typeface="Lexend"/>
                          <a:sym typeface="Lexend"/>
                        </a:rPr>
                        <a:t>0</a:t>
                      </a:r>
                      <a:endParaRPr sz="1500"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1</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2</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650">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865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8650">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3865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6" name="Google Shape;706;p4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34</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X = D</a:t>
            </a:r>
            <a:r>
              <a:rPr lang="en" sz="2000" baseline="-25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0" name="Google Shape;710;p4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1" name="Google Shape;711;p4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12" name="Google Shape;712;p4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715" name="Google Shape;715;p46"/>
          <p:cNvPicPr preferRelativeResize="0"/>
          <p:nvPr/>
        </p:nvPicPr>
        <p:blipFill>
          <a:blip r:embed="rId3">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Z = D</a:t>
            </a:r>
            <a:r>
              <a:rPr lang="en" sz="2000" baseline="-25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Y = D</a:t>
            </a:r>
            <a:r>
              <a:rPr lang="en" sz="2000" baseline="-25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name="adj1" fmla="val 4981"/>
              <a:gd name="adj2" fmla="val -70672"/>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encoder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6" name="Google Shape;726;p4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35</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lang="en" sz="2100" baseline="300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marL="1371600" lvl="2"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marL="1371600" lvl="2"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0" name="Google Shape;730;p4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1" name="Google Shape;731;p4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32" name="Google Shape;732;p47"/>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1" name="Google Shape;741;p4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36</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5" name="Google Shape;745;p4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4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47" name="Google Shape;747;p4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6" name="Google Shape;756;p4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37</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0" name="Google Shape;760;p4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1" name="Google Shape;761;p4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62" name="Google Shape;762;p49"/>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1" name="Google Shape;771;p5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38</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5" name="Google Shape;775;p5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6" name="Google Shape;776;p5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77" name="Google Shape;777;p5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344650" cy="4113025"/>
        </p:xfrm>
        <a:graphic>
          <a:graphicData uri="http://schemas.openxmlformats.org/drawingml/2006/table">
            <a:tbl>
              <a:tblPr>
                <a:noFill/>
                <a:tableStyleId>{A20DC7BB-00BF-40CA-91F3-0E16767CBC3A}</a:tableStyleId>
              </a:tblPr>
              <a:tblGrid>
                <a:gridCol w="485300">
                  <a:extLst>
                    <a:ext uri="{9D8B030D-6E8A-4147-A177-3AD203B41FA5}">
                      <a16:colId xmlns:a16="http://schemas.microsoft.com/office/drawing/2014/main" val="20000"/>
                    </a:ext>
                  </a:extLst>
                </a:gridCol>
                <a:gridCol w="495150">
                  <a:extLst>
                    <a:ext uri="{9D8B030D-6E8A-4147-A177-3AD203B41FA5}">
                      <a16:colId xmlns:a16="http://schemas.microsoft.com/office/drawing/2014/main" val="20001"/>
                    </a:ext>
                  </a:extLst>
                </a:gridCol>
                <a:gridCol w="485950">
                  <a:extLst>
                    <a:ext uri="{9D8B030D-6E8A-4147-A177-3AD203B41FA5}">
                      <a16:colId xmlns:a16="http://schemas.microsoft.com/office/drawing/2014/main" val="20002"/>
                    </a:ext>
                  </a:extLst>
                </a:gridCol>
                <a:gridCol w="485950">
                  <a:extLst>
                    <a:ext uri="{9D8B030D-6E8A-4147-A177-3AD203B41FA5}">
                      <a16:colId xmlns:a16="http://schemas.microsoft.com/office/drawing/2014/main" val="20003"/>
                    </a:ext>
                  </a:extLst>
                </a:gridCol>
                <a:gridCol w="453175">
                  <a:extLst>
                    <a:ext uri="{9D8B030D-6E8A-4147-A177-3AD203B41FA5}">
                      <a16:colId xmlns:a16="http://schemas.microsoft.com/office/drawing/2014/main" val="20004"/>
                    </a:ext>
                  </a:extLst>
                </a:gridCol>
                <a:gridCol w="453175">
                  <a:extLst>
                    <a:ext uri="{9D8B030D-6E8A-4147-A177-3AD203B41FA5}">
                      <a16:colId xmlns:a16="http://schemas.microsoft.com/office/drawing/2014/main" val="20005"/>
                    </a:ext>
                  </a:extLst>
                </a:gridCol>
                <a:gridCol w="485950">
                  <a:extLst>
                    <a:ext uri="{9D8B030D-6E8A-4147-A177-3AD203B41FA5}">
                      <a16:colId xmlns:a16="http://schemas.microsoft.com/office/drawing/2014/main" val="20006"/>
                    </a:ext>
                  </a:extLst>
                </a:gridCol>
              </a:tblGrid>
              <a:tr h="251825">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baseline="-25000">
                          <a:solidFill>
                            <a:schemeClr val="dk1"/>
                          </a:solidFill>
                          <a:latin typeface="Lexend"/>
                          <a:ea typeface="Lexend"/>
                          <a:cs typeface="Lexend"/>
                          <a:sym typeface="Lexend"/>
                        </a:rPr>
                        <a:t>3</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2</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1</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0</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r>
                        <a:rPr lang="en" sz="1100" b="1" baseline="-25000">
                          <a:solidFill>
                            <a:schemeClr val="dk1"/>
                          </a:solidFill>
                          <a:latin typeface="Lexend"/>
                          <a:ea typeface="Lexend"/>
                          <a:cs typeface="Lexend"/>
                          <a:sym typeface="Lexend"/>
                        </a:rPr>
                        <a:t>1</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r>
                        <a:rPr lang="en" sz="1100" b="1" baseline="-25000">
                          <a:solidFill>
                            <a:schemeClr val="dk1"/>
                          </a:solidFill>
                          <a:latin typeface="Lexend"/>
                          <a:ea typeface="Lexend"/>
                          <a:cs typeface="Lexend"/>
                          <a:sym typeface="Lexend"/>
                        </a:rPr>
                        <a:t>0</a:t>
                      </a:r>
                      <a:endParaRPr sz="1100" b="1" u="none" strike="noStrike" cap="none" baseline="30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V</a:t>
                      </a:r>
                      <a:endParaRPr sz="1100" b="1" u="none" strike="noStrike" cap="none" baseline="30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X</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X</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6"/>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7"/>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8"/>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9"/>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0"/>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1"/>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2"/>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3"/>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4"/>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5"/>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dirty="0">
                          <a:latin typeface="Lexend"/>
                          <a:ea typeface="Lexend"/>
                          <a:cs typeface="Lexend"/>
                          <a:sym typeface="Lexend"/>
                        </a:rPr>
                        <a:t>1</a:t>
                      </a:r>
                      <a:endParaRPr sz="1100" u="none" strike="noStrike" cap="none" dirty="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dirty="0">
                          <a:latin typeface="Lexend"/>
                          <a:ea typeface="Lexend"/>
                          <a:cs typeface="Lexend"/>
                          <a:sym typeface="Lexend"/>
                        </a:rPr>
                        <a:t>1</a:t>
                      </a:r>
                      <a:endParaRPr sz="1100" u="none" strike="noStrike" cap="none" dirty="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
        <p:nvSpPr>
          <p:cNvPr id="781" name="Google Shape;781;p50"/>
          <p:cNvSpPr/>
          <p:nvPr/>
        </p:nvSpPr>
        <p:spPr>
          <a:xfrm>
            <a:off x="5128450" y="2675150"/>
            <a:ext cx="2026200" cy="304800"/>
          </a:xfrm>
          <a:prstGeom prst="ellipse">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w="9525" cap="flat" cmpd="sng">
            <a:solidFill>
              <a:srgbClr val="5B9BD5"/>
            </a:solidFill>
            <a:prstDash val="solid"/>
            <a:miter lim="800000"/>
            <a:headEnd type="none" w="sm" len="sm"/>
            <a:tailEnd type="triangle" w="med" len="med"/>
          </a:ln>
        </p:spPr>
      </p:cxnSp>
      <p:sp>
        <p:nvSpPr>
          <p:cNvPr id="783" name="Google Shape;783;p50"/>
          <p:cNvSpPr/>
          <p:nvPr/>
        </p:nvSpPr>
        <p:spPr>
          <a:xfrm>
            <a:off x="849725" y="1847850"/>
            <a:ext cx="2362200" cy="1447800"/>
          </a:xfrm>
          <a:prstGeom prst="roundRect">
            <a:avLst>
              <a:gd name="adj" fmla="val 16667"/>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FFFFFF"/>
                </a:solidFill>
                <a:latin typeface="Lexend"/>
                <a:ea typeface="Lexend"/>
                <a:cs typeface="Lexend"/>
                <a:sym typeface="Lexend"/>
              </a:rPr>
              <a:t>Note: Amongst all 3 input, D</a:t>
            </a:r>
            <a:r>
              <a:rPr lang="en" sz="1600" i="0" u="none" strike="noStrike" cap="none" baseline="-25000">
                <a:solidFill>
                  <a:srgbClr val="FFFFFF"/>
                </a:solidFill>
                <a:latin typeface="Lexend"/>
                <a:ea typeface="Lexend"/>
                <a:cs typeface="Lexend"/>
                <a:sym typeface="Lexend"/>
              </a:rPr>
              <a:t>2</a:t>
            </a:r>
            <a:r>
              <a:rPr lang="en" sz="1600" i="0" u="none" strike="noStrike" cap="none">
                <a:solidFill>
                  <a:srgbClr val="FFFFFF"/>
                </a:solidFill>
                <a:latin typeface="Lexend"/>
                <a:ea typeface="Lexend"/>
                <a:cs typeface="Lexend"/>
                <a:sym typeface="Lexend"/>
              </a:rPr>
              <a:t> is highest so output reflects the binary value of 2</a:t>
            </a:r>
            <a:endParaRPr sz="1400" i="0" u="none" strike="noStrike" cap="non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w="9525" cap="flat" cmpd="sng">
            <a:solidFill>
              <a:srgbClr val="5B9BD5"/>
            </a:solidFill>
            <a:prstDash val="solid"/>
            <a:miter lim="800000"/>
            <a:headEnd type="none" w="sm" len="sm"/>
            <a:tailEnd type="triangle" w="med" len="med"/>
          </a:ln>
        </p:spPr>
      </p:cxnSp>
      <p:sp>
        <p:nvSpPr>
          <p:cNvPr id="785" name="Google Shape;785;p50"/>
          <p:cNvSpPr/>
          <p:nvPr/>
        </p:nvSpPr>
        <p:spPr>
          <a:xfrm>
            <a:off x="8068675" y="1265200"/>
            <a:ext cx="952500" cy="2966700"/>
          </a:xfrm>
          <a:prstGeom prst="roundRect">
            <a:avLst>
              <a:gd name="adj" fmla="val 8685"/>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i="0" u="none" strike="noStrike" cap="none">
                <a:solidFill>
                  <a:srgbClr val="FFFFFF"/>
                </a:solidFill>
                <a:latin typeface="Lexend"/>
                <a:ea typeface="Lexend"/>
                <a:cs typeface="Lexend"/>
                <a:sym typeface="Lexend"/>
              </a:rPr>
              <a:t>Note: V is not really an output, just shows whether there is an active input or not.</a:t>
            </a:r>
            <a:endParaRPr sz="1600" i="0" u="none" strike="noStrike" cap="non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3" name="Google Shape;793;p5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39</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6" name="Google Shape;796;p5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7" name="Google Shape;797;p5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98" name="Google Shape;798;p5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1803600" cy="1695700"/>
        </p:xfrm>
        <a:graphic>
          <a:graphicData uri="http://schemas.openxmlformats.org/drawingml/2006/table">
            <a:tbl>
              <a:tblPr>
                <a:noFill/>
                <a:tableStyleId>{F3475178-5BEF-4557-B169-25190D001F1A}</a:tableStyleId>
              </a:tblPr>
              <a:tblGrid>
                <a:gridCol w="450900">
                  <a:extLst>
                    <a:ext uri="{9D8B030D-6E8A-4147-A177-3AD203B41FA5}">
                      <a16:colId xmlns:a16="http://schemas.microsoft.com/office/drawing/2014/main" val="20000"/>
                    </a:ext>
                  </a:extLst>
                </a:gridCol>
                <a:gridCol w="450900">
                  <a:extLst>
                    <a:ext uri="{9D8B030D-6E8A-4147-A177-3AD203B41FA5}">
                      <a16:colId xmlns:a16="http://schemas.microsoft.com/office/drawing/2014/main" val="20001"/>
                    </a:ext>
                  </a:extLst>
                </a:gridCol>
                <a:gridCol w="450900">
                  <a:extLst>
                    <a:ext uri="{9D8B030D-6E8A-4147-A177-3AD203B41FA5}">
                      <a16:colId xmlns:a16="http://schemas.microsoft.com/office/drawing/2014/main" val="20002"/>
                    </a:ext>
                  </a:extLst>
                </a:gridCol>
                <a:gridCol w="450900">
                  <a:extLst>
                    <a:ext uri="{9D8B030D-6E8A-4147-A177-3AD203B41FA5}">
                      <a16:colId xmlns:a16="http://schemas.microsoft.com/office/drawing/2014/main" val="20003"/>
                    </a:ext>
                  </a:extLst>
                </a:gridCol>
              </a:tblGrid>
              <a:tr h="423300">
                <a:tc>
                  <a:txBody>
                    <a:bodyPr/>
                    <a:lstStyle/>
                    <a:p>
                      <a:pPr marL="0" lvl="0" indent="0" algn="ctr" rtl="0">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258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cxnSp>
        <p:nvCxnSpPr>
          <p:cNvPr id="804" name="Google Shape;804;p51"/>
          <p:cNvCxnSpPr/>
          <p:nvPr/>
        </p:nvCxnSpPr>
        <p:spPr>
          <a:xfrm rot="10800000">
            <a:off x="934979" y="1847688"/>
            <a:ext cx="378000" cy="378000"/>
          </a:xfrm>
          <a:prstGeom prst="straightConnector1">
            <a:avLst/>
          </a:prstGeom>
          <a:noFill/>
          <a:ln w="19050" cap="flat" cmpd="sng">
            <a:solidFill>
              <a:srgbClr val="DCDFFE"/>
            </a:solidFill>
            <a:prstDash val="solid"/>
            <a:round/>
            <a:headEnd type="none" w="med" len="med"/>
            <a:tailEnd type="none" w="med" len="med"/>
          </a:ln>
        </p:spPr>
      </p:cxnSp>
      <p:sp>
        <p:nvSpPr>
          <p:cNvPr id="805" name="Google Shape;805;p51"/>
          <p:cNvSpPr txBox="1"/>
          <p:nvPr/>
        </p:nvSpPr>
        <p:spPr>
          <a:xfrm>
            <a:off x="1023625" y="1667338"/>
            <a:ext cx="7065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9" name="Google Shape;809;p51"/>
          <p:cNvSpPr txBox="1"/>
          <p:nvPr/>
        </p:nvSpPr>
        <p:spPr>
          <a:xfrm>
            <a:off x="3224154" y="2926300"/>
            <a:ext cx="5487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1" name="Google Shape;811;p51"/>
          <p:cNvSpPr txBox="1"/>
          <p:nvPr/>
        </p:nvSpPr>
        <p:spPr>
          <a:xfrm>
            <a:off x="2015475" y="4080200"/>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3" name="Google Shape;813;p51"/>
          <p:cNvSpPr txBox="1"/>
          <p:nvPr/>
        </p:nvSpPr>
        <p:spPr>
          <a:xfrm>
            <a:off x="579029" y="3355875"/>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6" name="Google Shape;816;p51"/>
          <p:cNvSpPr txBox="1"/>
          <p:nvPr/>
        </p:nvSpPr>
        <p:spPr>
          <a:xfrm>
            <a:off x="5127450" y="2042925"/>
            <a:ext cx="63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1803600" cy="1695700"/>
        </p:xfrm>
        <a:graphic>
          <a:graphicData uri="http://schemas.openxmlformats.org/drawingml/2006/table">
            <a:tbl>
              <a:tblPr>
                <a:noFill/>
                <a:tableStyleId>{F3475178-5BEF-4557-B169-25190D001F1A}</a:tableStyleId>
              </a:tblPr>
              <a:tblGrid>
                <a:gridCol w="450900">
                  <a:extLst>
                    <a:ext uri="{9D8B030D-6E8A-4147-A177-3AD203B41FA5}">
                      <a16:colId xmlns:a16="http://schemas.microsoft.com/office/drawing/2014/main" val="20000"/>
                    </a:ext>
                  </a:extLst>
                </a:gridCol>
                <a:gridCol w="450900">
                  <a:extLst>
                    <a:ext uri="{9D8B030D-6E8A-4147-A177-3AD203B41FA5}">
                      <a16:colId xmlns:a16="http://schemas.microsoft.com/office/drawing/2014/main" val="20001"/>
                    </a:ext>
                  </a:extLst>
                </a:gridCol>
                <a:gridCol w="450900">
                  <a:extLst>
                    <a:ext uri="{9D8B030D-6E8A-4147-A177-3AD203B41FA5}">
                      <a16:colId xmlns:a16="http://schemas.microsoft.com/office/drawing/2014/main" val="20002"/>
                    </a:ext>
                  </a:extLst>
                </a:gridCol>
                <a:gridCol w="450900">
                  <a:extLst>
                    <a:ext uri="{9D8B030D-6E8A-4147-A177-3AD203B41FA5}">
                      <a16:colId xmlns:a16="http://schemas.microsoft.com/office/drawing/2014/main" val="20003"/>
                    </a:ext>
                  </a:extLst>
                </a:gridCol>
              </a:tblGrid>
              <a:tr h="423300">
                <a:tc>
                  <a:txBody>
                    <a:bodyPr/>
                    <a:lstStyle/>
                    <a:p>
                      <a:pPr marL="0" lvl="0" indent="0" algn="ctr" rtl="0">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23300">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258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cxnSp>
        <p:nvCxnSpPr>
          <p:cNvPr id="818" name="Google Shape;818;p51"/>
          <p:cNvCxnSpPr/>
          <p:nvPr/>
        </p:nvCxnSpPr>
        <p:spPr>
          <a:xfrm rot="10800000">
            <a:off x="5634579" y="1913013"/>
            <a:ext cx="378000" cy="378000"/>
          </a:xfrm>
          <a:prstGeom prst="straightConnector1">
            <a:avLst/>
          </a:prstGeom>
          <a:noFill/>
          <a:ln w="19050" cap="flat" cmpd="sng">
            <a:solidFill>
              <a:srgbClr val="DCDFFE"/>
            </a:solidFill>
            <a:prstDash val="solid"/>
            <a:round/>
            <a:headEnd type="none" w="med" len="med"/>
            <a:tailEnd type="none" w="med" len="med"/>
          </a:ln>
        </p:spPr>
      </p:cxnSp>
      <p:sp>
        <p:nvSpPr>
          <p:cNvPr id="819" name="Google Shape;819;p51"/>
          <p:cNvSpPr txBox="1"/>
          <p:nvPr/>
        </p:nvSpPr>
        <p:spPr>
          <a:xfrm>
            <a:off x="5723225" y="1732663"/>
            <a:ext cx="7065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3" name="Google Shape;823;p51"/>
          <p:cNvSpPr txBox="1"/>
          <p:nvPr/>
        </p:nvSpPr>
        <p:spPr>
          <a:xfrm>
            <a:off x="7923754" y="2991625"/>
            <a:ext cx="5487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5" name="Google Shape;825;p51"/>
          <p:cNvSpPr txBox="1"/>
          <p:nvPr/>
        </p:nvSpPr>
        <p:spPr>
          <a:xfrm>
            <a:off x="6715075" y="4145525"/>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7" name="Google Shape;827;p51"/>
          <p:cNvSpPr txBox="1"/>
          <p:nvPr/>
        </p:nvSpPr>
        <p:spPr>
          <a:xfrm>
            <a:off x="5278629" y="3421200"/>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0" name="Google Shape;830;p51"/>
          <p:cNvSpPr txBox="1"/>
          <p:nvPr/>
        </p:nvSpPr>
        <p:spPr>
          <a:xfrm>
            <a:off x="1374175" y="2681125"/>
            <a:ext cx="1663800" cy="747900"/>
          </a:xfrm>
          <a:prstGeom prst="rect">
            <a:avLst/>
          </a:prstGeom>
          <a:noFill/>
          <a:ln w="254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w="254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292929"/>
              </a:solidFill>
              <a:latin typeface="Arial"/>
              <a:ea typeface="Arial"/>
              <a:cs typeface="Arial"/>
              <a:sym typeface="Arial"/>
            </a:endParaRPr>
          </a:p>
        </p:txBody>
      </p:sp>
      <p:sp>
        <p:nvSpPr>
          <p:cNvPr id="833" name="Google Shape;833;p51"/>
          <p:cNvSpPr/>
          <p:nvPr/>
        </p:nvSpPr>
        <p:spPr>
          <a:xfrm rot="5400000" flipH="1">
            <a:off x="7214380" y="2066730"/>
            <a:ext cx="334219" cy="787821"/>
          </a:xfrm>
          <a:custGeom>
            <a:avLst/>
            <a:gdLst/>
            <a:ahLst/>
            <a:cxnLst/>
            <a:rect l="l" t="t" r="r" b="b"/>
            <a:pathLst>
              <a:path w="16140" h="12436" extrusionOk="0">
                <a:moveTo>
                  <a:pt x="15875" y="0"/>
                </a:moveTo>
                <a:lnTo>
                  <a:pt x="0" y="0"/>
                </a:lnTo>
                <a:lnTo>
                  <a:pt x="0" y="12436"/>
                </a:lnTo>
                <a:lnTo>
                  <a:pt x="16140" y="12436"/>
                </a:lnTo>
              </a:path>
            </a:pathLst>
          </a:custGeom>
          <a:noFill/>
          <a:ln w="28575" cap="flat" cmpd="sng">
            <a:solidFill>
              <a:srgbClr val="FF0000"/>
            </a:solidFill>
            <a:prstDash val="solid"/>
            <a:miter lim="8000"/>
            <a:headEnd type="none" w="med" len="med"/>
            <a:tailEnd type="none" w="med" len="med"/>
          </a:ln>
        </p:spPr>
      </p:sp>
      <p:sp>
        <p:nvSpPr>
          <p:cNvPr id="834" name="Google Shape;834;p51"/>
          <p:cNvSpPr/>
          <p:nvPr/>
        </p:nvSpPr>
        <p:spPr>
          <a:xfrm rot="-5400000" flipH="1">
            <a:off x="7192518" y="3436880"/>
            <a:ext cx="334219" cy="787821"/>
          </a:xfrm>
          <a:custGeom>
            <a:avLst/>
            <a:gdLst/>
            <a:ahLst/>
            <a:cxnLst/>
            <a:rect l="l" t="t" r="r" b="b"/>
            <a:pathLst>
              <a:path w="16140" h="12436" extrusionOk="0">
                <a:moveTo>
                  <a:pt x="15875" y="0"/>
                </a:moveTo>
                <a:lnTo>
                  <a:pt x="0" y="0"/>
                </a:lnTo>
                <a:lnTo>
                  <a:pt x="0" y="12436"/>
                </a:lnTo>
                <a:lnTo>
                  <a:pt x="16140" y="12436"/>
                </a:lnTo>
              </a:path>
            </a:pathLst>
          </a:custGeom>
          <a:noFill/>
          <a:ln w="28575" cap="flat" cmpd="sng">
            <a:solidFill>
              <a:srgbClr val="FF0000"/>
            </a:solidFill>
            <a:prstDash val="solid"/>
            <a:miter lim="8000"/>
            <a:headEnd type="none" w="med" len="med"/>
            <a:tailEnd type="none" w="med" len="med"/>
          </a:ln>
        </p:spPr>
      </p:sp>
      <p:sp>
        <p:nvSpPr>
          <p:cNvPr id="835" name="Google Shape;835;p51"/>
          <p:cNvSpPr txBox="1"/>
          <p:nvPr/>
        </p:nvSpPr>
        <p:spPr>
          <a:xfrm>
            <a:off x="1526275" y="4429300"/>
            <a:ext cx="1377000" cy="406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3</a:t>
            </a:r>
            <a:endParaRPr sz="1100" baseline="-250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3" name="Google Shape;843;p5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40</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7" name="Google Shape;847;p5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8" name="Google Shape;848;p5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49" name="Google Shape;849;p52"/>
          <p:cNvSpPr txBox="1"/>
          <p:nvPr/>
        </p:nvSpPr>
        <p:spPr>
          <a:xfrm>
            <a:off x="209775" y="163775"/>
            <a:ext cx="7373649"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852" name="Google Shape;852;p52"/>
          <p:cNvPicPr preferRelativeResize="0"/>
          <p:nvPr/>
        </p:nvPicPr>
        <p:blipFill>
          <a:blip r:embed="rId3">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8" name="Google Shape;858;p5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41</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avLst/>
              <a:gdLst/>
              <a:ahLst/>
              <a:cxnLst/>
              <a:rect l="l" t="t" r="r" b="b"/>
              <a:pathLst>
                <a:path w="2932239" h="1253236" extrusionOk="0">
                  <a:moveTo>
                    <a:pt x="0" y="0"/>
                  </a:moveTo>
                  <a:lnTo>
                    <a:pt x="2932240" y="0"/>
                  </a:lnTo>
                  <a:lnTo>
                    <a:pt x="2932240" y="1253236"/>
                  </a:lnTo>
                  <a:lnTo>
                    <a:pt x="0" y="1253236"/>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3" name="Google Shape;863;p53"/>
            <p:cNvSpPr/>
            <p:nvPr/>
          </p:nvSpPr>
          <p:spPr>
            <a:xfrm>
              <a:off x="5351018" y="4955476"/>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4" name="Google Shape;864;p53"/>
            <p:cNvSpPr/>
            <p:nvPr/>
          </p:nvSpPr>
          <p:spPr>
            <a:xfrm>
              <a:off x="5351018" y="5713898"/>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5" name="Google Shape;865;p53"/>
            <p:cNvSpPr/>
            <p:nvPr/>
          </p:nvSpPr>
          <p:spPr>
            <a:xfrm>
              <a:off x="9232183" y="4955476"/>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6" name="Google Shape;866;p53"/>
            <p:cNvSpPr/>
            <p:nvPr/>
          </p:nvSpPr>
          <p:spPr>
            <a:xfrm>
              <a:off x="9232183" y="5713898"/>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grpSp>
      <p:sp>
        <p:nvSpPr>
          <p:cNvPr id="867" name="Google Shape;867;p53"/>
          <p:cNvSpPr/>
          <p:nvPr/>
        </p:nvSpPr>
        <p:spPr>
          <a:xfrm>
            <a:off x="4883091" y="2459986"/>
            <a:ext cx="263412" cy="324213"/>
          </a:xfrm>
          <a:custGeom>
            <a:avLst/>
            <a:gdLst/>
            <a:ahLst/>
            <a:cxnLst/>
            <a:rect l="l" t="t" r="r" b="b"/>
            <a:pathLst>
              <a:path w="15575" h="19170" extrusionOk="0">
                <a:moveTo>
                  <a:pt x="0" y="0"/>
                </a:moveTo>
                <a:lnTo>
                  <a:pt x="3354" y="19170"/>
                </a:lnTo>
                <a:lnTo>
                  <a:pt x="7668" y="11502"/>
                </a:lnTo>
                <a:lnTo>
                  <a:pt x="15575" y="8866"/>
                </a:lnTo>
                <a:close/>
              </a:path>
            </a:pathLst>
          </a:custGeom>
          <a:solidFill>
            <a:srgbClr val="F4F2F2"/>
          </a:solidFill>
          <a:ln w="9525" cap="flat" cmpd="sng">
            <a:solidFill>
              <a:srgbClr val="28C840"/>
            </a:solidFill>
            <a:prstDash val="solid"/>
            <a:round/>
            <a:headEnd type="none" w="med" len="med"/>
            <a:tailEnd type="none" w="med" len="med"/>
          </a:ln>
        </p:spPr>
      </p:sp>
      <p:sp>
        <p:nvSpPr>
          <p:cNvPr id="868" name="Google Shape;868;p53"/>
          <p:cNvSpPr txBox="1"/>
          <p:nvPr/>
        </p:nvSpPr>
        <p:spPr>
          <a:xfrm>
            <a:off x="156075" y="1314563"/>
            <a:ext cx="7070400" cy="1182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Implementation using MSI Circuits</a:t>
            </a: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5" name="Google Shape;875;p5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42</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marL="457200" lvl="0" indent="-361950" algn="l" rtl="0">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9" name="Google Shape;879;p5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0" name="Google Shape;880;p5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81" name="Google Shape;881;p54"/>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w="9525" cap="flat" cmpd="sng">
                <a:solidFill>
                  <a:srgbClr val="000000"/>
                </a:solidFill>
                <a:prstDash val="solid"/>
                <a:miter lim="800000"/>
                <a:headEnd type="none" w="sm" len="sm"/>
                <a:tailEnd type="none" w="sm" len="sm"/>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3">
                  <a:alphaModFix/>
                </a:blip>
                <a:srcRect/>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w="9525" cap="flat" cmpd="sng">
                    <a:solidFill>
                      <a:srgbClr val="000000"/>
                    </a:solidFill>
                    <a:prstDash val="solid"/>
                    <a:miter lim="800000"/>
                    <a:headEnd type="none" w="sm" len="sm"/>
                    <a:tailEnd type="none" w="sm" len="sm"/>
                  </a:ln>
                </p:spPr>
              </p:cxnSp>
              <p:cxnSp>
                <p:nvCxnSpPr>
                  <p:cNvPr id="891" name="Google Shape;891;p54"/>
                  <p:cNvCxnSpPr/>
                  <p:nvPr/>
                </p:nvCxnSpPr>
                <p:spPr>
                  <a:xfrm rot="10800000">
                    <a:off x="1236304" y="2895269"/>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892" name="Google Shape;892;p54"/>
                  <p:cNvCxnSpPr/>
                  <p:nvPr/>
                </p:nvCxnSpPr>
                <p:spPr>
                  <a:xfrm rot="10800000">
                    <a:off x="1260110" y="3200113"/>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893" name="Google Shape;893;p54"/>
                <p:cNvCxnSpPr/>
                <p:nvPr/>
              </p:nvCxnSpPr>
              <p:spPr>
                <a:xfrm rot="10800000">
                  <a:off x="990353" y="3684372"/>
                  <a:ext cx="436500" cy="0"/>
                </a:xfrm>
                <a:prstGeom prst="straightConnector1">
                  <a:avLst/>
                </a:prstGeom>
                <a:noFill/>
                <a:ln w="9525" cap="flat" cmpd="sng">
                  <a:solidFill>
                    <a:srgbClr val="000000"/>
                  </a:solidFill>
                  <a:prstDash val="solid"/>
                  <a:miter lim="800000"/>
                  <a:headEnd type="none" w="sm" len="sm"/>
                  <a:tailEnd type="none" w="sm" len="sm"/>
                </a:ln>
              </p:spPr>
            </p:cxnSp>
          </p:grpSp>
        </p:grpSp>
        <p:sp>
          <p:nvSpPr>
            <p:cNvPr id="894" name="Google Shape;894;p54"/>
            <p:cNvSpPr txBox="1"/>
            <p:nvPr/>
          </p:nvSpPr>
          <p:spPr>
            <a:xfrm>
              <a:off x="386615" y="2562807"/>
              <a:ext cx="980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AND</a:t>
              </a:r>
              <a:endParaRPr sz="1400" i="0" u="none" strike="noStrike" cap="non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3">
                <a:alphaModFix/>
              </a:blip>
              <a:srcRect/>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w="9525" cap="flat" cmpd="sng">
                      <a:solidFill>
                        <a:srgbClr val="000000"/>
                      </a:solidFill>
                      <a:prstDash val="solid"/>
                      <a:miter lim="800000"/>
                      <a:headEnd type="none" w="sm" len="sm"/>
                      <a:tailEnd type="none" w="sm" len="sm"/>
                    </a:ln>
                  </p:spPr>
                </p:cxnSp>
                <p:cxnSp>
                  <p:nvCxnSpPr>
                    <p:cNvPr id="904" name="Google Shape;904;p54"/>
                    <p:cNvCxnSpPr/>
                    <p:nvPr/>
                  </p:nvCxnSpPr>
                  <p:spPr>
                    <a:xfrm rot="10800000">
                      <a:off x="1236003" y="2896382"/>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905" name="Google Shape;905;p54"/>
                    <p:cNvCxnSpPr/>
                    <p:nvPr/>
                  </p:nvCxnSpPr>
                  <p:spPr>
                    <a:xfrm rot="10800000">
                      <a:off x="1259814" y="3201182"/>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906" name="Google Shape;906;p54"/>
                  <p:cNvCxnSpPr/>
                  <p:nvPr/>
                </p:nvCxnSpPr>
                <p:spPr>
                  <a:xfrm rot="10800000">
                    <a:off x="5992957" y="3447245"/>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907" name="Google Shape;907;p54"/>
                <p:cNvCxnSpPr/>
                <p:nvPr/>
              </p:nvCxnSpPr>
              <p:spPr>
                <a:xfrm rot="10800000">
                  <a:off x="5723167" y="2921450"/>
                  <a:ext cx="436500" cy="0"/>
                </a:xfrm>
                <a:prstGeom prst="straightConnector1">
                  <a:avLst/>
                </a:prstGeom>
                <a:noFill/>
                <a:ln w="9525" cap="flat" cmpd="sng">
                  <a:solidFill>
                    <a:srgbClr val="000000"/>
                  </a:solidFill>
                  <a:prstDash val="solid"/>
                  <a:miter lim="800000"/>
                  <a:headEnd type="none" w="sm" len="sm"/>
                  <a:tailEnd type="none" w="sm" len="sm"/>
                </a:ln>
              </p:spPr>
            </p:cxnSp>
            <p:cxnSp>
              <p:nvCxnSpPr>
                <p:cNvPr id="908" name="Google Shape;908;p54"/>
                <p:cNvCxnSpPr/>
                <p:nvPr/>
              </p:nvCxnSpPr>
              <p:spPr>
                <a:xfrm rot="10800000">
                  <a:off x="5085087" y="3037338"/>
                  <a:ext cx="884100" cy="0"/>
                </a:xfrm>
                <a:prstGeom prst="straightConnector1">
                  <a:avLst/>
                </a:prstGeom>
                <a:noFill/>
                <a:ln w="9525" cap="flat" cmpd="sng">
                  <a:solidFill>
                    <a:srgbClr val="000000"/>
                  </a:solidFill>
                  <a:prstDash val="solid"/>
                  <a:miter lim="800000"/>
                  <a:headEnd type="none" w="sm" len="sm"/>
                  <a:tailEnd type="none" w="sm" len="sm"/>
                </a:ln>
              </p:spPr>
            </p:cxnSp>
          </p:grpSp>
        </p:grpSp>
        <p:sp>
          <p:nvSpPr>
            <p:cNvPr id="909" name="Google Shape;909;p54"/>
            <p:cNvSpPr txBox="1"/>
            <p:nvPr/>
          </p:nvSpPr>
          <p:spPr>
            <a:xfrm>
              <a:off x="5084610" y="2620562"/>
              <a:ext cx="94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OR</a:t>
            </a:r>
            <a:endParaRPr sz="1400" i="0" u="none" strike="noStrike" cap="non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3">
            <a:alphaModFix/>
          </a:blip>
          <a:srcRect/>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w="9525" cap="flat" cmpd="sng">
            <a:solidFill>
              <a:srgbClr val="000000"/>
            </a:solidFill>
            <a:prstDash val="solid"/>
            <a:miter lim="800000"/>
            <a:headEnd type="none" w="sm" len="sm"/>
            <a:tailEnd type="none" w="sm" len="sm"/>
          </a:ln>
        </p:spPr>
      </p:cxnSp>
      <p:cxnSp>
        <p:nvCxnSpPr>
          <p:cNvPr id="914" name="Google Shape;914;p54"/>
          <p:cNvCxnSpPr/>
          <p:nvPr/>
        </p:nvCxnSpPr>
        <p:spPr>
          <a:xfrm rot="10800000">
            <a:off x="5787992" y="4169706"/>
            <a:ext cx="1071600" cy="0"/>
          </a:xfrm>
          <a:prstGeom prst="straightConnector1">
            <a:avLst/>
          </a:prstGeom>
          <a:noFill/>
          <a:ln w="9525" cap="flat" cmpd="sng">
            <a:solidFill>
              <a:srgbClr val="000000"/>
            </a:solidFill>
            <a:prstDash val="solid"/>
            <a:miter lim="800000"/>
            <a:headEnd type="none" w="sm" len="sm"/>
            <a:tailEnd type="none" w="sm" len="sm"/>
          </a:ln>
        </p:spPr>
      </p:cxnSp>
      <p:cxnSp>
        <p:nvCxnSpPr>
          <p:cNvPr id="915" name="Google Shape;915;p54"/>
          <p:cNvCxnSpPr/>
          <p:nvPr/>
        </p:nvCxnSpPr>
        <p:spPr>
          <a:xfrm rot="10800000">
            <a:off x="6535741" y="3712506"/>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916" name="Google Shape;916;p54"/>
          <p:cNvCxnSpPr/>
          <p:nvPr/>
        </p:nvCxnSpPr>
        <p:spPr>
          <a:xfrm rot="10800000">
            <a:off x="6451603" y="3941106"/>
            <a:ext cx="381000" cy="0"/>
          </a:xfrm>
          <a:prstGeom prst="straightConnector1">
            <a:avLst/>
          </a:prstGeom>
          <a:noFill/>
          <a:ln w="9525" cap="flat" cmpd="sng">
            <a:solidFill>
              <a:srgbClr val="000000"/>
            </a:solidFill>
            <a:prstDash val="solid"/>
            <a:miter lim="800000"/>
            <a:headEnd type="none" w="sm" len="sm"/>
            <a:tailEnd type="none" w="sm" len="sm"/>
          </a:ln>
        </p:spPr>
      </p:cxnSp>
      <p:sp>
        <p:nvSpPr>
          <p:cNvPr id="917" name="Google Shape;917;p54"/>
          <p:cNvSpPr txBox="1"/>
          <p:nvPr/>
        </p:nvSpPr>
        <p:spPr>
          <a:xfrm>
            <a:off x="5000628" y="3941107"/>
            <a:ext cx="979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NOT</a:t>
            </a:r>
            <a:endParaRPr sz="1400" i="0" u="none" strike="noStrike" cap="non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000000"/>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000000"/>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sz="1400" i="0" u="none" strike="noStrike" cap="non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sz="1400" i="0" u="none" strike="noStrike" cap="non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sz="1400" i="0" u="none" strike="noStrike" cap="non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w="9525" cap="flat" cmpd="sng">
            <a:solidFill>
              <a:srgbClr val="000000"/>
            </a:solidFill>
            <a:prstDash val="solid"/>
            <a:miter lim="800000"/>
            <a:headEnd type="none" w="sm" len="sm"/>
            <a:tailEnd type="none" w="sm" len="sm"/>
          </a:ln>
        </p:spPr>
      </p:cxnSp>
      <p:cxnSp>
        <p:nvCxnSpPr>
          <p:cNvPr id="925" name="Google Shape;925;p54"/>
          <p:cNvCxnSpPr/>
          <p:nvPr/>
        </p:nvCxnSpPr>
        <p:spPr>
          <a:xfrm rot="10800000">
            <a:off x="7502350" y="4531650"/>
            <a:ext cx="0" cy="103500"/>
          </a:xfrm>
          <a:prstGeom prst="straightConnector1">
            <a:avLst/>
          </a:prstGeom>
          <a:noFill/>
          <a:ln w="9525" cap="flat" cmpd="sng">
            <a:solidFill>
              <a:srgbClr val="000000"/>
            </a:solidFill>
            <a:prstDash val="solid"/>
            <a:miter lim="800000"/>
            <a:headEnd type="none" w="sm" len="sm"/>
            <a:tailEnd type="none" w="sm" len="sm"/>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2" name="Google Shape;932;p5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43</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6" name="Google Shape;936;p5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7" name="Google Shape;937;p5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38" name="Google Shape;938;p55"/>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7" name="Google Shape;947;p5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44</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1" name="Google Shape;951;p5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2" name="Google Shape;952;p5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53" name="Google Shape;953;p56"/>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3">
              <a:alphaModFix/>
            </a:blip>
            <a:srcRect/>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0" name="Google Shape;960;p56"/>
              <p:cNvCxnSpPr/>
              <p:nvPr/>
            </p:nvCxnSpPr>
            <p:spPr>
              <a:xfrm rot="10800000">
                <a:off x="2438436" y="3886081"/>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1" name="Google Shape;961;p56"/>
              <p:cNvCxnSpPr/>
              <p:nvPr/>
            </p:nvCxnSpPr>
            <p:spPr>
              <a:xfrm rot="10800000">
                <a:off x="2438436" y="4119407"/>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2" name="Google Shape;962;p56"/>
              <p:cNvCxnSpPr/>
              <p:nvPr/>
            </p:nvCxnSpPr>
            <p:spPr>
              <a:xfrm>
                <a:off x="2438475" y="3124200"/>
                <a:ext cx="0" cy="1371300"/>
              </a:xfrm>
              <a:prstGeom prst="straightConnector1">
                <a:avLst/>
              </a:prstGeom>
              <a:noFill/>
              <a:ln w="9525" cap="flat" cmpd="sng">
                <a:solidFill>
                  <a:srgbClr val="5B9BD5"/>
                </a:solidFill>
                <a:prstDash val="solid"/>
                <a:miter lim="800000"/>
                <a:headEnd type="none" w="sm" len="sm"/>
                <a:tailEnd type="none" w="sm" len="sm"/>
              </a:ln>
            </p:spPr>
          </p:cxnSp>
          <p:sp>
            <p:nvSpPr>
              <p:cNvPr id="963" name="Google Shape;963;p56"/>
              <p:cNvSpPr txBox="1"/>
              <p:nvPr/>
            </p:nvSpPr>
            <p:spPr>
              <a:xfrm>
                <a:off x="2286000" y="4572000"/>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rgbClr val="000000"/>
                </a:solidFill>
                <a:latin typeface="Lexend"/>
                <a:ea typeface="Lexend"/>
                <a:cs typeface="Lexend"/>
                <a:sym typeface="Lexend"/>
              </a:rPr>
              <a:t>a)</a:t>
            </a:r>
            <a:endParaRPr sz="1000" i="0" u="none" strike="noStrike" cap="non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i="0" u="none" strike="noStrike" cap="none">
                <a:solidFill>
                  <a:srgbClr val="000000"/>
                </a:solidFill>
                <a:latin typeface="Lexend"/>
                <a:ea typeface="Lexend"/>
                <a:cs typeface="Lexend"/>
                <a:sym typeface="Lexend"/>
              </a:rPr>
              <a:t>b)</a:t>
            </a:r>
            <a:endParaRPr sz="1200" i="0" u="none" strike="noStrike" cap="non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4">
            <a:alphaModFix/>
          </a:blip>
          <a:srcRect/>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3" name="Google Shape;973;p5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45</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7" name="Google Shape;977;p5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8" name="Google Shape;978;p5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79" name="Google Shape;979;p57"/>
          <p:cNvSpPr txBox="1"/>
          <p:nvPr/>
        </p:nvSpPr>
        <p:spPr>
          <a:xfrm>
            <a:off x="209775" y="163775"/>
            <a:ext cx="9045900" cy="53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8" name="Google Shape;988;p5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46</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2" name="Google Shape;992;p5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3" name="Google Shape;993;p5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94" name="Google Shape;994;p5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3">
                <a:alphaModFix/>
              </a:blip>
              <a:srcRect/>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rgbClr val="000000"/>
                  </a:solidFill>
                  <a:latin typeface="Lexend"/>
                  <a:ea typeface="Lexend"/>
                  <a:cs typeface="Lexend"/>
                  <a:sym typeface="Lexend"/>
                </a:rPr>
                <a:t>1     A    0    0</a:t>
              </a:r>
              <a:endParaRPr sz="1000" i="0" u="none" strike="noStrike" cap="non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i="0" u="none" strike="noStrike" cap="none">
                  <a:solidFill>
                    <a:srgbClr val="000000"/>
                  </a:solidFill>
                  <a:latin typeface="Lexend"/>
                  <a:ea typeface="Lexend"/>
                  <a:cs typeface="Lexend"/>
                  <a:sym typeface="Lexend"/>
                </a:rPr>
                <a:t>B   C</a:t>
              </a:r>
              <a:endParaRPr sz="1200" i="0" u="none" strike="noStrike" cap="non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4">
                <a:alphaModFix/>
              </a:blip>
              <a:srcRect/>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1</a:t>
                </a:r>
                <a:br>
                  <a:rPr lang="en" sz="2000" b="0" i="0" u="none" strike="noStrike" cap="none">
                    <a:solidFill>
                      <a:srgbClr val="000000"/>
                    </a:solidFill>
                    <a:latin typeface="Times New Roman"/>
                    <a:ea typeface="Times New Roman"/>
                    <a:cs typeface="Times New Roman"/>
                    <a:sym typeface="Times New Roman"/>
                  </a:rPr>
                </a:br>
                <a:r>
                  <a:rPr lang="en" sz="2000" b="0" i="0" u="none" strike="noStrike" cap="none">
                    <a:solidFill>
                      <a:srgbClr val="000000"/>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0</a:t>
                </a:r>
                <a:br>
                  <a:rPr lang="en" sz="2000" b="0" i="0" u="none" strike="noStrike" cap="none">
                    <a:solidFill>
                      <a:srgbClr val="000000"/>
                    </a:solidFill>
                    <a:latin typeface="Times New Roman"/>
                    <a:ea typeface="Times New Roman"/>
                    <a:cs typeface="Times New Roman"/>
                    <a:sym typeface="Times New Roman"/>
                  </a:rPr>
                </a:br>
                <a:endParaRPr sz="2000" b="0" i="0" u="none" strike="noStrike" cap="non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300" i="0" u="none" strike="noStrike" cap="none">
                <a:solidFill>
                  <a:srgbClr val="000000"/>
                </a:solidFill>
                <a:latin typeface="Lexend"/>
                <a:ea typeface="Lexend"/>
                <a:cs typeface="Lexend"/>
                <a:sym typeface="Lexend"/>
              </a:rPr>
              <a:t>Answer: Part ( c )</a:t>
            </a:r>
            <a:endParaRPr sz="1300" i="0" u="none" strike="noStrike" cap="non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6" name="Google Shape;1016;p5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47</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22" name="Google Shape;1022;p59"/>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3">
            <a:alphaModFix/>
          </a:blip>
          <a:srcRect/>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4">
            <a:alphaModFix/>
          </a:blip>
          <a:srcRect l="33528" t="64571" r="32259" b="8198"/>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4" name="Google Shape;1034;p6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48</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40" name="Google Shape;1040;p60"/>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spcFirstLastPara="1" wrap="square" lIns="91425" tIns="91425" rIns="91425" bIns="91425" anchor="t" anchorCtr="0">
            <a:spAutoFit/>
          </a:bodyPr>
          <a:lstStyle/>
          <a:p>
            <a:pPr marL="457200" lvl="0" indent="-368300" algn="l" rtl="0">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marL="457200" lvl="0" indent="-368300" algn="l" rtl="0">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0" name="Google Shape;1050;p6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49</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56" name="Google Shape;1056;p61"/>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3">
            <a:alphaModFix/>
          </a:blip>
          <a:srcRect/>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7" name="Google Shape;1067;p6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50</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73" name="Google Shape;1073;p6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endParaRPr sz="2500">
              <a:solidFill>
                <a:schemeClr val="dk1"/>
              </a:solidFill>
              <a:latin typeface="Lexend"/>
              <a:ea typeface="Lexend"/>
              <a:cs typeface="Lexend"/>
              <a:sym typeface="Lexend"/>
            </a:endParaRPr>
          </a:p>
          <a:p>
            <a:pPr marL="0" lvl="0" indent="0" algn="l" rtl="0">
              <a:lnSpc>
                <a:spcPct val="90000"/>
              </a:lnSpc>
              <a:spcBef>
                <a:spcPts val="0"/>
              </a:spcBef>
              <a:spcAft>
                <a:spcPts val="0"/>
              </a:spcAft>
              <a:buClr>
                <a:schemeClr val="dk1"/>
              </a:buClr>
              <a:buSzPts val="2800"/>
              <a:buFont typeface="Arial"/>
              <a:buNone/>
            </a:pPr>
            <a:r>
              <a:rPr lang="en" sz="2500">
                <a:solidFill>
                  <a:schemeClr val="dk1"/>
                </a:solidFill>
                <a:latin typeface="Lexend"/>
                <a:ea typeface="Lexend"/>
                <a:cs typeface="Lexend"/>
                <a:sym typeface="Lexend"/>
              </a:rPr>
              <a:t>Using 2:1 MUX  design </a:t>
            </a:r>
            <a:endParaRPr sz="250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AND gate</a:t>
            </a:r>
            <a:endParaRPr sz="250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OR gate</a:t>
            </a:r>
            <a:endParaRPr sz="250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NOT gate</a:t>
            </a:r>
            <a:endParaRPr sz="2500">
              <a:solidFill>
                <a:schemeClr val="dk1"/>
              </a:solidFill>
              <a:latin typeface="Lexend"/>
              <a:ea typeface="Lexend"/>
              <a:cs typeface="Lexend"/>
              <a:sym typeface="Lexend"/>
            </a:endParaRPr>
          </a:p>
          <a:p>
            <a:pPr marL="228600" lvl="0" indent="-50800" algn="l" rtl="0">
              <a:lnSpc>
                <a:spcPct val="90000"/>
              </a:lnSpc>
              <a:spcBef>
                <a:spcPts val="1000"/>
              </a:spcBef>
              <a:spcAft>
                <a:spcPts val="0"/>
              </a:spcAft>
              <a:buClr>
                <a:schemeClr val="dk1"/>
              </a:buClr>
              <a:buSzPts val="2800"/>
              <a:buFont typeface="Arial"/>
              <a:buNone/>
            </a:pPr>
            <a:endParaRPr sz="250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Solution: Try YOUTUBE</a:t>
            </a:r>
            <a:endParaRPr sz="25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19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3" name="Google Shape;1083;p6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51</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90" name="Google Shape;1090;p6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2467250" cy="4302200"/>
        </p:xfrm>
        <a:graphic>
          <a:graphicData uri="http://schemas.openxmlformats.org/drawingml/2006/table">
            <a:tbl>
              <a:tblPr>
                <a:noFill/>
                <a:tableStyleId>{A20DC7BB-00BF-40CA-91F3-0E16767CBC3A}</a:tableStyleId>
              </a:tblPr>
              <a:tblGrid>
                <a:gridCol w="497750">
                  <a:extLst>
                    <a:ext uri="{9D8B030D-6E8A-4147-A177-3AD203B41FA5}">
                      <a16:colId xmlns:a16="http://schemas.microsoft.com/office/drawing/2014/main" val="20000"/>
                    </a:ext>
                  </a:extLst>
                </a:gridCol>
                <a:gridCol w="507850">
                  <a:extLst>
                    <a:ext uri="{9D8B030D-6E8A-4147-A177-3AD203B41FA5}">
                      <a16:colId xmlns:a16="http://schemas.microsoft.com/office/drawing/2014/main" val="20001"/>
                    </a:ext>
                  </a:extLst>
                </a:gridCol>
                <a:gridCol w="498425">
                  <a:extLst>
                    <a:ext uri="{9D8B030D-6E8A-4147-A177-3AD203B41FA5}">
                      <a16:colId xmlns:a16="http://schemas.microsoft.com/office/drawing/2014/main" val="20002"/>
                    </a:ext>
                  </a:extLst>
                </a:gridCol>
                <a:gridCol w="498425">
                  <a:extLst>
                    <a:ext uri="{9D8B030D-6E8A-4147-A177-3AD203B41FA5}">
                      <a16:colId xmlns:a16="http://schemas.microsoft.com/office/drawing/2014/main" val="20003"/>
                    </a:ext>
                  </a:extLst>
                </a:gridCol>
                <a:gridCol w="464800">
                  <a:extLst>
                    <a:ext uri="{9D8B030D-6E8A-4147-A177-3AD203B41FA5}">
                      <a16:colId xmlns:a16="http://schemas.microsoft.com/office/drawing/2014/main" val="20004"/>
                    </a:ext>
                  </a:extLst>
                </a:gridCol>
              </a:tblGrid>
              <a:tr h="263400">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B</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C</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min</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2</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3</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4</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5</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6"/>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6</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7"/>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7</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8"/>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8</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9"/>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9</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0"/>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1"/>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2"/>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12</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3"/>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13</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4"/>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14</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5"/>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15</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
        <p:nvSpPr>
          <p:cNvPr id="1095" name="Google Shape;1095;p63"/>
          <p:cNvSpPr/>
          <p:nvPr/>
        </p:nvSpPr>
        <p:spPr>
          <a:xfrm>
            <a:off x="1270000" y="2520150"/>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6" name="Google Shape;1096;p63"/>
          <p:cNvSpPr/>
          <p:nvPr/>
        </p:nvSpPr>
        <p:spPr>
          <a:xfrm>
            <a:off x="2229375" y="25333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7" name="Google Shape;1097;p63"/>
          <p:cNvSpPr/>
          <p:nvPr/>
        </p:nvSpPr>
        <p:spPr>
          <a:xfrm>
            <a:off x="781050" y="28268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63"/>
          <p:cNvSpPr/>
          <p:nvPr/>
        </p:nvSpPr>
        <p:spPr>
          <a:xfrm>
            <a:off x="2229375" y="31387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63"/>
          <p:cNvSpPr/>
          <p:nvPr/>
        </p:nvSpPr>
        <p:spPr>
          <a:xfrm>
            <a:off x="2229375"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0" name="Google Shape;1100;p63"/>
          <p:cNvSpPr/>
          <p:nvPr/>
        </p:nvSpPr>
        <p:spPr>
          <a:xfrm>
            <a:off x="1734350"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1" name="Google Shape;1101;p63"/>
          <p:cNvSpPr/>
          <p:nvPr/>
        </p:nvSpPr>
        <p:spPr>
          <a:xfrm>
            <a:off x="781050"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aphicFrame>
        <p:nvGraphicFramePr>
          <p:cNvPr id="1102" name="Google Shape;1102;p63"/>
          <p:cNvGraphicFramePr/>
          <p:nvPr/>
        </p:nvGraphicFramePr>
        <p:xfrm>
          <a:off x="209775" y="2224401"/>
          <a:ext cx="2392825" cy="1767840"/>
        </p:xfrm>
        <a:graphic>
          <a:graphicData uri="http://schemas.openxmlformats.org/drawingml/2006/table">
            <a:tbl>
              <a:tblPr>
                <a:noFill/>
                <a:tableStyleId>{A20DC7BB-00BF-40CA-91F3-0E16767CBC3A}</a:tableStyleId>
              </a:tblPr>
              <a:tblGrid>
                <a:gridCol w="476225">
                  <a:extLst>
                    <a:ext uri="{9D8B030D-6E8A-4147-A177-3AD203B41FA5}">
                      <a16:colId xmlns:a16="http://schemas.microsoft.com/office/drawing/2014/main" val="20000"/>
                    </a:ext>
                  </a:extLst>
                </a:gridCol>
                <a:gridCol w="485900">
                  <a:extLst>
                    <a:ext uri="{9D8B030D-6E8A-4147-A177-3AD203B41FA5}">
                      <a16:colId xmlns:a16="http://schemas.microsoft.com/office/drawing/2014/main" val="20001"/>
                    </a:ext>
                  </a:extLst>
                </a:gridCol>
                <a:gridCol w="476900">
                  <a:extLst>
                    <a:ext uri="{9D8B030D-6E8A-4147-A177-3AD203B41FA5}">
                      <a16:colId xmlns:a16="http://schemas.microsoft.com/office/drawing/2014/main" val="20002"/>
                    </a:ext>
                  </a:extLst>
                </a:gridCol>
                <a:gridCol w="476900">
                  <a:extLst>
                    <a:ext uri="{9D8B030D-6E8A-4147-A177-3AD203B41FA5}">
                      <a16:colId xmlns:a16="http://schemas.microsoft.com/office/drawing/2014/main" val="20003"/>
                    </a:ext>
                  </a:extLst>
                </a:gridCol>
                <a:gridCol w="476900">
                  <a:extLst>
                    <a:ext uri="{9D8B030D-6E8A-4147-A177-3AD203B41FA5}">
                      <a16:colId xmlns:a16="http://schemas.microsoft.com/office/drawing/2014/main" val="20004"/>
                    </a:ext>
                  </a:extLst>
                </a:gridCol>
              </a:tblGrid>
              <a:tr h="263400">
                <a:tc>
                  <a:txBody>
                    <a:bodyPr/>
                    <a:lstStyle/>
                    <a:p>
                      <a:pPr marL="0" lvl="0" indent="0" algn="ctr" rtl="0">
                        <a:spcBef>
                          <a:spcPts val="0"/>
                        </a:spcBef>
                        <a:spcAft>
                          <a:spcPts val="0"/>
                        </a:spcAft>
                        <a:buNone/>
                      </a:pP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I</a:t>
                      </a:r>
                      <a:r>
                        <a:rPr lang="en" sz="1100" baseline="-25000">
                          <a:latin typeface="Lexend"/>
                          <a:ea typeface="Lexend"/>
                          <a:cs typeface="Lexend"/>
                          <a:sym typeface="Lexend"/>
                        </a:rPr>
                        <a:t>0</a:t>
                      </a:r>
                      <a:endParaRPr sz="1100" baseline="-25000">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1</a:t>
                      </a: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2</a:t>
                      </a: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3</a:t>
                      </a:r>
                      <a:endParaRPr sz="1100" b="1">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3</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7</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11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15</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52425">
                <a:tc>
                  <a:txBody>
                    <a:bodyPr/>
                    <a:lstStyle/>
                    <a:p>
                      <a:pPr marL="0" lvl="0" indent="0" algn="ctr" rtl="0">
                        <a:spcBef>
                          <a:spcPts val="0"/>
                        </a:spcBef>
                        <a:spcAft>
                          <a:spcPts val="0"/>
                        </a:spcAft>
                        <a:buNone/>
                      </a:pP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A+B’</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103" name="Google Shape;1103;p63"/>
          <p:cNvPicPr preferRelativeResize="0"/>
          <p:nvPr/>
        </p:nvPicPr>
        <p:blipFill rotWithShape="1">
          <a:blip r:embed="rId3">
            <a:alphaModFix/>
          </a:blip>
          <a:srcRect/>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u="sng">
                <a:solidFill>
                  <a:schemeClr val="hlink"/>
                </a:solidFill>
                <a:latin typeface="Lexend"/>
                <a:ea typeface="Lexend"/>
                <a:cs typeface="Lexend"/>
                <a:sym typeface="Lexend"/>
                <a:hlinkClick r:id="rId4"/>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1" name="Google Shape;1111;p6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52</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17" name="Google Shape;1117;p6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3">
            <a:alphaModFix/>
          </a:blip>
          <a:srcRect l="6573" r="11148"/>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4">
            <a:alphaModFix/>
          </a:blip>
          <a:srcRect/>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8" name="Google Shape;1128;p6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53</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avLst/>
              <a:gdLst/>
              <a:ahLst/>
              <a:cxnLst/>
              <a:rect l="l" t="t" r="r" b="b"/>
              <a:pathLst>
                <a:path w="2932239" h="1253236" extrusionOk="0">
                  <a:moveTo>
                    <a:pt x="0" y="0"/>
                  </a:moveTo>
                  <a:lnTo>
                    <a:pt x="2932240" y="0"/>
                  </a:lnTo>
                  <a:lnTo>
                    <a:pt x="2932240" y="1253236"/>
                  </a:lnTo>
                  <a:lnTo>
                    <a:pt x="0" y="1253236"/>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3" name="Google Shape;1133;p65"/>
            <p:cNvSpPr/>
            <p:nvPr/>
          </p:nvSpPr>
          <p:spPr>
            <a:xfrm>
              <a:off x="5351018" y="4955476"/>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4" name="Google Shape;1134;p65"/>
            <p:cNvSpPr/>
            <p:nvPr/>
          </p:nvSpPr>
          <p:spPr>
            <a:xfrm>
              <a:off x="5351018" y="5713898"/>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5" name="Google Shape;1135;p65"/>
            <p:cNvSpPr/>
            <p:nvPr/>
          </p:nvSpPr>
          <p:spPr>
            <a:xfrm>
              <a:off x="9232183" y="4955476"/>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6" name="Google Shape;1136;p65"/>
            <p:cNvSpPr/>
            <p:nvPr/>
          </p:nvSpPr>
          <p:spPr>
            <a:xfrm>
              <a:off x="9232183" y="5713898"/>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grpSp>
      <p:sp>
        <p:nvSpPr>
          <p:cNvPr id="1137" name="Google Shape;1137;p65"/>
          <p:cNvSpPr/>
          <p:nvPr/>
        </p:nvSpPr>
        <p:spPr>
          <a:xfrm>
            <a:off x="4883091" y="2459986"/>
            <a:ext cx="263412" cy="324213"/>
          </a:xfrm>
          <a:custGeom>
            <a:avLst/>
            <a:gdLst/>
            <a:ahLst/>
            <a:cxnLst/>
            <a:rect l="l" t="t" r="r" b="b"/>
            <a:pathLst>
              <a:path w="15575" h="19170" extrusionOk="0">
                <a:moveTo>
                  <a:pt x="0" y="0"/>
                </a:moveTo>
                <a:lnTo>
                  <a:pt x="3354" y="19170"/>
                </a:lnTo>
                <a:lnTo>
                  <a:pt x="7668" y="11502"/>
                </a:lnTo>
                <a:lnTo>
                  <a:pt x="15575" y="8866"/>
                </a:lnTo>
                <a:close/>
              </a:path>
            </a:pathLst>
          </a:custGeom>
          <a:solidFill>
            <a:srgbClr val="F4F2F2"/>
          </a:solidFill>
          <a:ln w="9525" cap="flat" cmpd="sng">
            <a:solidFill>
              <a:srgbClr val="28C840"/>
            </a:solidFill>
            <a:prstDash val="solid"/>
            <a:round/>
            <a:headEnd type="none" w="med" len="med"/>
            <a:tailEnd type="none" w="med" len="med"/>
          </a:ln>
        </p:spPr>
      </p:sp>
      <p:sp>
        <p:nvSpPr>
          <p:cNvPr id="1138" name="Google Shape;1138;p65"/>
          <p:cNvSpPr txBox="1"/>
          <p:nvPr/>
        </p:nvSpPr>
        <p:spPr>
          <a:xfrm>
            <a:off x="156075" y="1314563"/>
            <a:ext cx="7070400" cy="1182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5" name="Google Shape;1145;p6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54</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51" name="Google Shape;1151;p66"/>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59" name="Google Shape;1159;p67"/>
          <p:cNvPicPr preferRelativeResize="0"/>
          <p:nvPr/>
        </p:nvPicPr>
        <p:blipFill rotWithShape="1">
          <a:blip r:embed="rId3">
            <a:alphaModFix/>
          </a:blip>
          <a:srcRect b="16673"/>
          <a:stretch/>
        </p:blipFill>
        <p:spPr>
          <a:xfrm>
            <a:off x="868237" y="382350"/>
            <a:ext cx="7407514" cy="4494451"/>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55</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66" name="Google Shape;1166;p67"/>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5" name="Google Shape;1175;p6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56</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81" name="Google Shape;1181;p68"/>
          <p:cNvSpPr txBox="1"/>
          <p:nvPr/>
        </p:nvSpPr>
        <p:spPr>
          <a:xfrm>
            <a:off x="209775" y="163775"/>
            <a:ext cx="9045900" cy="1403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0" name="Google Shape;1190;p69"/>
          <p:cNvSpPr txBox="1"/>
          <p:nvPr/>
        </p:nvSpPr>
        <p:spPr>
          <a:xfrm>
            <a:off x="8472258" y="457176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57</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95" name="Google Shape;1195;p69"/>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id="1199" name="Google Shape;1199;p69" descr="http://upload.wikimedia.org/wikipedia/commons/thumb/6/66/3x8_decoder_symbol.svg/512px-3x8_decoder_symbol.svg.png"/>
            <p:cNvPicPr preferRelativeResize="0"/>
            <p:nvPr/>
          </p:nvPicPr>
          <p:blipFill rotWithShape="1">
            <a:blip r:embed="rId3">
              <a:alphaModFix/>
            </a:blip>
            <a:srcRect/>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4">
              <a:alphaModFix/>
            </a:blip>
            <a:srcRect/>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w="9525" cap="flat" cmpd="sng">
            <a:solidFill>
              <a:srgbClr val="5B9BD5"/>
            </a:solidFill>
            <a:prstDash val="solid"/>
            <a:miter lim="800000"/>
            <a:headEnd type="none" w="sm" len="sm"/>
            <a:tailEnd type="none" w="sm" len="sm"/>
          </a:ln>
        </p:spPr>
      </p:cxnSp>
      <p:cxnSp>
        <p:nvCxnSpPr>
          <p:cNvPr id="1202" name="Google Shape;1202;p69"/>
          <p:cNvCxnSpPr/>
          <p:nvPr/>
        </p:nvCxnSpPr>
        <p:spPr>
          <a:xfrm>
            <a:off x="5755152" y="2002236"/>
            <a:ext cx="1240500" cy="383100"/>
          </a:xfrm>
          <a:prstGeom prst="straightConnector1">
            <a:avLst/>
          </a:prstGeom>
          <a:noFill/>
          <a:ln w="9525" cap="flat" cmpd="sng">
            <a:solidFill>
              <a:srgbClr val="5B9BD5"/>
            </a:solidFill>
            <a:prstDash val="solid"/>
            <a:miter lim="800000"/>
            <a:headEnd type="none" w="sm" len="sm"/>
            <a:tailEnd type="none" w="sm" len="sm"/>
          </a:ln>
        </p:spPr>
      </p:cxnSp>
      <p:cxnSp>
        <p:nvCxnSpPr>
          <p:cNvPr id="1203" name="Google Shape;1203;p69"/>
          <p:cNvCxnSpPr/>
          <p:nvPr/>
        </p:nvCxnSpPr>
        <p:spPr>
          <a:xfrm>
            <a:off x="5784688" y="2321320"/>
            <a:ext cx="1240500" cy="64200"/>
          </a:xfrm>
          <a:prstGeom prst="straightConnector1">
            <a:avLst/>
          </a:prstGeom>
          <a:noFill/>
          <a:ln w="9525" cap="flat" cmpd="sng">
            <a:solidFill>
              <a:srgbClr val="5B9BD5"/>
            </a:solidFill>
            <a:prstDash val="solid"/>
            <a:miter lim="800000"/>
            <a:headEnd type="none" w="sm" len="sm"/>
            <a:tailEnd type="none" w="sm" len="sm"/>
          </a:ln>
        </p:spPr>
      </p:cxnSp>
      <p:cxnSp>
        <p:nvCxnSpPr>
          <p:cNvPr id="1204" name="Google Shape;1204;p69"/>
          <p:cNvCxnSpPr/>
          <p:nvPr/>
        </p:nvCxnSpPr>
        <p:spPr>
          <a:xfrm>
            <a:off x="5799456" y="2528180"/>
            <a:ext cx="1181700" cy="191700"/>
          </a:xfrm>
          <a:prstGeom prst="straightConnector1">
            <a:avLst/>
          </a:prstGeom>
          <a:noFill/>
          <a:ln w="9525" cap="flat" cmpd="sng">
            <a:solidFill>
              <a:srgbClr val="5B9BD5"/>
            </a:solidFill>
            <a:prstDash val="solid"/>
            <a:miter lim="800000"/>
            <a:headEnd type="none" w="sm" len="sm"/>
            <a:tailEnd type="none" w="sm" len="sm"/>
          </a:ln>
        </p:spPr>
      </p:cxnSp>
      <p:cxnSp>
        <p:nvCxnSpPr>
          <p:cNvPr id="1205" name="Google Shape;1205;p69"/>
          <p:cNvCxnSpPr/>
          <p:nvPr/>
        </p:nvCxnSpPr>
        <p:spPr>
          <a:xfrm rot="10800000" flipH="1">
            <a:off x="5784688" y="2385154"/>
            <a:ext cx="1210800" cy="446700"/>
          </a:xfrm>
          <a:prstGeom prst="straightConnector1">
            <a:avLst/>
          </a:prstGeom>
          <a:noFill/>
          <a:ln w="9525" cap="flat" cmpd="sng">
            <a:solidFill>
              <a:srgbClr val="5B9BD5"/>
            </a:solidFill>
            <a:prstDash val="solid"/>
            <a:miter lim="800000"/>
            <a:headEnd type="none" w="sm" len="sm"/>
            <a:tailEnd type="none" w="sm" len="sm"/>
          </a:ln>
        </p:spPr>
      </p:cxnSp>
      <p:cxnSp>
        <p:nvCxnSpPr>
          <p:cNvPr id="1206" name="Google Shape;1206;p69"/>
          <p:cNvCxnSpPr/>
          <p:nvPr/>
        </p:nvCxnSpPr>
        <p:spPr>
          <a:xfrm rot="10800000" flipH="1">
            <a:off x="5799456" y="2751530"/>
            <a:ext cx="1181700" cy="351000"/>
          </a:xfrm>
          <a:prstGeom prst="straightConnector1">
            <a:avLst/>
          </a:prstGeom>
          <a:noFill/>
          <a:ln w="9525" cap="flat" cmpd="sng">
            <a:solidFill>
              <a:srgbClr val="5B9BD5"/>
            </a:solidFill>
            <a:prstDash val="solid"/>
            <a:miter lim="800000"/>
            <a:headEnd type="none" w="sm" len="sm"/>
            <a:tailEnd type="none" w="sm" len="sm"/>
          </a:ln>
        </p:spPr>
      </p:cxnSp>
      <p:cxnSp>
        <p:nvCxnSpPr>
          <p:cNvPr id="1207" name="Google Shape;1207;p69"/>
          <p:cNvCxnSpPr/>
          <p:nvPr/>
        </p:nvCxnSpPr>
        <p:spPr>
          <a:xfrm rot="10800000" flipH="1">
            <a:off x="5769920" y="2751743"/>
            <a:ext cx="1210800" cy="590100"/>
          </a:xfrm>
          <a:prstGeom prst="straightConnector1">
            <a:avLst/>
          </a:prstGeom>
          <a:noFill/>
          <a:ln w="9525" cap="flat" cmpd="sng">
            <a:solidFill>
              <a:srgbClr val="5B9BD5"/>
            </a:solidFill>
            <a:prstDash val="solid"/>
            <a:miter lim="800000"/>
            <a:headEnd type="none" w="sm" len="sm"/>
            <a:tailEnd type="none" w="sm" len="sm"/>
          </a:ln>
        </p:spPr>
      </p:cxnSp>
      <p:cxnSp>
        <p:nvCxnSpPr>
          <p:cNvPr id="1208" name="Google Shape;1208;p69"/>
          <p:cNvCxnSpPr/>
          <p:nvPr/>
        </p:nvCxnSpPr>
        <p:spPr>
          <a:xfrm rot="10800000" flipH="1">
            <a:off x="5769920" y="3134456"/>
            <a:ext cx="1210800" cy="446700"/>
          </a:xfrm>
          <a:prstGeom prst="straightConnector1">
            <a:avLst/>
          </a:prstGeom>
          <a:noFill/>
          <a:ln w="9525" cap="flat" cmpd="sng">
            <a:solidFill>
              <a:srgbClr val="5B9BD5"/>
            </a:solidFill>
            <a:prstDash val="solid"/>
            <a:miter lim="800000"/>
            <a:headEnd type="none" w="sm" len="sm"/>
            <a:tailEnd type="none" w="sm" len="sm"/>
          </a:ln>
        </p:spPr>
      </p:cxnSp>
      <p:graphicFrame>
        <p:nvGraphicFramePr>
          <p:cNvPr id="1209" name="Google Shape;1209;p69"/>
          <p:cNvGraphicFramePr/>
          <p:nvPr/>
        </p:nvGraphicFramePr>
        <p:xfrm>
          <a:off x="328350" y="1312863"/>
          <a:ext cx="2618250" cy="2680275"/>
        </p:xfrm>
        <a:graphic>
          <a:graphicData uri="http://schemas.openxmlformats.org/drawingml/2006/table">
            <a:tbl>
              <a:tblPr>
                <a:noFill/>
                <a:tableStyleId>{D66C8EFE-BFCC-412D-8971-004EF5BB507D}</a:tableStyleId>
              </a:tblPr>
              <a:tblGrid>
                <a:gridCol w="523650">
                  <a:extLst>
                    <a:ext uri="{9D8B030D-6E8A-4147-A177-3AD203B41FA5}">
                      <a16:colId xmlns:a16="http://schemas.microsoft.com/office/drawing/2014/main" val="20000"/>
                    </a:ext>
                  </a:extLst>
                </a:gridCol>
                <a:gridCol w="523650">
                  <a:extLst>
                    <a:ext uri="{9D8B030D-6E8A-4147-A177-3AD203B41FA5}">
                      <a16:colId xmlns:a16="http://schemas.microsoft.com/office/drawing/2014/main" val="20001"/>
                    </a:ext>
                  </a:extLst>
                </a:gridCol>
                <a:gridCol w="523650">
                  <a:extLst>
                    <a:ext uri="{9D8B030D-6E8A-4147-A177-3AD203B41FA5}">
                      <a16:colId xmlns:a16="http://schemas.microsoft.com/office/drawing/2014/main" val="20002"/>
                    </a:ext>
                  </a:extLst>
                </a:gridCol>
                <a:gridCol w="523650">
                  <a:extLst>
                    <a:ext uri="{9D8B030D-6E8A-4147-A177-3AD203B41FA5}">
                      <a16:colId xmlns:a16="http://schemas.microsoft.com/office/drawing/2014/main" val="20003"/>
                    </a:ext>
                  </a:extLst>
                </a:gridCol>
                <a:gridCol w="523650">
                  <a:extLst>
                    <a:ext uri="{9D8B030D-6E8A-4147-A177-3AD203B41FA5}">
                      <a16:colId xmlns:a16="http://schemas.microsoft.com/office/drawing/2014/main" val="20004"/>
                    </a:ext>
                  </a:extLst>
                </a:gridCol>
              </a:tblGrid>
              <a:tr h="309275">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275">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092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6" name="Google Shape;1216;p7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58</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22" name="Google Shape;1222;p70"/>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1" name="Google Shape;1231;p71"/>
          <p:cNvSpPr txBox="1"/>
          <p:nvPr/>
        </p:nvSpPr>
        <p:spPr>
          <a:xfrm>
            <a:off x="8472458" y="4622342"/>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59</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36" name="Google Shape;1236;p71"/>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3">
            <a:alphaModFix/>
          </a:blip>
          <a:srcRect t="5255" b="4451"/>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0" name="Google Shape;1250;p7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60</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56" name="Google Shape;1256;p72"/>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5" name="Google Shape;1265;p73"/>
          <p:cNvSpPr txBox="1"/>
          <p:nvPr/>
        </p:nvSpPr>
        <p:spPr>
          <a:xfrm>
            <a:off x="8472458" y="4622342"/>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61</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70" name="Google Shape;1270;p73"/>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3">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4" name="Google Shape;1284;p7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62</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90" name="Google Shape;1290;p74"/>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Yourself!</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3465</Words>
  <Application>Microsoft Office PowerPoint</Application>
  <PresentationFormat>On-screen Show (16:9)</PresentationFormat>
  <Paragraphs>1226</Paragraphs>
  <Slides>62</Slides>
  <Notes>62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Calibri</vt:lpstr>
      <vt:lpstr>Lexend</vt:lpstr>
      <vt:lpstr>Lexend Light</vt:lpstr>
      <vt:lpstr>Lexend Medium</vt:lpstr>
      <vt:lpstr>Noto Sans Symbols</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Shaikh Atisha Rahbath Dip</cp:lastModifiedBy>
  <cp:revision>1</cp:revision>
  <dcterms:modified xsi:type="dcterms:W3CDTF">2026-01-08T08:27:28Z</dcterms:modified>
</cp:coreProperties>
</file>